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notesSlides/notesSlide1.xml" ContentType="application/vnd.openxmlformats-officedocument.presentationml.notesSlide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notesSlides/notesSlide2.xml" ContentType="application/vnd.openxmlformats-officedocument.presentationml.notesSlide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6"/>
  </p:notesMasterIdLst>
  <p:sldIdLst>
    <p:sldId id="310" r:id="rId2"/>
    <p:sldId id="436" r:id="rId3"/>
    <p:sldId id="315" r:id="rId4"/>
    <p:sldId id="434" r:id="rId5"/>
    <p:sldId id="435" r:id="rId6"/>
    <p:sldId id="321" r:id="rId7"/>
    <p:sldId id="312" r:id="rId8"/>
    <p:sldId id="437" r:id="rId9"/>
    <p:sldId id="438" r:id="rId10"/>
    <p:sldId id="316" r:id="rId11"/>
    <p:sldId id="456" r:id="rId12"/>
    <p:sldId id="317" r:id="rId13"/>
    <p:sldId id="439" r:id="rId14"/>
    <p:sldId id="457" r:id="rId15"/>
    <p:sldId id="485" r:id="rId16"/>
    <p:sldId id="455" r:id="rId17"/>
    <p:sldId id="487" r:id="rId18"/>
    <p:sldId id="488" r:id="rId19"/>
    <p:sldId id="458" r:id="rId20"/>
    <p:sldId id="322" r:id="rId21"/>
    <p:sldId id="490" r:id="rId22"/>
    <p:sldId id="492" r:id="rId23"/>
    <p:sldId id="493" r:id="rId24"/>
    <p:sldId id="494" r:id="rId25"/>
    <p:sldId id="495" r:id="rId26"/>
    <p:sldId id="513" r:id="rId27"/>
    <p:sldId id="489" r:id="rId28"/>
    <p:sldId id="313" r:id="rId29"/>
    <p:sldId id="442" r:id="rId30"/>
    <p:sldId id="443" r:id="rId31"/>
    <p:sldId id="441" r:id="rId32"/>
    <p:sldId id="444" r:id="rId33"/>
    <p:sldId id="445" r:id="rId34"/>
    <p:sldId id="323" r:id="rId35"/>
    <p:sldId id="314" r:id="rId36"/>
    <p:sldId id="446" r:id="rId37"/>
    <p:sldId id="447" r:id="rId38"/>
    <p:sldId id="511" r:id="rId39"/>
    <p:sldId id="449" r:id="rId40"/>
    <p:sldId id="450" r:id="rId41"/>
    <p:sldId id="451" r:id="rId42"/>
    <p:sldId id="512" r:id="rId43"/>
    <p:sldId id="514" r:id="rId44"/>
    <p:sldId id="515" r:id="rId45"/>
    <p:sldId id="516" r:id="rId46"/>
    <p:sldId id="517" r:id="rId47"/>
    <p:sldId id="518" r:id="rId48"/>
    <p:sldId id="519" r:id="rId49"/>
    <p:sldId id="520" r:id="rId50"/>
    <p:sldId id="521" r:id="rId51"/>
    <p:sldId id="522" r:id="rId52"/>
    <p:sldId id="523" r:id="rId53"/>
    <p:sldId id="524" r:id="rId54"/>
    <p:sldId id="526" r:id="rId55"/>
    <p:sldId id="527" r:id="rId56"/>
    <p:sldId id="528" r:id="rId57"/>
    <p:sldId id="529" r:id="rId58"/>
    <p:sldId id="530" r:id="rId59"/>
    <p:sldId id="531" r:id="rId60"/>
    <p:sldId id="532" r:id="rId61"/>
    <p:sldId id="533" r:id="rId62"/>
    <p:sldId id="534" r:id="rId63"/>
    <p:sldId id="535" r:id="rId64"/>
    <p:sldId id="326" r:id="rId65"/>
  </p:sldIdLst>
  <p:sldSz cx="12192000" cy="6858000"/>
  <p:notesSz cx="6858000" cy="9144000"/>
  <p:custDataLst>
    <p:tags r:id="rId6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晓宇" initials="李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175" autoAdjust="0"/>
    <p:restoredTop sz="94694"/>
  </p:normalViewPr>
  <p:slideViewPr>
    <p:cSldViewPr snapToGrid="0">
      <p:cViewPr varScale="1">
        <p:scale>
          <a:sx n="81" d="100"/>
          <a:sy n="81" d="100"/>
        </p:scale>
        <p:origin x="696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525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commentAuthors" Target="commentAuthors.xml"/><Relationship Id="rId7" Type="http://schemas.openxmlformats.org/officeDocument/2006/relationships/slide" Target="slides/slide6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gs" Target="tags/tag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22659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29"/>
          <p:cNvSpPr/>
          <p:nvPr userDrawn="1"/>
        </p:nvSpPr>
        <p:spPr>
          <a:xfrm rot="5400000">
            <a:off x="8672365" y="-244235"/>
            <a:ext cx="1034352" cy="11366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0" y="0"/>
                </a:lnTo>
                <a:lnTo>
                  <a:pt x="15666" y="0"/>
                </a:lnTo>
                <a:lnTo>
                  <a:pt x="21600" y="10800"/>
                </a:lnTo>
                <a:lnTo>
                  <a:pt x="15666" y="21600"/>
                </a:lnTo>
                <a:lnTo>
                  <a:pt x="0" y="21600"/>
                </a:lnTo>
                <a:close/>
              </a:path>
            </a:pathLst>
          </a:custGeom>
          <a:solidFill>
            <a:srgbClr val="4E6CD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8" name="六边形 30"/>
          <p:cNvSpPr/>
          <p:nvPr userDrawn="1"/>
        </p:nvSpPr>
        <p:spPr>
          <a:xfrm rot="5400000">
            <a:off x="9521077" y="753887"/>
            <a:ext cx="523073" cy="4509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49504F">
              <a:alpha val="50000"/>
            </a:srgb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9" name="六边形 31"/>
          <p:cNvSpPr/>
          <p:nvPr userDrawn="1"/>
        </p:nvSpPr>
        <p:spPr>
          <a:xfrm rot="5400000">
            <a:off x="8027944" y="996956"/>
            <a:ext cx="523073" cy="4509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ln w="25400">
            <a:solidFill>
              <a:srgbClr val="A6A6A6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0" name="六边形 32"/>
          <p:cNvSpPr/>
          <p:nvPr userDrawn="1"/>
        </p:nvSpPr>
        <p:spPr>
          <a:xfrm rot="5400000">
            <a:off x="10287576" y="140894"/>
            <a:ext cx="196768" cy="1696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4E6CD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1" name="六边形 33"/>
          <p:cNvSpPr/>
          <p:nvPr userDrawn="1"/>
        </p:nvSpPr>
        <p:spPr>
          <a:xfrm rot="5400000">
            <a:off x="3684718" y="766697"/>
            <a:ext cx="886530" cy="7642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4E6CD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2" name="六边形 34"/>
          <p:cNvSpPr/>
          <p:nvPr userDrawn="1"/>
        </p:nvSpPr>
        <p:spPr>
          <a:xfrm rot="5400000">
            <a:off x="11266257" y="1225116"/>
            <a:ext cx="206956" cy="178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ln>
            <a:solidFill>
              <a:srgbClr val="4E6CDA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3" name="六边形 35"/>
          <p:cNvSpPr/>
          <p:nvPr userDrawn="1"/>
        </p:nvSpPr>
        <p:spPr>
          <a:xfrm rot="5400000">
            <a:off x="918489" y="676499"/>
            <a:ext cx="206956" cy="1784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4E6CDA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4" name="六边形 36"/>
          <p:cNvSpPr/>
          <p:nvPr userDrawn="1"/>
        </p:nvSpPr>
        <p:spPr>
          <a:xfrm rot="5400000">
            <a:off x="4564915" y="648591"/>
            <a:ext cx="369002" cy="3181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10800"/>
                </a:moveTo>
                <a:lnTo>
                  <a:pt x="4655" y="0"/>
                </a:lnTo>
                <a:lnTo>
                  <a:pt x="16945" y="0"/>
                </a:lnTo>
                <a:lnTo>
                  <a:pt x="21600" y="10800"/>
                </a:lnTo>
                <a:lnTo>
                  <a:pt x="16945" y="21600"/>
                </a:lnTo>
                <a:lnTo>
                  <a:pt x="4655" y="21600"/>
                </a:lnTo>
                <a:close/>
              </a:path>
            </a:pathLst>
          </a:custGeom>
          <a:solidFill>
            <a:srgbClr val="F2F2F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15" name="直线连接符 2"/>
          <p:cNvSpPr/>
          <p:nvPr userDrawn="1"/>
        </p:nvSpPr>
        <p:spPr>
          <a:xfrm>
            <a:off x="9997213" y="1131213"/>
            <a:ext cx="647090" cy="396649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16" name="直线连接符 40"/>
          <p:cNvSpPr/>
          <p:nvPr userDrawn="1"/>
        </p:nvSpPr>
        <p:spPr>
          <a:xfrm>
            <a:off x="3898415" y="339239"/>
            <a:ext cx="691949" cy="366318"/>
          </a:xfrm>
          <a:prstGeom prst="line">
            <a:avLst/>
          </a:prstGeom>
          <a:ln>
            <a:solidFill>
              <a:srgbClr val="BFBFBF"/>
            </a:solidFill>
          </a:ln>
        </p:spPr>
        <p:txBody>
          <a:bodyPr lIns="0" tIns="0" rIns="0" bIns="0"/>
          <a:lstStyle/>
          <a:p>
            <a:endParaRPr/>
          </a:p>
        </p:txBody>
      </p:sp>
      <p:grpSp>
        <p:nvGrpSpPr>
          <p:cNvPr id="17" name="组合 3"/>
          <p:cNvGrpSpPr/>
          <p:nvPr userDrawn="1"/>
        </p:nvGrpSpPr>
        <p:grpSpPr>
          <a:xfrm>
            <a:off x="4971922" y="5245755"/>
            <a:ext cx="2273555" cy="1228916"/>
            <a:chOff x="0" y="0"/>
            <a:chExt cx="2273554" cy="1228915"/>
          </a:xfrm>
        </p:grpSpPr>
        <p:pic>
          <p:nvPicPr>
            <p:cNvPr id="18" name="图片 12" descr="图片 1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5408" y="0"/>
              <a:ext cx="2109665" cy="1076413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  <p:sp>
          <p:nvSpPr>
            <p:cNvPr id="19" name="矩形 13"/>
            <p:cNvSpPr/>
            <p:nvPr/>
          </p:nvSpPr>
          <p:spPr>
            <a:xfrm>
              <a:off x="-1" y="837004"/>
              <a:ext cx="2273556" cy="391912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pic>
          <p:nvPicPr>
            <p:cNvPr id="20" name="图片 14" descr="图片 14"/>
            <p:cNvPicPr>
              <a:picLocks noChangeAspect="1"/>
            </p:cNvPicPr>
            <p:nvPr/>
          </p:nvPicPr>
          <p:blipFill>
            <a:blip r:embed="rId2"/>
            <a:srcRect t="85831"/>
            <a:stretch>
              <a:fillRect/>
            </a:stretch>
          </p:blipFill>
          <p:spPr>
            <a:xfrm>
              <a:off x="81944" y="760752"/>
              <a:ext cx="2109665" cy="152504"/>
            </a:xfrm>
            <a:prstGeom prst="rect">
              <a:avLst/>
            </a:prstGeom>
            <a:ln w="12700" cap="flat">
              <a:noFill/>
              <a:miter lim="400000"/>
              <a:headEnd/>
              <a:tailEnd/>
            </a:ln>
            <a:effectLst/>
          </p:spPr>
        </p:pic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4"/>
          <p:cNvGrpSpPr/>
          <p:nvPr userDrawn="1"/>
        </p:nvGrpSpPr>
        <p:grpSpPr>
          <a:xfrm>
            <a:off x="1910728" y="2648948"/>
            <a:ext cx="2235224" cy="1111341"/>
            <a:chOff x="0" y="0"/>
            <a:chExt cx="2235223" cy="1111340"/>
          </a:xfrm>
        </p:grpSpPr>
        <p:sp>
          <p:nvSpPr>
            <p:cNvPr id="13" name="文本框 5"/>
            <p:cNvSpPr txBox="1"/>
            <p:nvPr/>
          </p:nvSpPr>
          <p:spPr>
            <a:xfrm>
              <a:off x="556677" y="0"/>
              <a:ext cx="1170941" cy="84074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none" lIns="45719" tIns="45719" rIns="45719" bIns="45719" numCol="1" anchor="t">
              <a:spAutoFit/>
            </a:bodyPr>
            <a:lstStyle>
              <a:lvl1pPr algn="ctr">
                <a:defRPr sz="4200" b="1">
                  <a:latin typeface="阿里巴巴普惠体 B" panose="00020600040101010101" charset="-122"/>
                  <a:ea typeface="阿里巴巴普惠体 B" panose="00020600040101010101" charset="-122"/>
                  <a:cs typeface="阿里巴巴普惠体 B" panose="00020600040101010101" charset="-122"/>
                  <a:sym typeface="阿里巴巴普惠体 B" panose="00020600040101010101" charset="-122"/>
                </a:defRPr>
              </a:lvl1pPr>
            </a:lstStyle>
            <a:p>
              <a:r>
                <a:rPr dirty="0" err="1"/>
                <a:t>目录</a:t>
              </a:r>
              <a:endParaRPr dirty="0"/>
            </a:p>
          </p:txBody>
        </p:sp>
        <p:sp>
          <p:nvSpPr>
            <p:cNvPr id="14" name="文本框 6"/>
            <p:cNvSpPr txBox="1"/>
            <p:nvPr/>
          </p:nvSpPr>
          <p:spPr>
            <a:xfrm>
              <a:off x="0" y="651600"/>
              <a:ext cx="1742501" cy="459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t">
              <a:spAutoFit/>
            </a:bodyPr>
            <a:lstStyle>
              <a:lvl1pPr algn="ctr">
                <a:defRPr sz="2400">
                  <a:solidFill>
                    <a:srgbClr val="D9D9D9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defRPr>
              </a:lvl1pPr>
            </a:lstStyle>
            <a:p>
              <a:r>
                <a:t>Contents</a:t>
              </a:r>
            </a:p>
          </p:txBody>
        </p:sp>
        <p:sp>
          <p:nvSpPr>
            <p:cNvPr id="15" name="直接连接符 2"/>
            <p:cNvSpPr/>
            <p:nvPr/>
          </p:nvSpPr>
          <p:spPr>
            <a:xfrm flipH="1">
              <a:off x="2235223" y="3915"/>
              <a:ext cx="1" cy="1062263"/>
            </a:xfrm>
            <a:prstGeom prst="line">
              <a:avLst/>
            </a:prstGeom>
            <a:noFill/>
            <a:ln w="9525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六边形 9"/>
            <p:cNvSpPr/>
            <p:nvPr/>
          </p:nvSpPr>
          <p:spPr>
            <a:xfrm rot="5400000">
              <a:off x="112059" y="158400"/>
              <a:ext cx="437323" cy="37700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4E6CDA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" name="六边形 10"/>
            <p:cNvSpPr/>
            <p:nvPr/>
          </p:nvSpPr>
          <p:spPr>
            <a:xfrm rot="5400000">
              <a:off x="7006" y="363600"/>
              <a:ext cx="246110" cy="21216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D9D9D9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>
            <a:off x="-52551" y="-11875"/>
            <a:ext cx="12244551" cy="6902012"/>
            <a:chOff x="-52551" y="-11875"/>
            <a:chExt cx="12244551" cy="6902012"/>
          </a:xfrm>
        </p:grpSpPr>
        <p:sp>
          <p:nvSpPr>
            <p:cNvPr id="7" name="矩形 18"/>
            <p:cNvSpPr txBox="1"/>
            <p:nvPr userDrawn="1"/>
          </p:nvSpPr>
          <p:spPr>
            <a:xfrm>
              <a:off x="9089011" y="264163"/>
              <a:ext cx="2556491" cy="415498"/>
            </a:xfrm>
            <a:prstGeom prst="rect">
              <a:avLst/>
            </a:prstGeom>
            <a:ln w="12700">
              <a:miter lim="400000"/>
            </a:ln>
          </p:spPr>
          <p:txBody>
            <a:bodyPr wrap="square" lIns="45719" rIns="45719">
              <a:spAutoFit/>
            </a:bodyPr>
            <a:lstStyle>
              <a:lvl1pPr>
                <a:defRPr sz="2100">
                  <a:solidFill>
                    <a:srgbClr val="49504F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楷体" panose="02010600040101010101" charset="-122"/>
                </a:defRPr>
              </a:lvl1pPr>
            </a:lstStyle>
            <a:p>
              <a:r>
                <a:rPr lang="zh-CN" altLang="en-US" dirty="0"/>
                <a:t>黑马程序员在线品牌</a:t>
              </a:r>
              <a:endParaRPr dirty="0"/>
            </a:p>
          </p:txBody>
        </p:sp>
        <p:sp>
          <p:nvSpPr>
            <p:cNvPr id="8" name="矩形 20"/>
            <p:cNvSpPr/>
            <p:nvPr userDrawn="1"/>
          </p:nvSpPr>
          <p:spPr>
            <a:xfrm>
              <a:off x="-52551" y="-11875"/>
              <a:ext cx="223200" cy="694842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" name="矩形 21"/>
            <p:cNvSpPr/>
            <p:nvPr userDrawn="1"/>
          </p:nvSpPr>
          <p:spPr>
            <a:xfrm>
              <a:off x="-52551" y="708017"/>
              <a:ext cx="223200" cy="315312"/>
            </a:xfrm>
            <a:prstGeom prst="rect">
              <a:avLst/>
            </a:prstGeom>
            <a:solidFill>
              <a:srgbClr val="B6000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" name="矩形 22"/>
            <p:cNvSpPr/>
            <p:nvPr userDrawn="1"/>
          </p:nvSpPr>
          <p:spPr>
            <a:xfrm>
              <a:off x="2193792" y="719634"/>
              <a:ext cx="7396874" cy="21601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" name="矩形 23"/>
            <p:cNvSpPr/>
            <p:nvPr userDrawn="1"/>
          </p:nvSpPr>
          <p:spPr>
            <a:xfrm>
              <a:off x="9481901" y="719634"/>
              <a:ext cx="2163601" cy="21601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" name="矩形 21"/>
            <p:cNvSpPr/>
            <p:nvPr userDrawn="1"/>
          </p:nvSpPr>
          <p:spPr>
            <a:xfrm>
              <a:off x="-52551" y="708017"/>
              <a:ext cx="223200" cy="315312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pic>
          <p:nvPicPr>
            <p:cNvPr id="19" name="图片 18" descr="图片 1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79105" y="267752"/>
              <a:ext cx="1531623" cy="511961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20" name="任意形状 24"/>
            <p:cNvSpPr/>
            <p:nvPr userDrawn="1"/>
          </p:nvSpPr>
          <p:spPr>
            <a:xfrm>
              <a:off x="9612587" y="6582368"/>
              <a:ext cx="400899" cy="208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0740"/>
                  </a:lnTo>
                  <a:lnTo>
                    <a:pt x="21152" y="21600"/>
                  </a:lnTo>
                  <a:lnTo>
                    <a:pt x="448" y="21600"/>
                  </a:lnTo>
                  <a:lnTo>
                    <a:pt x="0" y="207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3B51A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" name="矩形 22"/>
            <p:cNvSpPr/>
            <p:nvPr userDrawn="1"/>
          </p:nvSpPr>
          <p:spPr>
            <a:xfrm>
              <a:off x="-10584" y="6779344"/>
              <a:ext cx="10057938" cy="110793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FFFFFF"/>
              </a:solidFill>
            </a:ln>
          </p:spPr>
          <p:txBody>
            <a:bodyPr lIns="0" tIns="0" rIns="0" bIns="0"/>
            <a:lstStyle/>
            <a:p>
              <a:pPr>
                <a:defRPr sz="2400">
                  <a:latin typeface="Segoe UI" panose="020B0502040204020203"/>
                  <a:ea typeface="Segoe UI" panose="020B0502040204020203"/>
                  <a:cs typeface="Segoe UI" panose="020B0502040204020203"/>
                  <a:sym typeface="Segoe UI" panose="020B0502040204020203"/>
                </a:defRPr>
              </a:pPr>
              <a:endParaRPr sz="1800"/>
            </a:p>
          </p:txBody>
        </p:sp>
        <p:sp>
          <p:nvSpPr>
            <p:cNvPr id="22" name="矩形 14"/>
            <p:cNvSpPr/>
            <p:nvPr userDrawn="1"/>
          </p:nvSpPr>
          <p:spPr>
            <a:xfrm>
              <a:off x="9813036" y="6582368"/>
              <a:ext cx="2378964" cy="3077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28" y="213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/>
            <a:lstStyle/>
            <a:p>
              <a:pPr>
                <a:defRPr sz="2400">
                  <a:latin typeface="Segoe UI" panose="020B0502040204020203"/>
                  <a:ea typeface="Segoe UI" panose="020B0502040204020203"/>
                  <a:cs typeface="Segoe UI" panose="020B0502040204020203"/>
                  <a:sym typeface="Segoe UI" panose="020B0502040204020203"/>
                </a:defRPr>
              </a:pPr>
              <a:endParaRPr sz="1800"/>
            </a:p>
          </p:txBody>
        </p:sp>
        <p:sp>
          <p:nvSpPr>
            <p:cNvPr id="23" name="矩形 27"/>
            <p:cNvSpPr txBox="1"/>
            <p:nvPr userDrawn="1"/>
          </p:nvSpPr>
          <p:spPr>
            <a:xfrm>
              <a:off x="9995955" y="6535935"/>
              <a:ext cx="2150324" cy="33274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楷体" panose="02010600040101010101" charset="-122"/>
                </a:defRPr>
              </a:lvl1pPr>
            </a:lstStyle>
            <a:p>
              <a:r>
                <a:t>高级软件人才培训专家</a:t>
              </a: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748712" y="2333175"/>
            <a:ext cx="3782284" cy="1084644"/>
            <a:chOff x="748712" y="2333175"/>
            <a:chExt cx="3782284" cy="1084644"/>
          </a:xfrm>
        </p:grpSpPr>
        <p:sp>
          <p:nvSpPr>
            <p:cNvPr id="7" name="椭圆 2"/>
            <p:cNvSpPr/>
            <p:nvPr/>
          </p:nvSpPr>
          <p:spPr>
            <a:xfrm>
              <a:off x="1285029" y="2458684"/>
              <a:ext cx="474473" cy="474473"/>
            </a:xfrm>
            <a:prstGeom prst="ellipse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8" name="文本框 3"/>
            <p:cNvSpPr txBox="1"/>
            <p:nvPr/>
          </p:nvSpPr>
          <p:spPr>
            <a:xfrm>
              <a:off x="1767490" y="2333175"/>
              <a:ext cx="2237741" cy="840741"/>
            </a:xfrm>
            <a:prstGeom prst="rect">
              <a:avLst/>
            </a:prstGeom>
            <a:ln w="12700">
              <a:miter lim="400000"/>
            </a:ln>
          </p:spPr>
          <p:txBody>
            <a:bodyPr wrap="none" lIns="45719" rIns="45719">
              <a:spAutoFit/>
            </a:bodyPr>
            <a:lstStyle>
              <a:lvl1pPr algn="ctr">
                <a:defRPr sz="4200" b="1">
                  <a:latin typeface="阿里巴巴普惠体 B" panose="00020600040101010101" charset="-122"/>
                  <a:ea typeface="阿里巴巴普惠体 B" panose="00020600040101010101" charset="-122"/>
                  <a:cs typeface="阿里巴巴普惠体 B" panose="00020600040101010101" charset="-122"/>
                  <a:sym typeface="阿里巴巴普惠体 B" panose="00020600040101010101" charset="-122"/>
                </a:defRPr>
              </a:lvl1pPr>
            </a:lstStyle>
            <a:p>
              <a:r>
                <a:rPr dirty="0" err="1"/>
                <a:t>学习目标</a:t>
              </a:r>
              <a:endParaRPr dirty="0"/>
            </a:p>
          </p:txBody>
        </p:sp>
        <p:sp>
          <p:nvSpPr>
            <p:cNvPr id="9" name="文本框 4"/>
            <p:cNvSpPr txBox="1"/>
            <p:nvPr/>
          </p:nvSpPr>
          <p:spPr>
            <a:xfrm>
              <a:off x="748712" y="2983478"/>
              <a:ext cx="3782284" cy="43434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>
              <a:spAutoFit/>
            </a:bodyPr>
            <a:lstStyle/>
            <a:p>
              <a:pPr algn="ctr">
                <a:defRPr sz="2200">
                  <a:solidFill>
                    <a:srgbClr val="D9D9D9"/>
                  </a:solidFill>
                  <a:latin typeface="Verdana" panose="020B0604030504040204"/>
                  <a:ea typeface="Verdana" panose="020B0604030504040204"/>
                  <a:cs typeface="Verdana" panose="020B0604030504040204"/>
                  <a:sym typeface="Verdana" panose="020B0604030504040204"/>
                </a:defRPr>
              </a:pPr>
              <a:r>
                <a:rPr sz="1800" dirty="0"/>
                <a:t>Learning Objectives</a:t>
              </a:r>
            </a:p>
          </p:txBody>
        </p:sp>
        <p:sp>
          <p:nvSpPr>
            <p:cNvPr id="10" name="直接连接符 2"/>
            <p:cNvSpPr/>
            <p:nvPr/>
          </p:nvSpPr>
          <p:spPr>
            <a:xfrm>
              <a:off x="4417699" y="2336716"/>
              <a:ext cx="1" cy="1062262"/>
            </a:xfrm>
            <a:prstGeom prst="line">
              <a:avLst/>
            </a:prstGeom>
            <a:ln>
              <a:solidFill>
                <a:srgbClr val="D9D9D9"/>
              </a:solidFill>
            </a:ln>
          </p:spPr>
          <p:txBody>
            <a:bodyPr lIns="0" tIns="0" rIns="0" bIns="0"/>
            <a:lstStyle/>
            <a:p>
              <a:endParaRPr/>
            </a:p>
          </p:txBody>
        </p:sp>
        <p:pic>
          <p:nvPicPr>
            <p:cNvPr id="11" name="图形 6" descr="图形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19069" y="2491360"/>
              <a:ext cx="406391" cy="406391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</p:grpSp>
      <p:grpSp>
        <p:nvGrpSpPr>
          <p:cNvPr id="12" name="组合 11"/>
          <p:cNvGrpSpPr/>
          <p:nvPr userDrawn="1"/>
        </p:nvGrpSpPr>
        <p:grpSpPr>
          <a:xfrm>
            <a:off x="-52551" y="-11875"/>
            <a:ext cx="12244551" cy="6902012"/>
            <a:chOff x="-52551" y="-11875"/>
            <a:chExt cx="12244551" cy="6902012"/>
          </a:xfrm>
        </p:grpSpPr>
        <p:sp>
          <p:nvSpPr>
            <p:cNvPr id="14" name="矩形 20"/>
            <p:cNvSpPr/>
            <p:nvPr userDrawn="1"/>
          </p:nvSpPr>
          <p:spPr>
            <a:xfrm>
              <a:off x="-52551" y="-11875"/>
              <a:ext cx="223200" cy="694842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" name="矩形 21"/>
            <p:cNvSpPr/>
            <p:nvPr userDrawn="1"/>
          </p:nvSpPr>
          <p:spPr>
            <a:xfrm>
              <a:off x="-52551" y="708017"/>
              <a:ext cx="223200" cy="315312"/>
            </a:xfrm>
            <a:prstGeom prst="rect">
              <a:avLst/>
            </a:prstGeom>
            <a:solidFill>
              <a:srgbClr val="B6000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" name="矩形 22"/>
            <p:cNvSpPr/>
            <p:nvPr userDrawn="1"/>
          </p:nvSpPr>
          <p:spPr>
            <a:xfrm>
              <a:off x="2193792" y="719634"/>
              <a:ext cx="7396874" cy="21601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" name="矩形 23"/>
            <p:cNvSpPr/>
            <p:nvPr userDrawn="1"/>
          </p:nvSpPr>
          <p:spPr>
            <a:xfrm>
              <a:off x="9481901" y="719634"/>
              <a:ext cx="2163601" cy="21601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" name="矩形 21"/>
            <p:cNvSpPr/>
            <p:nvPr userDrawn="1"/>
          </p:nvSpPr>
          <p:spPr>
            <a:xfrm>
              <a:off x="-52551" y="708017"/>
              <a:ext cx="223200" cy="315312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pic>
          <p:nvPicPr>
            <p:cNvPr id="19" name="图片 18" descr="图片 18"/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379105" y="267752"/>
              <a:ext cx="1531623" cy="511961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20" name="任意形状 24"/>
            <p:cNvSpPr/>
            <p:nvPr userDrawn="1"/>
          </p:nvSpPr>
          <p:spPr>
            <a:xfrm>
              <a:off x="9612587" y="6582368"/>
              <a:ext cx="400899" cy="208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0740"/>
                  </a:lnTo>
                  <a:lnTo>
                    <a:pt x="21152" y="21600"/>
                  </a:lnTo>
                  <a:lnTo>
                    <a:pt x="448" y="21600"/>
                  </a:lnTo>
                  <a:lnTo>
                    <a:pt x="0" y="207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3B51A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" name="矩形 22"/>
            <p:cNvSpPr/>
            <p:nvPr userDrawn="1"/>
          </p:nvSpPr>
          <p:spPr>
            <a:xfrm>
              <a:off x="-10584" y="6779344"/>
              <a:ext cx="10057938" cy="110793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FFFFFF"/>
              </a:solidFill>
            </a:ln>
          </p:spPr>
          <p:txBody>
            <a:bodyPr lIns="0" tIns="0" rIns="0" bIns="0"/>
            <a:lstStyle/>
            <a:p>
              <a:pPr>
                <a:defRPr sz="2400">
                  <a:latin typeface="Segoe UI" panose="020B0502040204020203"/>
                  <a:ea typeface="Segoe UI" panose="020B0502040204020203"/>
                  <a:cs typeface="Segoe UI" panose="020B0502040204020203"/>
                  <a:sym typeface="Segoe UI" panose="020B0502040204020203"/>
                </a:defRPr>
              </a:pPr>
              <a:endParaRPr sz="1800"/>
            </a:p>
          </p:txBody>
        </p:sp>
        <p:sp>
          <p:nvSpPr>
            <p:cNvPr id="22" name="矩形 14"/>
            <p:cNvSpPr/>
            <p:nvPr userDrawn="1"/>
          </p:nvSpPr>
          <p:spPr>
            <a:xfrm>
              <a:off x="9813036" y="6582368"/>
              <a:ext cx="2378964" cy="3077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28" y="213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/>
            <a:lstStyle/>
            <a:p>
              <a:pPr>
                <a:defRPr sz="2400">
                  <a:latin typeface="Segoe UI" panose="020B0502040204020203"/>
                  <a:ea typeface="Segoe UI" panose="020B0502040204020203"/>
                  <a:cs typeface="Segoe UI" panose="020B0502040204020203"/>
                  <a:sym typeface="Segoe UI" panose="020B0502040204020203"/>
                </a:defRPr>
              </a:pPr>
              <a:endParaRPr sz="1800"/>
            </a:p>
          </p:txBody>
        </p:sp>
        <p:sp>
          <p:nvSpPr>
            <p:cNvPr id="23" name="矩形 27"/>
            <p:cNvSpPr txBox="1"/>
            <p:nvPr userDrawn="1"/>
          </p:nvSpPr>
          <p:spPr>
            <a:xfrm>
              <a:off x="9995955" y="6535935"/>
              <a:ext cx="2150324" cy="33274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楷体" panose="02010600040101010101" charset="-122"/>
                </a:defRPr>
              </a:lvl1pPr>
            </a:lstStyle>
            <a:p>
              <a:r>
                <a:t>高级软件人才培训专家</a:t>
              </a:r>
            </a:p>
          </p:txBody>
        </p:sp>
      </p:grpSp>
      <p:sp>
        <p:nvSpPr>
          <p:cNvPr id="2" name="矩形 18"/>
          <p:cNvSpPr txBox="1"/>
          <p:nvPr userDrawn="1"/>
        </p:nvSpPr>
        <p:spPr>
          <a:xfrm>
            <a:off x="9089011" y="264163"/>
            <a:ext cx="2556491" cy="41549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2100">
                <a:solidFill>
                  <a:srgbClr val="49504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lvl1pPr>
          </a:lstStyle>
          <a:p>
            <a:r>
              <a:rPr lang="zh-CN" altLang="en-US" dirty="0"/>
              <a:t>黑马程序员在线品牌</a:t>
            </a:r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-52551" y="-11875"/>
            <a:ext cx="12244551" cy="6902012"/>
            <a:chOff x="-52551" y="-11875"/>
            <a:chExt cx="12244551" cy="6902012"/>
          </a:xfrm>
        </p:grpSpPr>
        <p:sp>
          <p:nvSpPr>
            <p:cNvPr id="14" name="矩形 20"/>
            <p:cNvSpPr/>
            <p:nvPr userDrawn="1"/>
          </p:nvSpPr>
          <p:spPr>
            <a:xfrm>
              <a:off x="-52551" y="-11875"/>
              <a:ext cx="223200" cy="694842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" name="矩形 21"/>
            <p:cNvSpPr/>
            <p:nvPr userDrawn="1"/>
          </p:nvSpPr>
          <p:spPr>
            <a:xfrm>
              <a:off x="-52551" y="708017"/>
              <a:ext cx="223200" cy="315312"/>
            </a:xfrm>
            <a:prstGeom prst="rect">
              <a:avLst/>
            </a:prstGeom>
            <a:solidFill>
              <a:srgbClr val="B6000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" name="矩形 22"/>
            <p:cNvSpPr/>
            <p:nvPr userDrawn="1"/>
          </p:nvSpPr>
          <p:spPr>
            <a:xfrm>
              <a:off x="2193792" y="719634"/>
              <a:ext cx="7396874" cy="21601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" name="矩形 23"/>
            <p:cNvSpPr/>
            <p:nvPr userDrawn="1"/>
          </p:nvSpPr>
          <p:spPr>
            <a:xfrm>
              <a:off x="9481901" y="719634"/>
              <a:ext cx="2163601" cy="21601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" name="矩形 21"/>
            <p:cNvSpPr/>
            <p:nvPr userDrawn="1"/>
          </p:nvSpPr>
          <p:spPr>
            <a:xfrm>
              <a:off x="-52551" y="708017"/>
              <a:ext cx="223200" cy="315312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pic>
          <p:nvPicPr>
            <p:cNvPr id="19" name="图片 18" descr="图片 1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79105" y="267752"/>
              <a:ext cx="1531623" cy="511961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20" name="任意形状 24"/>
            <p:cNvSpPr/>
            <p:nvPr userDrawn="1"/>
          </p:nvSpPr>
          <p:spPr>
            <a:xfrm>
              <a:off x="9612587" y="6582368"/>
              <a:ext cx="400899" cy="208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0740"/>
                  </a:lnTo>
                  <a:lnTo>
                    <a:pt x="21152" y="21600"/>
                  </a:lnTo>
                  <a:lnTo>
                    <a:pt x="448" y="21600"/>
                  </a:lnTo>
                  <a:lnTo>
                    <a:pt x="0" y="207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3B51A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" name="矩形 22"/>
            <p:cNvSpPr/>
            <p:nvPr userDrawn="1"/>
          </p:nvSpPr>
          <p:spPr>
            <a:xfrm>
              <a:off x="-10584" y="6779344"/>
              <a:ext cx="10057938" cy="110793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FFFFFF"/>
              </a:solidFill>
            </a:ln>
          </p:spPr>
          <p:txBody>
            <a:bodyPr lIns="0" tIns="0" rIns="0" bIns="0"/>
            <a:lstStyle/>
            <a:p>
              <a:pPr>
                <a:defRPr sz="2400">
                  <a:latin typeface="Segoe UI" panose="020B0502040204020203"/>
                  <a:ea typeface="Segoe UI" panose="020B0502040204020203"/>
                  <a:cs typeface="Segoe UI" panose="020B0502040204020203"/>
                  <a:sym typeface="Segoe UI" panose="020B0502040204020203"/>
                </a:defRPr>
              </a:pPr>
              <a:endParaRPr sz="1800"/>
            </a:p>
          </p:txBody>
        </p:sp>
        <p:sp>
          <p:nvSpPr>
            <p:cNvPr id="22" name="矩形 14"/>
            <p:cNvSpPr/>
            <p:nvPr userDrawn="1"/>
          </p:nvSpPr>
          <p:spPr>
            <a:xfrm>
              <a:off x="9813036" y="6582368"/>
              <a:ext cx="2378964" cy="3077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28" y="213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/>
            <a:lstStyle/>
            <a:p>
              <a:pPr>
                <a:defRPr sz="2400">
                  <a:latin typeface="Segoe UI" panose="020B0502040204020203"/>
                  <a:ea typeface="Segoe UI" panose="020B0502040204020203"/>
                  <a:cs typeface="Segoe UI" panose="020B0502040204020203"/>
                  <a:sym typeface="Segoe UI" panose="020B0502040204020203"/>
                </a:defRPr>
              </a:pPr>
              <a:endParaRPr sz="1800"/>
            </a:p>
          </p:txBody>
        </p:sp>
        <p:sp>
          <p:nvSpPr>
            <p:cNvPr id="23" name="矩形 27"/>
            <p:cNvSpPr txBox="1"/>
            <p:nvPr userDrawn="1"/>
          </p:nvSpPr>
          <p:spPr>
            <a:xfrm>
              <a:off x="9995955" y="6535935"/>
              <a:ext cx="2150324" cy="33274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楷体" panose="02010600040101010101" charset="-122"/>
                </a:defRPr>
              </a:lvl1pPr>
            </a:lstStyle>
            <a:p>
              <a:r>
                <a:t>高级软件人才培训专家</a:t>
              </a: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>
            <a:off x="1025853" y="1656085"/>
            <a:ext cx="3144160" cy="3256715"/>
            <a:chOff x="1025853" y="1656085"/>
            <a:chExt cx="3144160" cy="3256715"/>
          </a:xfrm>
        </p:grpSpPr>
        <p:sp>
          <p:nvSpPr>
            <p:cNvPr id="25" name="六边形 27"/>
            <p:cNvSpPr/>
            <p:nvPr/>
          </p:nvSpPr>
          <p:spPr>
            <a:xfrm rot="5400000">
              <a:off x="941355" y="3506918"/>
              <a:ext cx="1225220" cy="105622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ln w="12700">
              <a:solidFill>
                <a:srgbClr val="515151"/>
              </a:solidFill>
              <a:prstDash val="lgDash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" name="六边形 22"/>
            <p:cNvSpPr/>
            <p:nvPr/>
          </p:nvSpPr>
          <p:spPr>
            <a:xfrm rot="5400000">
              <a:off x="1484022" y="2527437"/>
              <a:ext cx="1944550" cy="16763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FFFFFF"/>
            </a:solidFill>
            <a:ln w="114300">
              <a:solidFill>
                <a:srgbClr val="4E6CDA"/>
              </a:solidFill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" name="标题占位符 1"/>
            <p:cNvSpPr txBox="1"/>
            <p:nvPr/>
          </p:nvSpPr>
          <p:spPr>
            <a:xfrm>
              <a:off x="1741140" y="3021099"/>
              <a:ext cx="1476103" cy="80264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 anchor="ctr">
              <a:spAutoFit/>
            </a:bodyPr>
            <a:lstStyle>
              <a:lvl1pPr algn="ctr">
                <a:lnSpc>
                  <a:spcPct val="90000"/>
                </a:lnSpc>
                <a:defRPr sz="4000">
                  <a:latin typeface="阿里巴巴普惠体"/>
                  <a:ea typeface="阿里巴巴普惠体"/>
                  <a:cs typeface="阿里巴巴普惠体"/>
                  <a:sym typeface="阿里巴巴普惠体"/>
                </a:defRPr>
              </a:lvl1pPr>
            </a:lstStyle>
            <a:p>
              <a:r>
                <a:t>思考</a:t>
              </a:r>
            </a:p>
          </p:txBody>
        </p:sp>
        <p:sp>
          <p:nvSpPr>
            <p:cNvPr id="28" name="六边形 23"/>
            <p:cNvSpPr/>
            <p:nvPr/>
          </p:nvSpPr>
          <p:spPr>
            <a:xfrm rot="5400000">
              <a:off x="3294074" y="2149102"/>
              <a:ext cx="566611" cy="4884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" name="六边形 24"/>
            <p:cNvSpPr/>
            <p:nvPr/>
          </p:nvSpPr>
          <p:spPr>
            <a:xfrm rot="5400000">
              <a:off x="1198356" y="4126436"/>
              <a:ext cx="298935" cy="25770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" name="六边形 25"/>
            <p:cNvSpPr/>
            <p:nvPr/>
          </p:nvSpPr>
          <p:spPr>
            <a:xfrm rot="5400000">
              <a:off x="3642476" y="4385264"/>
              <a:ext cx="566613" cy="48846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ln w="19050">
              <a:solidFill>
                <a:srgbClr val="4E6CDA"/>
              </a:solidFill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" name="六边形 29"/>
            <p:cNvSpPr/>
            <p:nvPr/>
          </p:nvSpPr>
          <p:spPr>
            <a:xfrm rot="5400000">
              <a:off x="1190640" y="1715049"/>
              <a:ext cx="854975" cy="73704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10800"/>
                  </a:moveTo>
                  <a:lnTo>
                    <a:pt x="4655" y="0"/>
                  </a:lnTo>
                  <a:lnTo>
                    <a:pt x="16945" y="0"/>
                  </a:lnTo>
                  <a:lnTo>
                    <a:pt x="21600" y="10800"/>
                  </a:lnTo>
                  <a:lnTo>
                    <a:pt x="16945" y="21600"/>
                  </a:lnTo>
                  <a:lnTo>
                    <a:pt x="4655" y="21600"/>
                  </a:lnTo>
                  <a:close/>
                </a:path>
              </a:pathLst>
            </a:custGeom>
            <a:solidFill>
              <a:srgbClr val="F2F2F2">
                <a:alpha val="7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3" name="矩形 18"/>
          <p:cNvSpPr txBox="1"/>
          <p:nvPr userDrawn="1"/>
        </p:nvSpPr>
        <p:spPr>
          <a:xfrm>
            <a:off x="9089011" y="264163"/>
            <a:ext cx="2556491" cy="41549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2100">
                <a:solidFill>
                  <a:srgbClr val="49504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lvl1pPr>
          </a:lstStyle>
          <a:p>
            <a:r>
              <a:rPr lang="zh-CN" altLang="en-US" dirty="0"/>
              <a:t>黑马程序员在线品牌</a:t>
            </a:r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-52551" y="-11875"/>
            <a:ext cx="12244551" cy="6902012"/>
            <a:chOff x="-52551" y="-11875"/>
            <a:chExt cx="12244551" cy="6902012"/>
          </a:xfrm>
        </p:grpSpPr>
        <p:sp>
          <p:nvSpPr>
            <p:cNvPr id="14" name="矩形 20"/>
            <p:cNvSpPr/>
            <p:nvPr userDrawn="1"/>
          </p:nvSpPr>
          <p:spPr>
            <a:xfrm>
              <a:off x="-52551" y="-11875"/>
              <a:ext cx="223200" cy="694842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" name="矩形 21"/>
            <p:cNvSpPr/>
            <p:nvPr userDrawn="1"/>
          </p:nvSpPr>
          <p:spPr>
            <a:xfrm>
              <a:off x="-52551" y="708017"/>
              <a:ext cx="223200" cy="315312"/>
            </a:xfrm>
            <a:prstGeom prst="rect">
              <a:avLst/>
            </a:prstGeom>
            <a:solidFill>
              <a:srgbClr val="B6000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" name="矩形 22"/>
            <p:cNvSpPr/>
            <p:nvPr userDrawn="1"/>
          </p:nvSpPr>
          <p:spPr>
            <a:xfrm>
              <a:off x="2193792" y="719634"/>
              <a:ext cx="7396874" cy="21601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" name="矩形 23"/>
            <p:cNvSpPr/>
            <p:nvPr userDrawn="1"/>
          </p:nvSpPr>
          <p:spPr>
            <a:xfrm>
              <a:off x="9481901" y="719634"/>
              <a:ext cx="2163601" cy="21601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" name="矩形 21"/>
            <p:cNvSpPr/>
            <p:nvPr userDrawn="1"/>
          </p:nvSpPr>
          <p:spPr>
            <a:xfrm>
              <a:off x="-52551" y="708017"/>
              <a:ext cx="223200" cy="315312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pic>
          <p:nvPicPr>
            <p:cNvPr id="19" name="图片 18" descr="图片 1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79105" y="267752"/>
              <a:ext cx="1531623" cy="511961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20" name="任意形状 24"/>
            <p:cNvSpPr/>
            <p:nvPr userDrawn="1"/>
          </p:nvSpPr>
          <p:spPr>
            <a:xfrm>
              <a:off x="9612587" y="6582368"/>
              <a:ext cx="400899" cy="208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0740"/>
                  </a:lnTo>
                  <a:lnTo>
                    <a:pt x="21152" y="21600"/>
                  </a:lnTo>
                  <a:lnTo>
                    <a:pt x="448" y="21600"/>
                  </a:lnTo>
                  <a:lnTo>
                    <a:pt x="0" y="207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3B51A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" name="矩形 22"/>
            <p:cNvSpPr/>
            <p:nvPr userDrawn="1"/>
          </p:nvSpPr>
          <p:spPr>
            <a:xfrm>
              <a:off x="-10584" y="6779344"/>
              <a:ext cx="10057938" cy="110793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FFFFFF"/>
              </a:solidFill>
            </a:ln>
          </p:spPr>
          <p:txBody>
            <a:bodyPr lIns="0" tIns="0" rIns="0" bIns="0"/>
            <a:lstStyle/>
            <a:p>
              <a:pPr>
                <a:defRPr sz="2400">
                  <a:latin typeface="Segoe UI" panose="020B0502040204020203"/>
                  <a:ea typeface="Segoe UI" panose="020B0502040204020203"/>
                  <a:cs typeface="Segoe UI" panose="020B0502040204020203"/>
                  <a:sym typeface="Segoe UI" panose="020B0502040204020203"/>
                </a:defRPr>
              </a:pPr>
              <a:endParaRPr sz="1800"/>
            </a:p>
          </p:txBody>
        </p:sp>
        <p:sp>
          <p:nvSpPr>
            <p:cNvPr id="22" name="矩形 14"/>
            <p:cNvSpPr/>
            <p:nvPr userDrawn="1"/>
          </p:nvSpPr>
          <p:spPr>
            <a:xfrm>
              <a:off x="9813036" y="6582368"/>
              <a:ext cx="2378964" cy="3077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28" y="213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/>
            <a:lstStyle/>
            <a:p>
              <a:pPr>
                <a:defRPr sz="2400">
                  <a:latin typeface="Segoe UI" panose="020B0502040204020203"/>
                  <a:ea typeface="Segoe UI" panose="020B0502040204020203"/>
                  <a:cs typeface="Segoe UI" panose="020B0502040204020203"/>
                  <a:sym typeface="Segoe UI" panose="020B0502040204020203"/>
                </a:defRPr>
              </a:pPr>
              <a:endParaRPr sz="1800"/>
            </a:p>
          </p:txBody>
        </p:sp>
        <p:sp>
          <p:nvSpPr>
            <p:cNvPr id="23" name="矩形 27"/>
            <p:cNvSpPr txBox="1"/>
            <p:nvPr userDrawn="1"/>
          </p:nvSpPr>
          <p:spPr>
            <a:xfrm>
              <a:off x="9995955" y="6535935"/>
              <a:ext cx="2150324" cy="33274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楷体" panose="02010600040101010101" charset="-122"/>
                </a:defRPr>
              </a:lvl1pPr>
            </a:lstStyle>
            <a:p>
              <a:r>
                <a:t>高级软件人才培训专家</a:t>
              </a:r>
            </a:p>
          </p:txBody>
        </p:sp>
      </p:grpSp>
      <p:grpSp>
        <p:nvGrpSpPr>
          <p:cNvPr id="32" name="组合 8"/>
          <p:cNvGrpSpPr/>
          <p:nvPr userDrawn="1"/>
        </p:nvGrpSpPr>
        <p:grpSpPr>
          <a:xfrm>
            <a:off x="710880" y="1813092"/>
            <a:ext cx="3587349" cy="3036723"/>
            <a:chOff x="0" y="0"/>
            <a:chExt cx="3587348" cy="3036721"/>
          </a:xfrm>
        </p:grpSpPr>
        <p:sp>
          <p:nvSpPr>
            <p:cNvPr id="33" name="椭圆 11"/>
            <p:cNvSpPr/>
            <p:nvPr/>
          </p:nvSpPr>
          <p:spPr>
            <a:xfrm>
              <a:off x="484175" y="2448631"/>
              <a:ext cx="588089" cy="588091"/>
            </a:xfrm>
            <a:prstGeom prst="ellipse">
              <a:avLst/>
            </a:prstGeom>
            <a:noFill/>
            <a:ln w="12700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4" name="椭圆 12"/>
            <p:cNvSpPr/>
            <p:nvPr/>
          </p:nvSpPr>
          <p:spPr>
            <a:xfrm>
              <a:off x="2097920" y="1855533"/>
              <a:ext cx="926889" cy="926889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5" name="椭圆 13"/>
            <p:cNvSpPr/>
            <p:nvPr/>
          </p:nvSpPr>
          <p:spPr>
            <a:xfrm>
              <a:off x="1996672" y="449372"/>
              <a:ext cx="1590677" cy="1590676"/>
            </a:xfrm>
            <a:prstGeom prst="ellipse">
              <a:avLst/>
            </a:prstGeom>
            <a:noFill/>
            <a:ln w="12700" cap="flat">
              <a:solidFill>
                <a:srgbClr val="515151"/>
              </a:solidFill>
              <a:prstDash val="lgDash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6" name="椭圆 18"/>
            <p:cNvSpPr/>
            <p:nvPr/>
          </p:nvSpPr>
          <p:spPr>
            <a:xfrm>
              <a:off x="778219" y="624896"/>
              <a:ext cx="1924945" cy="1895739"/>
            </a:xfrm>
            <a:prstGeom prst="ellipse">
              <a:avLst/>
            </a:prstGeom>
            <a:solidFill>
              <a:srgbClr val="FFFFFF"/>
            </a:solidFill>
            <a:ln w="114300" cap="flat">
              <a:solidFill>
                <a:srgbClr val="4E6CDA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7" name="椭圆 15"/>
            <p:cNvSpPr/>
            <p:nvPr/>
          </p:nvSpPr>
          <p:spPr>
            <a:xfrm>
              <a:off x="0" y="-1"/>
              <a:ext cx="804339" cy="804340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8" name="椭圆 16"/>
            <p:cNvSpPr/>
            <p:nvPr/>
          </p:nvSpPr>
          <p:spPr>
            <a:xfrm>
              <a:off x="2393414" y="106379"/>
              <a:ext cx="314325" cy="314327"/>
            </a:xfrm>
            <a:prstGeom prst="ellipse">
              <a:avLst/>
            </a:prstGeom>
            <a:solidFill>
              <a:srgbClr val="49504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9" name="标题占位符 1"/>
            <p:cNvSpPr txBox="1"/>
            <p:nvPr/>
          </p:nvSpPr>
          <p:spPr>
            <a:xfrm>
              <a:off x="1003650" y="1220895"/>
              <a:ext cx="1476103" cy="80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lnSpc>
                  <a:spcPct val="90000"/>
                </a:lnSpc>
                <a:defRPr sz="4000">
                  <a:latin typeface="阿里巴巴普惠体"/>
                  <a:ea typeface="阿里巴巴普惠体"/>
                  <a:cs typeface="阿里巴巴普惠体"/>
                  <a:sym typeface="阿里巴巴普惠体"/>
                </a:defRPr>
              </a:lvl1pPr>
            </a:lstStyle>
            <a:p>
              <a:r>
                <a:t>小结</a:t>
              </a:r>
            </a:p>
          </p:txBody>
        </p:sp>
      </p:grpSp>
      <p:sp>
        <p:nvSpPr>
          <p:cNvPr id="2" name="矩形 18"/>
          <p:cNvSpPr txBox="1"/>
          <p:nvPr userDrawn="1"/>
        </p:nvSpPr>
        <p:spPr>
          <a:xfrm>
            <a:off x="9089011" y="264163"/>
            <a:ext cx="2556491" cy="41549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2100">
                <a:solidFill>
                  <a:srgbClr val="49504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lvl1pPr>
          </a:lstStyle>
          <a:p>
            <a:r>
              <a:rPr lang="zh-CN" altLang="en-US" dirty="0"/>
              <a:t>黑马程序员在线品牌</a:t>
            </a:r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-52551" y="-11875"/>
            <a:ext cx="12244551" cy="6902012"/>
            <a:chOff x="-52551" y="-11875"/>
            <a:chExt cx="12244551" cy="6902012"/>
          </a:xfrm>
        </p:grpSpPr>
        <p:sp>
          <p:nvSpPr>
            <p:cNvPr id="14" name="矩形 20"/>
            <p:cNvSpPr/>
            <p:nvPr userDrawn="1"/>
          </p:nvSpPr>
          <p:spPr>
            <a:xfrm>
              <a:off x="-52551" y="-11875"/>
              <a:ext cx="223200" cy="694842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" name="矩形 21"/>
            <p:cNvSpPr/>
            <p:nvPr userDrawn="1"/>
          </p:nvSpPr>
          <p:spPr>
            <a:xfrm>
              <a:off x="-52551" y="708017"/>
              <a:ext cx="223200" cy="315312"/>
            </a:xfrm>
            <a:prstGeom prst="rect">
              <a:avLst/>
            </a:prstGeom>
            <a:solidFill>
              <a:srgbClr val="B6000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" name="矩形 22"/>
            <p:cNvSpPr/>
            <p:nvPr userDrawn="1"/>
          </p:nvSpPr>
          <p:spPr>
            <a:xfrm>
              <a:off x="2193792" y="719634"/>
              <a:ext cx="7396874" cy="21601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" name="矩形 23"/>
            <p:cNvSpPr/>
            <p:nvPr userDrawn="1"/>
          </p:nvSpPr>
          <p:spPr>
            <a:xfrm>
              <a:off x="9481901" y="719634"/>
              <a:ext cx="2163601" cy="21601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" name="矩形 21"/>
            <p:cNvSpPr/>
            <p:nvPr userDrawn="1"/>
          </p:nvSpPr>
          <p:spPr>
            <a:xfrm>
              <a:off x="-52551" y="708017"/>
              <a:ext cx="223200" cy="315312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pic>
          <p:nvPicPr>
            <p:cNvPr id="19" name="图片 18" descr="图片 1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79105" y="267752"/>
              <a:ext cx="1531623" cy="511961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20" name="任意形状 24"/>
            <p:cNvSpPr/>
            <p:nvPr userDrawn="1"/>
          </p:nvSpPr>
          <p:spPr>
            <a:xfrm>
              <a:off x="9612587" y="6582368"/>
              <a:ext cx="400899" cy="208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0740"/>
                  </a:lnTo>
                  <a:lnTo>
                    <a:pt x="21152" y="21600"/>
                  </a:lnTo>
                  <a:lnTo>
                    <a:pt x="448" y="21600"/>
                  </a:lnTo>
                  <a:lnTo>
                    <a:pt x="0" y="207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3B51A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" name="矩形 22"/>
            <p:cNvSpPr/>
            <p:nvPr userDrawn="1"/>
          </p:nvSpPr>
          <p:spPr>
            <a:xfrm>
              <a:off x="-10584" y="6779344"/>
              <a:ext cx="10057938" cy="110793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FFFFFF"/>
              </a:solidFill>
            </a:ln>
          </p:spPr>
          <p:txBody>
            <a:bodyPr lIns="0" tIns="0" rIns="0" bIns="0"/>
            <a:lstStyle/>
            <a:p>
              <a:pPr>
                <a:defRPr sz="2400">
                  <a:latin typeface="Segoe UI" panose="020B0502040204020203"/>
                  <a:ea typeface="Segoe UI" panose="020B0502040204020203"/>
                  <a:cs typeface="Segoe UI" panose="020B0502040204020203"/>
                  <a:sym typeface="Segoe UI" panose="020B0502040204020203"/>
                </a:defRPr>
              </a:pPr>
              <a:endParaRPr sz="1800"/>
            </a:p>
          </p:txBody>
        </p:sp>
        <p:sp>
          <p:nvSpPr>
            <p:cNvPr id="22" name="矩形 14"/>
            <p:cNvSpPr/>
            <p:nvPr userDrawn="1"/>
          </p:nvSpPr>
          <p:spPr>
            <a:xfrm>
              <a:off x="9813036" y="6582368"/>
              <a:ext cx="2378964" cy="3077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28" y="213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/>
            <a:lstStyle/>
            <a:p>
              <a:pPr>
                <a:defRPr sz="2400">
                  <a:latin typeface="Segoe UI" panose="020B0502040204020203"/>
                  <a:ea typeface="Segoe UI" panose="020B0502040204020203"/>
                  <a:cs typeface="Segoe UI" panose="020B0502040204020203"/>
                  <a:sym typeface="Segoe UI" panose="020B0502040204020203"/>
                </a:defRPr>
              </a:pPr>
              <a:endParaRPr sz="1800"/>
            </a:p>
          </p:txBody>
        </p:sp>
        <p:sp>
          <p:nvSpPr>
            <p:cNvPr id="23" name="矩形 27"/>
            <p:cNvSpPr txBox="1"/>
            <p:nvPr userDrawn="1"/>
          </p:nvSpPr>
          <p:spPr>
            <a:xfrm>
              <a:off x="9995955" y="6535935"/>
              <a:ext cx="2150324" cy="33274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楷体" panose="02010600040101010101" charset="-122"/>
                </a:defRPr>
              </a:lvl1pPr>
            </a:lstStyle>
            <a:p>
              <a:r>
                <a:t>高级软件人才培训专家</a:t>
              </a:r>
            </a:p>
          </p:txBody>
        </p:sp>
      </p:grpSp>
      <p:grpSp>
        <p:nvGrpSpPr>
          <p:cNvPr id="24" name="组合 8"/>
          <p:cNvGrpSpPr/>
          <p:nvPr userDrawn="1"/>
        </p:nvGrpSpPr>
        <p:grpSpPr>
          <a:xfrm>
            <a:off x="710880" y="1813092"/>
            <a:ext cx="3587349" cy="3036723"/>
            <a:chOff x="0" y="0"/>
            <a:chExt cx="3587348" cy="3036721"/>
          </a:xfrm>
        </p:grpSpPr>
        <p:sp>
          <p:nvSpPr>
            <p:cNvPr id="25" name="椭圆 11"/>
            <p:cNvSpPr/>
            <p:nvPr/>
          </p:nvSpPr>
          <p:spPr>
            <a:xfrm>
              <a:off x="484175" y="2448631"/>
              <a:ext cx="588089" cy="588091"/>
            </a:xfrm>
            <a:prstGeom prst="ellipse">
              <a:avLst/>
            </a:prstGeom>
            <a:noFill/>
            <a:ln w="12700" cap="flat">
              <a:solidFill>
                <a:srgbClr val="BFBFBF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" name="椭圆 12"/>
            <p:cNvSpPr/>
            <p:nvPr/>
          </p:nvSpPr>
          <p:spPr>
            <a:xfrm>
              <a:off x="2097920" y="1855533"/>
              <a:ext cx="926889" cy="926889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" name="椭圆 13"/>
            <p:cNvSpPr/>
            <p:nvPr/>
          </p:nvSpPr>
          <p:spPr>
            <a:xfrm>
              <a:off x="1996672" y="449372"/>
              <a:ext cx="1590677" cy="1590676"/>
            </a:xfrm>
            <a:prstGeom prst="ellipse">
              <a:avLst/>
            </a:prstGeom>
            <a:noFill/>
            <a:ln w="12700" cap="flat">
              <a:solidFill>
                <a:srgbClr val="515151"/>
              </a:solidFill>
              <a:prstDash val="lgDash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" name="椭圆 18"/>
            <p:cNvSpPr/>
            <p:nvPr/>
          </p:nvSpPr>
          <p:spPr>
            <a:xfrm>
              <a:off x="778219" y="624896"/>
              <a:ext cx="1924945" cy="1895739"/>
            </a:xfrm>
            <a:prstGeom prst="ellipse">
              <a:avLst/>
            </a:prstGeom>
            <a:solidFill>
              <a:srgbClr val="FFFFFF"/>
            </a:solidFill>
            <a:ln w="114300" cap="flat">
              <a:solidFill>
                <a:srgbClr val="4E6CDA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" name="椭圆 15"/>
            <p:cNvSpPr/>
            <p:nvPr/>
          </p:nvSpPr>
          <p:spPr>
            <a:xfrm>
              <a:off x="0" y="-1"/>
              <a:ext cx="804339" cy="804340"/>
            </a:xfrm>
            <a:prstGeom prst="ellipse">
              <a:avLst/>
            </a:prstGeom>
            <a:solidFill>
              <a:srgbClr val="F2F2F2">
                <a:alpha val="70000"/>
              </a:srgbClr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" name="椭圆 16"/>
            <p:cNvSpPr/>
            <p:nvPr/>
          </p:nvSpPr>
          <p:spPr>
            <a:xfrm>
              <a:off x="2393414" y="106379"/>
              <a:ext cx="314325" cy="314327"/>
            </a:xfrm>
            <a:prstGeom prst="ellipse">
              <a:avLst/>
            </a:prstGeom>
            <a:solidFill>
              <a:srgbClr val="49504F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" name="标题占位符 1"/>
            <p:cNvSpPr txBox="1"/>
            <p:nvPr/>
          </p:nvSpPr>
          <p:spPr>
            <a:xfrm>
              <a:off x="1003650" y="1220895"/>
              <a:ext cx="1476103" cy="8026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lnSpc>
                  <a:spcPct val="90000"/>
                </a:lnSpc>
                <a:defRPr sz="4000">
                  <a:latin typeface="阿里巴巴普惠体"/>
                  <a:ea typeface="阿里巴巴普惠体"/>
                  <a:cs typeface="阿里巴巴普惠体"/>
                  <a:sym typeface="阿里巴巴普惠体"/>
                </a:defRPr>
              </a:lvl1pPr>
            </a:lstStyle>
            <a:p>
              <a:r>
                <a:t>小结</a:t>
              </a:r>
            </a:p>
          </p:txBody>
        </p:sp>
      </p:grpSp>
      <p:sp>
        <p:nvSpPr>
          <p:cNvPr id="2" name="矩形 18"/>
          <p:cNvSpPr txBox="1"/>
          <p:nvPr userDrawn="1"/>
        </p:nvSpPr>
        <p:spPr>
          <a:xfrm>
            <a:off x="9089011" y="264163"/>
            <a:ext cx="2556491" cy="41549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2100">
                <a:solidFill>
                  <a:srgbClr val="49504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lvl1pPr>
          </a:lstStyle>
          <a:p>
            <a:r>
              <a:rPr lang="zh-CN" altLang="en-US" dirty="0"/>
              <a:t>黑马程序员在线品牌</a:t>
            </a:r>
            <a:endParaRPr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-52551" y="-11875"/>
            <a:ext cx="12244551" cy="6902012"/>
            <a:chOff x="-52551" y="-11875"/>
            <a:chExt cx="12244551" cy="6902012"/>
          </a:xfrm>
        </p:grpSpPr>
        <p:sp>
          <p:nvSpPr>
            <p:cNvPr id="14" name="矩形 20"/>
            <p:cNvSpPr/>
            <p:nvPr userDrawn="1"/>
          </p:nvSpPr>
          <p:spPr>
            <a:xfrm>
              <a:off x="-52551" y="-11875"/>
              <a:ext cx="223200" cy="694842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" name="矩形 21"/>
            <p:cNvSpPr/>
            <p:nvPr userDrawn="1"/>
          </p:nvSpPr>
          <p:spPr>
            <a:xfrm>
              <a:off x="-52551" y="708017"/>
              <a:ext cx="223200" cy="315312"/>
            </a:xfrm>
            <a:prstGeom prst="rect">
              <a:avLst/>
            </a:prstGeom>
            <a:solidFill>
              <a:srgbClr val="B6000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6" name="矩形 22"/>
            <p:cNvSpPr/>
            <p:nvPr userDrawn="1"/>
          </p:nvSpPr>
          <p:spPr>
            <a:xfrm>
              <a:off x="2193792" y="719634"/>
              <a:ext cx="7396874" cy="21601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7" name="矩形 23"/>
            <p:cNvSpPr/>
            <p:nvPr userDrawn="1"/>
          </p:nvSpPr>
          <p:spPr>
            <a:xfrm>
              <a:off x="9481901" y="719634"/>
              <a:ext cx="2163601" cy="21601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8" name="矩形 21"/>
            <p:cNvSpPr/>
            <p:nvPr userDrawn="1"/>
          </p:nvSpPr>
          <p:spPr>
            <a:xfrm>
              <a:off x="-52551" y="708017"/>
              <a:ext cx="223200" cy="315312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pic>
          <p:nvPicPr>
            <p:cNvPr id="19" name="图片 18" descr="图片 1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79105" y="267752"/>
              <a:ext cx="1531623" cy="511961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20" name="任意形状 24"/>
            <p:cNvSpPr/>
            <p:nvPr userDrawn="1"/>
          </p:nvSpPr>
          <p:spPr>
            <a:xfrm>
              <a:off x="9612587" y="6582368"/>
              <a:ext cx="400899" cy="208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0740"/>
                  </a:lnTo>
                  <a:lnTo>
                    <a:pt x="21152" y="21600"/>
                  </a:lnTo>
                  <a:lnTo>
                    <a:pt x="448" y="21600"/>
                  </a:lnTo>
                  <a:lnTo>
                    <a:pt x="0" y="207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3B51A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1" name="矩形 22"/>
            <p:cNvSpPr/>
            <p:nvPr userDrawn="1"/>
          </p:nvSpPr>
          <p:spPr>
            <a:xfrm>
              <a:off x="-10584" y="6779344"/>
              <a:ext cx="10057938" cy="110793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FFFFFF"/>
              </a:solidFill>
            </a:ln>
          </p:spPr>
          <p:txBody>
            <a:bodyPr lIns="0" tIns="0" rIns="0" bIns="0"/>
            <a:lstStyle/>
            <a:p>
              <a:pPr>
                <a:defRPr sz="2400">
                  <a:latin typeface="Segoe UI" panose="020B0502040204020203"/>
                  <a:ea typeface="Segoe UI" panose="020B0502040204020203"/>
                  <a:cs typeface="Segoe UI" panose="020B0502040204020203"/>
                  <a:sym typeface="Segoe UI" panose="020B0502040204020203"/>
                </a:defRPr>
              </a:pPr>
              <a:endParaRPr sz="1800"/>
            </a:p>
          </p:txBody>
        </p:sp>
        <p:sp>
          <p:nvSpPr>
            <p:cNvPr id="22" name="矩形 14"/>
            <p:cNvSpPr/>
            <p:nvPr userDrawn="1"/>
          </p:nvSpPr>
          <p:spPr>
            <a:xfrm>
              <a:off x="9813036" y="6582368"/>
              <a:ext cx="2378964" cy="3077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28" y="213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/>
            <a:lstStyle/>
            <a:p>
              <a:pPr>
                <a:defRPr sz="2400">
                  <a:latin typeface="Segoe UI" panose="020B0502040204020203"/>
                  <a:ea typeface="Segoe UI" panose="020B0502040204020203"/>
                  <a:cs typeface="Segoe UI" panose="020B0502040204020203"/>
                  <a:sym typeface="Segoe UI" panose="020B0502040204020203"/>
                </a:defRPr>
              </a:pPr>
              <a:endParaRPr sz="1800"/>
            </a:p>
          </p:txBody>
        </p:sp>
        <p:sp>
          <p:nvSpPr>
            <p:cNvPr id="23" name="矩形 27"/>
            <p:cNvSpPr txBox="1"/>
            <p:nvPr userDrawn="1"/>
          </p:nvSpPr>
          <p:spPr>
            <a:xfrm>
              <a:off x="9995955" y="6535935"/>
              <a:ext cx="2150324" cy="33274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楷体" panose="02010600040101010101" charset="-122"/>
                </a:defRPr>
              </a:lvl1pPr>
            </a:lstStyle>
            <a:p>
              <a:r>
                <a:t>高级软件人才培训专家</a:t>
              </a:r>
            </a:p>
          </p:txBody>
        </p:sp>
      </p:grpSp>
      <p:grpSp>
        <p:nvGrpSpPr>
          <p:cNvPr id="24" name="组合 23"/>
          <p:cNvGrpSpPr/>
          <p:nvPr userDrawn="1"/>
        </p:nvGrpSpPr>
        <p:grpSpPr>
          <a:xfrm>
            <a:off x="986539" y="2003998"/>
            <a:ext cx="3550544" cy="2601984"/>
            <a:chOff x="986539" y="2003998"/>
            <a:chExt cx="3550544" cy="2601984"/>
          </a:xfrm>
        </p:grpSpPr>
        <p:sp>
          <p:nvSpPr>
            <p:cNvPr id="25" name="矩形 42"/>
            <p:cNvSpPr/>
            <p:nvPr/>
          </p:nvSpPr>
          <p:spPr>
            <a:xfrm rot="2700000">
              <a:off x="3564411" y="2953095"/>
              <a:ext cx="936369" cy="936369"/>
            </a:xfrm>
            <a:prstGeom prst="rect">
              <a:avLst/>
            </a:prstGeom>
            <a:solidFill>
              <a:srgbClr val="F2F2F2">
                <a:alpha val="70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6" name="矩形 38"/>
            <p:cNvSpPr/>
            <p:nvPr/>
          </p:nvSpPr>
          <p:spPr>
            <a:xfrm rot="2700000">
              <a:off x="3711023" y="3896183"/>
              <a:ext cx="643145" cy="643145"/>
            </a:xfrm>
            <a:prstGeom prst="rect">
              <a:avLst/>
            </a:prstGeom>
            <a:ln w="12700">
              <a:solidFill>
                <a:srgbClr val="515151"/>
              </a:solidFill>
              <a:prstDash val="lgDash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7" name="矩形 40"/>
            <p:cNvSpPr/>
            <p:nvPr/>
          </p:nvSpPr>
          <p:spPr>
            <a:xfrm rot="2700000">
              <a:off x="1595908" y="2003998"/>
              <a:ext cx="219636" cy="219636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8" name="矩形 41"/>
            <p:cNvSpPr/>
            <p:nvPr/>
          </p:nvSpPr>
          <p:spPr>
            <a:xfrm rot="2700000">
              <a:off x="1559311" y="4111232"/>
              <a:ext cx="494751" cy="494750"/>
            </a:xfrm>
            <a:prstGeom prst="rect">
              <a:avLst/>
            </a:prstGeom>
            <a:solidFill>
              <a:srgbClr val="515151">
                <a:alpha val="63000"/>
              </a:srgbClr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29" name="矩形 43"/>
            <p:cNvSpPr/>
            <p:nvPr/>
          </p:nvSpPr>
          <p:spPr>
            <a:xfrm rot="2700000">
              <a:off x="986539" y="2025081"/>
              <a:ext cx="361656" cy="361656"/>
            </a:xfrm>
            <a:prstGeom prst="rect">
              <a:avLst/>
            </a:prstGeom>
            <a:ln w="12700">
              <a:solidFill>
                <a:srgbClr val="515151"/>
              </a:solidFill>
              <a:prstDash val="lgDash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0" name="矩形 39"/>
            <p:cNvSpPr/>
            <p:nvPr/>
          </p:nvSpPr>
          <p:spPr>
            <a:xfrm rot="2700000">
              <a:off x="1815644" y="2401117"/>
              <a:ext cx="1828801" cy="1828801"/>
            </a:xfrm>
            <a:prstGeom prst="rect">
              <a:avLst/>
            </a:prstGeom>
            <a:solidFill>
              <a:srgbClr val="FFFFFF"/>
            </a:solidFill>
            <a:ln w="114300">
              <a:solidFill>
                <a:srgbClr val="4E6CDA"/>
              </a:solidFill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31" name="标题占位符 1"/>
            <p:cNvSpPr txBox="1"/>
            <p:nvPr/>
          </p:nvSpPr>
          <p:spPr>
            <a:xfrm>
              <a:off x="1983913" y="2667432"/>
              <a:ext cx="1476103" cy="129794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 anchor="ctr">
              <a:spAutoFit/>
            </a:bodyPr>
            <a:lstStyle/>
            <a:p>
              <a:pPr algn="ctr">
                <a:lnSpc>
                  <a:spcPct val="90000"/>
                </a:lnSpc>
                <a:defRPr sz="3600">
                  <a:latin typeface="阿里巴巴普惠体"/>
                  <a:ea typeface="阿里巴巴普惠体"/>
                  <a:cs typeface="阿里巴巴普惠体"/>
                  <a:sym typeface="阿里巴巴普惠体"/>
                </a:defRPr>
              </a:pPr>
              <a:r>
                <a:rPr sz="1800"/>
                <a:t>今日</a:t>
              </a:r>
            </a:p>
            <a:p>
              <a:pPr algn="ctr">
                <a:lnSpc>
                  <a:spcPct val="90000"/>
                </a:lnSpc>
                <a:defRPr sz="3600">
                  <a:latin typeface="阿里巴巴普惠体"/>
                  <a:ea typeface="阿里巴巴普惠体"/>
                  <a:cs typeface="阿里巴巴普惠体"/>
                  <a:sym typeface="阿里巴巴普惠体"/>
                </a:defRPr>
              </a:pPr>
              <a:r>
                <a:rPr sz="1800"/>
                <a:t>作业</a:t>
              </a:r>
            </a:p>
          </p:txBody>
        </p:sp>
        <p:sp>
          <p:nvSpPr>
            <p:cNvPr id="32" name="矩形 44"/>
            <p:cNvSpPr/>
            <p:nvPr/>
          </p:nvSpPr>
          <p:spPr>
            <a:xfrm rot="2700000">
              <a:off x="4273425" y="2329808"/>
              <a:ext cx="263658" cy="263658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</p:grpSp>
      <p:sp>
        <p:nvSpPr>
          <p:cNvPr id="2" name="矩形 18"/>
          <p:cNvSpPr txBox="1"/>
          <p:nvPr userDrawn="1"/>
        </p:nvSpPr>
        <p:spPr>
          <a:xfrm>
            <a:off x="9089011" y="264163"/>
            <a:ext cx="2556491" cy="41549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2100">
                <a:solidFill>
                  <a:srgbClr val="49504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lvl1pPr>
          </a:lstStyle>
          <a:p>
            <a:r>
              <a:rPr lang="zh-CN" altLang="en-US" dirty="0"/>
              <a:t>黑马程序员在线品牌</a:t>
            </a:r>
            <a:endParaRPr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6" descr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635370" y="2355118"/>
            <a:ext cx="3175260" cy="1558324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-52551" y="-11875"/>
            <a:ext cx="12244551" cy="6902012"/>
            <a:chOff x="-52551" y="-11875"/>
            <a:chExt cx="12244551" cy="6902012"/>
          </a:xfrm>
        </p:grpSpPr>
        <p:sp>
          <p:nvSpPr>
            <p:cNvPr id="8" name="矩形 20"/>
            <p:cNvSpPr/>
            <p:nvPr userDrawn="1"/>
          </p:nvSpPr>
          <p:spPr>
            <a:xfrm>
              <a:off x="-52551" y="-11875"/>
              <a:ext cx="223200" cy="694842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9" name="矩形 21"/>
            <p:cNvSpPr/>
            <p:nvPr userDrawn="1"/>
          </p:nvSpPr>
          <p:spPr>
            <a:xfrm>
              <a:off x="-52551" y="708017"/>
              <a:ext cx="223200" cy="315312"/>
            </a:xfrm>
            <a:prstGeom prst="rect">
              <a:avLst/>
            </a:prstGeom>
            <a:solidFill>
              <a:srgbClr val="B60004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0" name="矩形 22"/>
            <p:cNvSpPr/>
            <p:nvPr userDrawn="1"/>
          </p:nvSpPr>
          <p:spPr>
            <a:xfrm>
              <a:off x="2193792" y="719634"/>
              <a:ext cx="7396874" cy="21601"/>
            </a:xfrm>
            <a:prstGeom prst="rect">
              <a:avLst/>
            </a:prstGeom>
            <a:solidFill>
              <a:srgbClr val="49504F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1" name="矩形 23"/>
            <p:cNvSpPr/>
            <p:nvPr userDrawn="1"/>
          </p:nvSpPr>
          <p:spPr>
            <a:xfrm>
              <a:off x="9481901" y="719634"/>
              <a:ext cx="2163601" cy="21601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2" name="矩形 21"/>
            <p:cNvSpPr/>
            <p:nvPr userDrawn="1"/>
          </p:nvSpPr>
          <p:spPr>
            <a:xfrm>
              <a:off x="-52551" y="708017"/>
              <a:ext cx="223200" cy="315312"/>
            </a:xfrm>
            <a:prstGeom prst="rect">
              <a:avLst/>
            </a:pr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pic>
          <p:nvPicPr>
            <p:cNvPr id="13" name="图片 12" descr="图片 18"/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79105" y="267752"/>
              <a:ext cx="1531623" cy="511961"/>
            </a:xfrm>
            <a:prstGeom prst="rect">
              <a:avLst/>
            </a:prstGeom>
            <a:ln w="12700">
              <a:miter lim="400000"/>
              <a:headEnd/>
              <a:tailEnd/>
            </a:ln>
          </p:spPr>
        </p:pic>
        <p:sp>
          <p:nvSpPr>
            <p:cNvPr id="14" name="任意形状 24"/>
            <p:cNvSpPr/>
            <p:nvPr userDrawn="1"/>
          </p:nvSpPr>
          <p:spPr>
            <a:xfrm>
              <a:off x="9612587" y="6582368"/>
              <a:ext cx="400899" cy="20876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0" y="0"/>
                  </a:moveTo>
                  <a:lnTo>
                    <a:pt x="21600" y="20740"/>
                  </a:lnTo>
                  <a:lnTo>
                    <a:pt x="21152" y="21600"/>
                  </a:lnTo>
                  <a:lnTo>
                    <a:pt x="448" y="21600"/>
                  </a:lnTo>
                  <a:lnTo>
                    <a:pt x="0" y="20740"/>
                  </a:lnTo>
                  <a:lnTo>
                    <a:pt x="10800" y="0"/>
                  </a:lnTo>
                  <a:close/>
                </a:path>
              </a:pathLst>
            </a:custGeom>
            <a:solidFill>
              <a:srgbClr val="3B51A5"/>
            </a:solidFill>
            <a:ln w="12700">
              <a:miter lim="400000"/>
            </a:ln>
          </p:spPr>
          <p:txBody>
            <a:bodyPr lIns="0" tIns="0" rIns="0" bIns="0" anchor="ctr"/>
            <a:lstStyle/>
            <a:p>
              <a:pPr algn="ctr">
                <a:defRPr>
                  <a:solidFill>
                    <a:srgbClr val="FFFFFF"/>
                  </a:solidFill>
                </a:defRPr>
              </a:pPr>
              <a:endParaRPr/>
            </a:p>
          </p:txBody>
        </p:sp>
        <p:sp>
          <p:nvSpPr>
            <p:cNvPr id="15" name="矩形 22"/>
            <p:cNvSpPr/>
            <p:nvPr userDrawn="1"/>
          </p:nvSpPr>
          <p:spPr>
            <a:xfrm>
              <a:off x="-10584" y="6779344"/>
              <a:ext cx="10057938" cy="110793"/>
            </a:xfrm>
            <a:prstGeom prst="rect">
              <a:avLst/>
            </a:prstGeom>
            <a:solidFill>
              <a:srgbClr val="49504F"/>
            </a:solidFill>
            <a:ln>
              <a:solidFill>
                <a:srgbClr val="FFFFFF"/>
              </a:solidFill>
            </a:ln>
          </p:spPr>
          <p:txBody>
            <a:bodyPr lIns="0" tIns="0" rIns="0" bIns="0"/>
            <a:lstStyle/>
            <a:p>
              <a:pPr>
                <a:defRPr sz="2400">
                  <a:latin typeface="Segoe UI" panose="020B0502040204020203"/>
                  <a:ea typeface="Segoe UI" panose="020B0502040204020203"/>
                  <a:cs typeface="Segoe UI" panose="020B0502040204020203"/>
                  <a:sym typeface="Segoe UI" panose="020B0502040204020203"/>
                </a:defRPr>
              </a:pPr>
              <a:endParaRPr sz="1800"/>
            </a:p>
          </p:txBody>
        </p:sp>
        <p:sp>
          <p:nvSpPr>
            <p:cNvPr id="16" name="矩形 14"/>
            <p:cNvSpPr/>
            <p:nvPr userDrawn="1"/>
          </p:nvSpPr>
          <p:spPr>
            <a:xfrm>
              <a:off x="9813036" y="6582368"/>
              <a:ext cx="2378964" cy="3077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1028" y="213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E6CDA"/>
            </a:solidFill>
            <a:ln w="12700">
              <a:miter lim="400000"/>
            </a:ln>
          </p:spPr>
          <p:txBody>
            <a:bodyPr lIns="0" tIns="0" rIns="0" bIns="0"/>
            <a:lstStyle/>
            <a:p>
              <a:pPr>
                <a:defRPr sz="2400">
                  <a:latin typeface="Segoe UI" panose="020B0502040204020203"/>
                  <a:ea typeface="Segoe UI" panose="020B0502040204020203"/>
                  <a:cs typeface="Segoe UI" panose="020B0502040204020203"/>
                  <a:sym typeface="Segoe UI" panose="020B0502040204020203"/>
                </a:defRPr>
              </a:pPr>
              <a:endParaRPr sz="1800"/>
            </a:p>
          </p:txBody>
        </p:sp>
        <p:sp>
          <p:nvSpPr>
            <p:cNvPr id="17" name="矩形 27"/>
            <p:cNvSpPr txBox="1"/>
            <p:nvPr userDrawn="1"/>
          </p:nvSpPr>
          <p:spPr>
            <a:xfrm>
              <a:off x="9995955" y="6535935"/>
              <a:ext cx="2150324" cy="332741"/>
            </a:xfrm>
            <a:prstGeom prst="rect">
              <a:avLst/>
            </a:prstGeom>
            <a:ln w="12700">
              <a:miter lim="400000"/>
            </a:ln>
          </p:spPr>
          <p:txBody>
            <a:bodyPr lIns="45719" rIns="45719">
              <a:spAutoFit/>
            </a:bodyPr>
            <a:lstStyle>
              <a:lvl1pPr>
                <a:defRPr sz="1600">
                  <a:solidFill>
                    <a:srgbClr val="FFFFFF"/>
                  </a:solidFill>
                  <a:latin typeface="华文楷体" panose="02010600040101010101" charset="-122"/>
                  <a:ea typeface="华文楷体" panose="02010600040101010101" charset="-122"/>
                  <a:cs typeface="华文楷体" panose="02010600040101010101" charset="-122"/>
                  <a:sym typeface="华文楷体" panose="02010600040101010101" charset="-122"/>
                </a:defRPr>
              </a:lvl1pPr>
            </a:lstStyle>
            <a:p>
              <a:r>
                <a:t>高级软件人才培训专家</a:t>
              </a:r>
            </a:p>
          </p:txBody>
        </p:sp>
      </p:grpSp>
      <p:sp>
        <p:nvSpPr>
          <p:cNvPr id="2" name="矩形 18"/>
          <p:cNvSpPr txBox="1"/>
          <p:nvPr userDrawn="1"/>
        </p:nvSpPr>
        <p:spPr>
          <a:xfrm>
            <a:off x="9089011" y="264163"/>
            <a:ext cx="2556491" cy="415498"/>
          </a:xfrm>
          <a:prstGeom prst="rect">
            <a:avLst/>
          </a:prstGeom>
          <a:ln w="12700">
            <a:miter lim="400000"/>
          </a:ln>
        </p:spPr>
        <p:txBody>
          <a:bodyPr wrap="square" lIns="45719" rIns="45719">
            <a:spAutoFit/>
          </a:bodyPr>
          <a:lstStyle>
            <a:lvl1pPr>
              <a:defRPr sz="2100">
                <a:solidFill>
                  <a:srgbClr val="49504F"/>
                </a:solidFill>
                <a:latin typeface="华文楷体" panose="02010600040101010101" charset="-122"/>
                <a:ea typeface="华文楷体" panose="02010600040101010101" charset="-122"/>
                <a:cs typeface="华文楷体" panose="02010600040101010101" charset="-122"/>
                <a:sym typeface="华文楷体" panose="02010600040101010101" charset="-122"/>
              </a:defRPr>
            </a:lvl1pPr>
          </a:lstStyle>
          <a:p>
            <a:r>
              <a:rPr lang="zh-CN" altLang="en-US" dirty="0"/>
              <a:t>黑马程序员在线品牌</a:t>
            </a:r>
            <a:endParaRPr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1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2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3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03A0D-C1B8-449F-BC0D-FF633E3D34E9}" type="datetimeFigureOut">
              <a:rPr lang="zh-CN" altLang="en-US" smtClean="0"/>
              <a:t>2024/1/9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926864-44E0-4471-9FA9-213C7070C61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12.xml"/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tags" Target="../tags/tag30.xml"/><Relationship Id="rId3" Type="http://schemas.openxmlformats.org/officeDocument/2006/relationships/tags" Target="../tags/tag7.xml"/><Relationship Id="rId21" Type="http://schemas.openxmlformats.org/officeDocument/2006/relationships/tags" Target="../tags/tag25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29" Type="http://schemas.openxmlformats.org/officeDocument/2006/relationships/slideLayout" Target="../slideLayouts/slideLayout9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40.xml"/><Relationship Id="rId13" Type="http://schemas.openxmlformats.org/officeDocument/2006/relationships/tags" Target="../tags/tag45.xml"/><Relationship Id="rId3" Type="http://schemas.openxmlformats.org/officeDocument/2006/relationships/tags" Target="../tags/tag35.xml"/><Relationship Id="rId7" Type="http://schemas.openxmlformats.org/officeDocument/2006/relationships/tags" Target="../tags/tag39.xml"/><Relationship Id="rId12" Type="http://schemas.openxmlformats.org/officeDocument/2006/relationships/tags" Target="../tags/tag44.xml"/><Relationship Id="rId17" Type="http://schemas.openxmlformats.org/officeDocument/2006/relationships/slideLayout" Target="../slideLayouts/slideLayout9.xml"/><Relationship Id="rId2" Type="http://schemas.openxmlformats.org/officeDocument/2006/relationships/tags" Target="../tags/tag34.xml"/><Relationship Id="rId16" Type="http://schemas.openxmlformats.org/officeDocument/2006/relationships/tags" Target="../tags/tag48.xml"/><Relationship Id="rId1" Type="http://schemas.openxmlformats.org/officeDocument/2006/relationships/tags" Target="../tags/tag33.xml"/><Relationship Id="rId6" Type="http://schemas.openxmlformats.org/officeDocument/2006/relationships/tags" Target="../tags/tag38.xml"/><Relationship Id="rId11" Type="http://schemas.openxmlformats.org/officeDocument/2006/relationships/tags" Target="../tags/tag43.xml"/><Relationship Id="rId5" Type="http://schemas.openxmlformats.org/officeDocument/2006/relationships/tags" Target="../tags/tag37.xml"/><Relationship Id="rId15" Type="http://schemas.openxmlformats.org/officeDocument/2006/relationships/tags" Target="../tags/tag47.xml"/><Relationship Id="rId10" Type="http://schemas.openxmlformats.org/officeDocument/2006/relationships/tags" Target="../tags/tag42.xml"/><Relationship Id="rId4" Type="http://schemas.openxmlformats.org/officeDocument/2006/relationships/tags" Target="../tags/tag36.xml"/><Relationship Id="rId9" Type="http://schemas.openxmlformats.org/officeDocument/2006/relationships/tags" Target="../tags/tag41.xml"/><Relationship Id="rId14" Type="http://schemas.openxmlformats.org/officeDocument/2006/relationships/tags" Target="../tags/tag4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5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5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tags" Target="../tags/tag59.xml"/><Relationship Id="rId7" Type="http://schemas.openxmlformats.org/officeDocument/2006/relationships/slideLayout" Target="../slideLayouts/slideLayout9.xml"/><Relationship Id="rId2" Type="http://schemas.openxmlformats.org/officeDocument/2006/relationships/tags" Target="../tags/tag58.xml"/><Relationship Id="rId1" Type="http://schemas.openxmlformats.org/officeDocument/2006/relationships/tags" Target="../tags/tag57.xml"/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13" Type="http://schemas.openxmlformats.org/officeDocument/2006/relationships/tags" Target="../tags/tag75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tags" Target="../tags/tag74.xml"/><Relationship Id="rId17" Type="http://schemas.openxmlformats.org/officeDocument/2006/relationships/slideLayout" Target="../slideLayouts/slideLayout9.xml"/><Relationship Id="rId2" Type="http://schemas.openxmlformats.org/officeDocument/2006/relationships/tags" Target="../tags/tag64.xml"/><Relationship Id="rId16" Type="http://schemas.openxmlformats.org/officeDocument/2006/relationships/tags" Target="../tags/tag78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tags" Target="../tags/tag73.xml"/><Relationship Id="rId5" Type="http://schemas.openxmlformats.org/officeDocument/2006/relationships/tags" Target="../tags/tag67.xml"/><Relationship Id="rId15" Type="http://schemas.openxmlformats.org/officeDocument/2006/relationships/tags" Target="../tags/tag77.xml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Relationship Id="rId14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tags" Target="../tags/tag81.xml"/><Relationship Id="rId7" Type="http://schemas.openxmlformats.org/officeDocument/2006/relationships/image" Target="../media/image5.png"/><Relationship Id="rId2" Type="http://schemas.openxmlformats.org/officeDocument/2006/relationships/tags" Target="../tags/tag80.xml"/><Relationship Id="rId1" Type="http://schemas.openxmlformats.org/officeDocument/2006/relationships/tags" Target="../tags/tag79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83.xml"/><Relationship Id="rId4" Type="http://schemas.openxmlformats.org/officeDocument/2006/relationships/tags" Target="../tags/tag8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tags" Target="../tags/tag86.xml"/><Relationship Id="rId7" Type="http://schemas.openxmlformats.org/officeDocument/2006/relationships/slideLayout" Target="../slideLayouts/slideLayout9.xml"/><Relationship Id="rId2" Type="http://schemas.openxmlformats.org/officeDocument/2006/relationships/tags" Target="../tags/tag85.xml"/><Relationship Id="rId1" Type="http://schemas.openxmlformats.org/officeDocument/2006/relationships/tags" Target="../tags/tag84.xml"/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7.xml"/><Relationship Id="rId13" Type="http://schemas.openxmlformats.org/officeDocument/2006/relationships/tags" Target="../tags/tag102.xml"/><Relationship Id="rId3" Type="http://schemas.openxmlformats.org/officeDocument/2006/relationships/tags" Target="../tags/tag92.xml"/><Relationship Id="rId7" Type="http://schemas.openxmlformats.org/officeDocument/2006/relationships/tags" Target="../tags/tag96.xml"/><Relationship Id="rId12" Type="http://schemas.openxmlformats.org/officeDocument/2006/relationships/tags" Target="../tags/tag101.xml"/><Relationship Id="rId17" Type="http://schemas.openxmlformats.org/officeDocument/2006/relationships/slideLayout" Target="../slideLayouts/slideLayout9.xml"/><Relationship Id="rId2" Type="http://schemas.openxmlformats.org/officeDocument/2006/relationships/tags" Target="../tags/tag91.xml"/><Relationship Id="rId16" Type="http://schemas.openxmlformats.org/officeDocument/2006/relationships/tags" Target="../tags/tag105.xml"/><Relationship Id="rId1" Type="http://schemas.openxmlformats.org/officeDocument/2006/relationships/tags" Target="../tags/tag90.xml"/><Relationship Id="rId6" Type="http://schemas.openxmlformats.org/officeDocument/2006/relationships/tags" Target="../tags/tag95.xml"/><Relationship Id="rId11" Type="http://schemas.openxmlformats.org/officeDocument/2006/relationships/tags" Target="../tags/tag100.xml"/><Relationship Id="rId5" Type="http://schemas.openxmlformats.org/officeDocument/2006/relationships/tags" Target="../tags/tag94.xml"/><Relationship Id="rId15" Type="http://schemas.openxmlformats.org/officeDocument/2006/relationships/tags" Target="../tags/tag104.xml"/><Relationship Id="rId10" Type="http://schemas.openxmlformats.org/officeDocument/2006/relationships/tags" Target="../tags/tag99.xml"/><Relationship Id="rId4" Type="http://schemas.openxmlformats.org/officeDocument/2006/relationships/tags" Target="../tags/tag93.xml"/><Relationship Id="rId9" Type="http://schemas.openxmlformats.org/officeDocument/2006/relationships/tags" Target="../tags/tag98.xml"/><Relationship Id="rId14" Type="http://schemas.openxmlformats.org/officeDocument/2006/relationships/tags" Target="../tags/tag10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113.xml"/><Relationship Id="rId13" Type="http://schemas.openxmlformats.org/officeDocument/2006/relationships/tags" Target="../tags/tag118.xml"/><Relationship Id="rId3" Type="http://schemas.openxmlformats.org/officeDocument/2006/relationships/tags" Target="../tags/tag108.xml"/><Relationship Id="rId7" Type="http://schemas.openxmlformats.org/officeDocument/2006/relationships/tags" Target="../tags/tag112.xml"/><Relationship Id="rId12" Type="http://schemas.openxmlformats.org/officeDocument/2006/relationships/tags" Target="../tags/tag117.xml"/><Relationship Id="rId17" Type="http://schemas.openxmlformats.org/officeDocument/2006/relationships/image" Target="../media/image8.png"/><Relationship Id="rId2" Type="http://schemas.openxmlformats.org/officeDocument/2006/relationships/tags" Target="../tags/tag107.xml"/><Relationship Id="rId16" Type="http://schemas.openxmlformats.org/officeDocument/2006/relationships/slideLayout" Target="../slideLayouts/slideLayout9.xml"/><Relationship Id="rId1" Type="http://schemas.openxmlformats.org/officeDocument/2006/relationships/tags" Target="../tags/tag106.xml"/><Relationship Id="rId6" Type="http://schemas.openxmlformats.org/officeDocument/2006/relationships/tags" Target="../tags/tag111.xml"/><Relationship Id="rId11" Type="http://schemas.openxmlformats.org/officeDocument/2006/relationships/tags" Target="../tags/tag116.xml"/><Relationship Id="rId5" Type="http://schemas.openxmlformats.org/officeDocument/2006/relationships/tags" Target="../tags/tag110.xml"/><Relationship Id="rId15" Type="http://schemas.openxmlformats.org/officeDocument/2006/relationships/tags" Target="../tags/tag120.xml"/><Relationship Id="rId10" Type="http://schemas.openxmlformats.org/officeDocument/2006/relationships/tags" Target="../tags/tag115.xml"/><Relationship Id="rId4" Type="http://schemas.openxmlformats.org/officeDocument/2006/relationships/tags" Target="../tags/tag109.xml"/><Relationship Id="rId9" Type="http://schemas.openxmlformats.org/officeDocument/2006/relationships/tags" Target="../tags/tag114.xml"/><Relationship Id="rId14" Type="http://schemas.openxmlformats.org/officeDocument/2006/relationships/tags" Target="../tags/tag11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tags" Target="../tags/tag123.xml"/><Relationship Id="rId2" Type="http://schemas.openxmlformats.org/officeDocument/2006/relationships/tags" Target="../tags/tag122.xml"/><Relationship Id="rId1" Type="http://schemas.openxmlformats.org/officeDocument/2006/relationships/tags" Target="../tags/tag121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125.xml"/><Relationship Id="rId4" Type="http://schemas.openxmlformats.org/officeDocument/2006/relationships/tags" Target="../tags/tag12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133.xml"/><Relationship Id="rId3" Type="http://schemas.openxmlformats.org/officeDocument/2006/relationships/tags" Target="../tags/tag128.xml"/><Relationship Id="rId7" Type="http://schemas.openxmlformats.org/officeDocument/2006/relationships/tags" Target="../tags/tag132.xml"/><Relationship Id="rId12" Type="http://schemas.openxmlformats.org/officeDocument/2006/relationships/image" Target="../media/image8.png"/><Relationship Id="rId2" Type="http://schemas.openxmlformats.org/officeDocument/2006/relationships/tags" Target="../tags/tag127.xml"/><Relationship Id="rId1" Type="http://schemas.openxmlformats.org/officeDocument/2006/relationships/tags" Target="../tags/tag126.xml"/><Relationship Id="rId6" Type="http://schemas.openxmlformats.org/officeDocument/2006/relationships/tags" Target="../tags/tag131.xml"/><Relationship Id="rId11" Type="http://schemas.openxmlformats.org/officeDocument/2006/relationships/slideLayout" Target="../slideLayouts/slideLayout9.xml"/><Relationship Id="rId5" Type="http://schemas.openxmlformats.org/officeDocument/2006/relationships/tags" Target="../tags/tag130.xml"/><Relationship Id="rId10" Type="http://schemas.openxmlformats.org/officeDocument/2006/relationships/tags" Target="../tags/tag135.xml"/><Relationship Id="rId4" Type="http://schemas.openxmlformats.org/officeDocument/2006/relationships/tags" Target="../tags/tag129.xml"/><Relationship Id="rId9" Type="http://schemas.openxmlformats.org/officeDocument/2006/relationships/tags" Target="../tags/tag13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43.xml"/><Relationship Id="rId3" Type="http://schemas.openxmlformats.org/officeDocument/2006/relationships/tags" Target="../tags/tag138.xml"/><Relationship Id="rId7" Type="http://schemas.openxmlformats.org/officeDocument/2006/relationships/tags" Target="../tags/tag142.xml"/><Relationship Id="rId12" Type="http://schemas.openxmlformats.org/officeDocument/2006/relationships/image" Target="../media/image8.png"/><Relationship Id="rId2" Type="http://schemas.openxmlformats.org/officeDocument/2006/relationships/tags" Target="../tags/tag137.xml"/><Relationship Id="rId1" Type="http://schemas.openxmlformats.org/officeDocument/2006/relationships/tags" Target="../tags/tag136.xml"/><Relationship Id="rId6" Type="http://schemas.openxmlformats.org/officeDocument/2006/relationships/tags" Target="../tags/tag141.xml"/><Relationship Id="rId11" Type="http://schemas.openxmlformats.org/officeDocument/2006/relationships/slideLayout" Target="../slideLayouts/slideLayout9.xml"/><Relationship Id="rId5" Type="http://schemas.openxmlformats.org/officeDocument/2006/relationships/tags" Target="../tags/tag140.xml"/><Relationship Id="rId10" Type="http://schemas.openxmlformats.org/officeDocument/2006/relationships/tags" Target="../tags/tag145.xml"/><Relationship Id="rId4" Type="http://schemas.openxmlformats.org/officeDocument/2006/relationships/tags" Target="../tags/tag139.xml"/><Relationship Id="rId9" Type="http://schemas.openxmlformats.org/officeDocument/2006/relationships/tags" Target="../tags/tag14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53.xml"/><Relationship Id="rId13" Type="http://schemas.openxmlformats.org/officeDocument/2006/relationships/tags" Target="../tags/tag158.xml"/><Relationship Id="rId3" Type="http://schemas.openxmlformats.org/officeDocument/2006/relationships/tags" Target="../tags/tag148.xml"/><Relationship Id="rId7" Type="http://schemas.openxmlformats.org/officeDocument/2006/relationships/tags" Target="../tags/tag152.xml"/><Relationship Id="rId12" Type="http://schemas.openxmlformats.org/officeDocument/2006/relationships/tags" Target="../tags/tag157.xml"/><Relationship Id="rId17" Type="http://schemas.openxmlformats.org/officeDocument/2006/relationships/slideLayout" Target="../slideLayouts/slideLayout9.xml"/><Relationship Id="rId2" Type="http://schemas.openxmlformats.org/officeDocument/2006/relationships/tags" Target="../tags/tag147.xml"/><Relationship Id="rId16" Type="http://schemas.openxmlformats.org/officeDocument/2006/relationships/tags" Target="../tags/tag161.xml"/><Relationship Id="rId1" Type="http://schemas.openxmlformats.org/officeDocument/2006/relationships/tags" Target="../tags/tag146.xml"/><Relationship Id="rId6" Type="http://schemas.openxmlformats.org/officeDocument/2006/relationships/tags" Target="../tags/tag151.xml"/><Relationship Id="rId11" Type="http://schemas.openxmlformats.org/officeDocument/2006/relationships/tags" Target="../tags/tag156.xml"/><Relationship Id="rId5" Type="http://schemas.openxmlformats.org/officeDocument/2006/relationships/tags" Target="../tags/tag150.xml"/><Relationship Id="rId15" Type="http://schemas.openxmlformats.org/officeDocument/2006/relationships/tags" Target="../tags/tag160.xml"/><Relationship Id="rId10" Type="http://schemas.openxmlformats.org/officeDocument/2006/relationships/tags" Target="../tags/tag155.xml"/><Relationship Id="rId4" Type="http://schemas.openxmlformats.org/officeDocument/2006/relationships/tags" Target="../tags/tag149.xml"/><Relationship Id="rId9" Type="http://schemas.openxmlformats.org/officeDocument/2006/relationships/tags" Target="../tags/tag154.xml"/><Relationship Id="rId14" Type="http://schemas.openxmlformats.org/officeDocument/2006/relationships/tags" Target="../tags/tag159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69.xml"/><Relationship Id="rId13" Type="http://schemas.openxmlformats.org/officeDocument/2006/relationships/tags" Target="../tags/tag174.xml"/><Relationship Id="rId18" Type="http://schemas.openxmlformats.org/officeDocument/2006/relationships/tags" Target="../tags/tag179.xml"/><Relationship Id="rId3" Type="http://schemas.openxmlformats.org/officeDocument/2006/relationships/tags" Target="../tags/tag164.xml"/><Relationship Id="rId21" Type="http://schemas.openxmlformats.org/officeDocument/2006/relationships/tags" Target="../tags/tag182.xml"/><Relationship Id="rId7" Type="http://schemas.openxmlformats.org/officeDocument/2006/relationships/tags" Target="../tags/tag168.xml"/><Relationship Id="rId12" Type="http://schemas.openxmlformats.org/officeDocument/2006/relationships/tags" Target="../tags/tag173.xml"/><Relationship Id="rId17" Type="http://schemas.openxmlformats.org/officeDocument/2006/relationships/tags" Target="../tags/tag178.xml"/><Relationship Id="rId2" Type="http://schemas.openxmlformats.org/officeDocument/2006/relationships/tags" Target="../tags/tag163.xml"/><Relationship Id="rId16" Type="http://schemas.openxmlformats.org/officeDocument/2006/relationships/tags" Target="../tags/tag177.xml"/><Relationship Id="rId20" Type="http://schemas.openxmlformats.org/officeDocument/2006/relationships/tags" Target="../tags/tag181.xml"/><Relationship Id="rId1" Type="http://schemas.openxmlformats.org/officeDocument/2006/relationships/tags" Target="../tags/tag162.xml"/><Relationship Id="rId6" Type="http://schemas.openxmlformats.org/officeDocument/2006/relationships/tags" Target="../tags/tag167.xml"/><Relationship Id="rId11" Type="http://schemas.openxmlformats.org/officeDocument/2006/relationships/tags" Target="../tags/tag172.xml"/><Relationship Id="rId5" Type="http://schemas.openxmlformats.org/officeDocument/2006/relationships/tags" Target="../tags/tag166.xml"/><Relationship Id="rId15" Type="http://schemas.openxmlformats.org/officeDocument/2006/relationships/tags" Target="../tags/tag176.xml"/><Relationship Id="rId10" Type="http://schemas.openxmlformats.org/officeDocument/2006/relationships/tags" Target="../tags/tag171.xml"/><Relationship Id="rId19" Type="http://schemas.openxmlformats.org/officeDocument/2006/relationships/tags" Target="../tags/tag180.xml"/><Relationship Id="rId4" Type="http://schemas.openxmlformats.org/officeDocument/2006/relationships/tags" Target="../tags/tag165.xml"/><Relationship Id="rId9" Type="http://schemas.openxmlformats.org/officeDocument/2006/relationships/tags" Target="../tags/tag170.xml"/><Relationship Id="rId14" Type="http://schemas.openxmlformats.org/officeDocument/2006/relationships/tags" Target="../tags/tag175.xml"/><Relationship Id="rId22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90.xml"/><Relationship Id="rId3" Type="http://schemas.openxmlformats.org/officeDocument/2006/relationships/tags" Target="../tags/tag185.xml"/><Relationship Id="rId7" Type="http://schemas.openxmlformats.org/officeDocument/2006/relationships/tags" Target="../tags/tag189.xml"/><Relationship Id="rId12" Type="http://schemas.openxmlformats.org/officeDocument/2006/relationships/image" Target="../media/image8.png"/><Relationship Id="rId2" Type="http://schemas.openxmlformats.org/officeDocument/2006/relationships/tags" Target="../tags/tag184.xml"/><Relationship Id="rId1" Type="http://schemas.openxmlformats.org/officeDocument/2006/relationships/tags" Target="../tags/tag183.xml"/><Relationship Id="rId6" Type="http://schemas.openxmlformats.org/officeDocument/2006/relationships/tags" Target="../tags/tag188.xml"/><Relationship Id="rId11" Type="http://schemas.openxmlformats.org/officeDocument/2006/relationships/slideLayout" Target="../slideLayouts/slideLayout9.xml"/><Relationship Id="rId5" Type="http://schemas.openxmlformats.org/officeDocument/2006/relationships/tags" Target="../tags/tag187.xml"/><Relationship Id="rId10" Type="http://schemas.openxmlformats.org/officeDocument/2006/relationships/tags" Target="../tags/tag192.xml"/><Relationship Id="rId4" Type="http://schemas.openxmlformats.org/officeDocument/2006/relationships/tags" Target="../tags/tag186.xml"/><Relationship Id="rId9" Type="http://schemas.openxmlformats.org/officeDocument/2006/relationships/tags" Target="../tags/tag19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tags" Target="../tags/tag195.xml"/><Relationship Id="rId2" Type="http://schemas.openxmlformats.org/officeDocument/2006/relationships/tags" Target="../tags/tag194.xml"/><Relationship Id="rId1" Type="http://schemas.openxmlformats.org/officeDocument/2006/relationships/tags" Target="../tags/tag193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197.xml"/><Relationship Id="rId4" Type="http://schemas.openxmlformats.org/officeDocument/2006/relationships/tags" Target="../tags/tag19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tags" Target="../tags/tag198.xml"/><Relationship Id="rId4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208.xml"/><Relationship Id="rId13" Type="http://schemas.openxmlformats.org/officeDocument/2006/relationships/tags" Target="../tags/tag213.xml"/><Relationship Id="rId3" Type="http://schemas.openxmlformats.org/officeDocument/2006/relationships/tags" Target="../tags/tag203.xml"/><Relationship Id="rId7" Type="http://schemas.openxmlformats.org/officeDocument/2006/relationships/tags" Target="../tags/tag207.xml"/><Relationship Id="rId12" Type="http://schemas.openxmlformats.org/officeDocument/2006/relationships/tags" Target="../tags/tag212.xml"/><Relationship Id="rId2" Type="http://schemas.openxmlformats.org/officeDocument/2006/relationships/tags" Target="../tags/tag202.xml"/><Relationship Id="rId1" Type="http://schemas.openxmlformats.org/officeDocument/2006/relationships/tags" Target="../tags/tag201.xml"/><Relationship Id="rId6" Type="http://schemas.openxmlformats.org/officeDocument/2006/relationships/tags" Target="../tags/tag206.xml"/><Relationship Id="rId11" Type="http://schemas.openxmlformats.org/officeDocument/2006/relationships/tags" Target="../tags/tag211.xml"/><Relationship Id="rId5" Type="http://schemas.openxmlformats.org/officeDocument/2006/relationships/tags" Target="../tags/tag205.xml"/><Relationship Id="rId15" Type="http://schemas.openxmlformats.org/officeDocument/2006/relationships/image" Target="../media/image8.png"/><Relationship Id="rId10" Type="http://schemas.openxmlformats.org/officeDocument/2006/relationships/tags" Target="../tags/tag210.xml"/><Relationship Id="rId4" Type="http://schemas.openxmlformats.org/officeDocument/2006/relationships/tags" Target="../tags/tag204.xml"/><Relationship Id="rId9" Type="http://schemas.openxmlformats.org/officeDocument/2006/relationships/tags" Target="../tags/tag209.xml"/><Relationship Id="rId14" Type="http://schemas.openxmlformats.org/officeDocument/2006/relationships/slideLayout" Target="../slideLayouts/slideLayout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221.xml"/><Relationship Id="rId13" Type="http://schemas.openxmlformats.org/officeDocument/2006/relationships/tags" Target="../tags/tag226.xml"/><Relationship Id="rId3" Type="http://schemas.openxmlformats.org/officeDocument/2006/relationships/tags" Target="../tags/tag216.xml"/><Relationship Id="rId7" Type="http://schemas.openxmlformats.org/officeDocument/2006/relationships/tags" Target="../tags/tag220.xml"/><Relationship Id="rId12" Type="http://schemas.openxmlformats.org/officeDocument/2006/relationships/tags" Target="../tags/tag225.xml"/><Relationship Id="rId2" Type="http://schemas.openxmlformats.org/officeDocument/2006/relationships/tags" Target="../tags/tag215.xml"/><Relationship Id="rId16" Type="http://schemas.openxmlformats.org/officeDocument/2006/relationships/slideLayout" Target="../slideLayouts/slideLayout9.xml"/><Relationship Id="rId1" Type="http://schemas.openxmlformats.org/officeDocument/2006/relationships/tags" Target="../tags/tag214.xml"/><Relationship Id="rId6" Type="http://schemas.openxmlformats.org/officeDocument/2006/relationships/tags" Target="../tags/tag219.xml"/><Relationship Id="rId11" Type="http://schemas.openxmlformats.org/officeDocument/2006/relationships/tags" Target="../tags/tag224.xml"/><Relationship Id="rId5" Type="http://schemas.openxmlformats.org/officeDocument/2006/relationships/tags" Target="../tags/tag218.xml"/><Relationship Id="rId15" Type="http://schemas.openxmlformats.org/officeDocument/2006/relationships/tags" Target="../tags/tag228.xml"/><Relationship Id="rId10" Type="http://schemas.openxmlformats.org/officeDocument/2006/relationships/tags" Target="../tags/tag223.xml"/><Relationship Id="rId4" Type="http://schemas.openxmlformats.org/officeDocument/2006/relationships/tags" Target="../tags/tag217.xml"/><Relationship Id="rId9" Type="http://schemas.openxmlformats.org/officeDocument/2006/relationships/tags" Target="../tags/tag222.xml"/><Relationship Id="rId14" Type="http://schemas.openxmlformats.org/officeDocument/2006/relationships/tags" Target="../tags/tag22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236.xml"/><Relationship Id="rId13" Type="http://schemas.openxmlformats.org/officeDocument/2006/relationships/tags" Target="../tags/tag241.xml"/><Relationship Id="rId18" Type="http://schemas.openxmlformats.org/officeDocument/2006/relationships/tags" Target="../tags/tag246.xml"/><Relationship Id="rId3" Type="http://schemas.openxmlformats.org/officeDocument/2006/relationships/tags" Target="../tags/tag231.xml"/><Relationship Id="rId21" Type="http://schemas.openxmlformats.org/officeDocument/2006/relationships/tags" Target="../tags/tag249.xml"/><Relationship Id="rId7" Type="http://schemas.openxmlformats.org/officeDocument/2006/relationships/tags" Target="../tags/tag235.xml"/><Relationship Id="rId12" Type="http://schemas.openxmlformats.org/officeDocument/2006/relationships/tags" Target="../tags/tag240.xml"/><Relationship Id="rId17" Type="http://schemas.openxmlformats.org/officeDocument/2006/relationships/tags" Target="../tags/tag245.xml"/><Relationship Id="rId2" Type="http://schemas.openxmlformats.org/officeDocument/2006/relationships/tags" Target="../tags/tag230.xml"/><Relationship Id="rId16" Type="http://schemas.openxmlformats.org/officeDocument/2006/relationships/tags" Target="../tags/tag244.xml"/><Relationship Id="rId20" Type="http://schemas.openxmlformats.org/officeDocument/2006/relationships/tags" Target="../tags/tag248.xml"/><Relationship Id="rId1" Type="http://schemas.openxmlformats.org/officeDocument/2006/relationships/tags" Target="../tags/tag229.xml"/><Relationship Id="rId6" Type="http://schemas.openxmlformats.org/officeDocument/2006/relationships/tags" Target="../tags/tag234.xml"/><Relationship Id="rId11" Type="http://schemas.openxmlformats.org/officeDocument/2006/relationships/tags" Target="../tags/tag239.xml"/><Relationship Id="rId5" Type="http://schemas.openxmlformats.org/officeDocument/2006/relationships/tags" Target="../tags/tag233.xml"/><Relationship Id="rId15" Type="http://schemas.openxmlformats.org/officeDocument/2006/relationships/tags" Target="../tags/tag243.xml"/><Relationship Id="rId10" Type="http://schemas.openxmlformats.org/officeDocument/2006/relationships/tags" Target="../tags/tag238.xml"/><Relationship Id="rId19" Type="http://schemas.openxmlformats.org/officeDocument/2006/relationships/tags" Target="../tags/tag247.xml"/><Relationship Id="rId4" Type="http://schemas.openxmlformats.org/officeDocument/2006/relationships/tags" Target="../tags/tag232.xml"/><Relationship Id="rId9" Type="http://schemas.openxmlformats.org/officeDocument/2006/relationships/tags" Target="../tags/tag237.xml"/><Relationship Id="rId14" Type="http://schemas.openxmlformats.org/officeDocument/2006/relationships/tags" Target="../tags/tag242.xml"/><Relationship Id="rId22" Type="http://schemas.openxmlformats.org/officeDocument/2006/relationships/slideLayout" Target="../slideLayouts/slideLayout9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57.xml"/><Relationship Id="rId3" Type="http://schemas.openxmlformats.org/officeDocument/2006/relationships/tags" Target="../tags/tag252.xml"/><Relationship Id="rId7" Type="http://schemas.openxmlformats.org/officeDocument/2006/relationships/tags" Target="../tags/tag256.xml"/><Relationship Id="rId2" Type="http://schemas.openxmlformats.org/officeDocument/2006/relationships/tags" Target="../tags/tag251.xml"/><Relationship Id="rId1" Type="http://schemas.openxmlformats.org/officeDocument/2006/relationships/tags" Target="../tags/tag250.xml"/><Relationship Id="rId6" Type="http://schemas.openxmlformats.org/officeDocument/2006/relationships/tags" Target="../tags/tag255.xml"/><Relationship Id="rId5" Type="http://schemas.openxmlformats.org/officeDocument/2006/relationships/tags" Target="../tags/tag254.xml"/><Relationship Id="rId10" Type="http://schemas.openxmlformats.org/officeDocument/2006/relationships/image" Target="../media/image8.png"/><Relationship Id="rId4" Type="http://schemas.openxmlformats.org/officeDocument/2006/relationships/tags" Target="../tags/tag253.xml"/><Relationship Id="rId9" Type="http://schemas.openxmlformats.org/officeDocument/2006/relationships/slideLayout" Target="../slideLayouts/slideLayout9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65.xml"/><Relationship Id="rId3" Type="http://schemas.openxmlformats.org/officeDocument/2006/relationships/tags" Target="../tags/tag260.xml"/><Relationship Id="rId7" Type="http://schemas.openxmlformats.org/officeDocument/2006/relationships/tags" Target="../tags/tag264.xml"/><Relationship Id="rId2" Type="http://schemas.openxmlformats.org/officeDocument/2006/relationships/tags" Target="../tags/tag259.xml"/><Relationship Id="rId1" Type="http://schemas.openxmlformats.org/officeDocument/2006/relationships/tags" Target="../tags/tag258.xml"/><Relationship Id="rId6" Type="http://schemas.openxmlformats.org/officeDocument/2006/relationships/tags" Target="../tags/tag263.xml"/><Relationship Id="rId5" Type="http://schemas.openxmlformats.org/officeDocument/2006/relationships/tags" Target="../tags/tag262.xml"/><Relationship Id="rId10" Type="http://schemas.openxmlformats.org/officeDocument/2006/relationships/image" Target="../media/image8.png"/><Relationship Id="rId4" Type="http://schemas.openxmlformats.org/officeDocument/2006/relationships/tags" Target="../tags/tag261.xml"/><Relationship Id="rId9" Type="http://schemas.openxmlformats.org/officeDocument/2006/relationships/slideLayout" Target="../slideLayouts/slideLayout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tags" Target="../tags/tag268.xml"/><Relationship Id="rId7" Type="http://schemas.openxmlformats.org/officeDocument/2006/relationships/slideLayout" Target="../slideLayouts/slideLayout9.xml"/><Relationship Id="rId2" Type="http://schemas.openxmlformats.org/officeDocument/2006/relationships/tags" Target="../tags/tag267.xml"/><Relationship Id="rId1" Type="http://schemas.openxmlformats.org/officeDocument/2006/relationships/tags" Target="../tags/tag266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tags" Target="../tags/tag269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tags" Target="../tags/tag274.xml"/><Relationship Id="rId7" Type="http://schemas.openxmlformats.org/officeDocument/2006/relationships/tags" Target="../tags/tag278.xml"/><Relationship Id="rId2" Type="http://schemas.openxmlformats.org/officeDocument/2006/relationships/tags" Target="../tags/tag273.xml"/><Relationship Id="rId1" Type="http://schemas.openxmlformats.org/officeDocument/2006/relationships/tags" Target="../tags/tag272.xml"/><Relationship Id="rId6" Type="http://schemas.openxmlformats.org/officeDocument/2006/relationships/tags" Target="../tags/tag277.xml"/><Relationship Id="rId5" Type="http://schemas.openxmlformats.org/officeDocument/2006/relationships/tags" Target="../tags/tag276.xml"/><Relationship Id="rId4" Type="http://schemas.openxmlformats.org/officeDocument/2006/relationships/tags" Target="../tags/tag27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tags" Target="../tags/tag281.xml"/><Relationship Id="rId2" Type="http://schemas.openxmlformats.org/officeDocument/2006/relationships/tags" Target="../tags/tag280.xml"/><Relationship Id="rId1" Type="http://schemas.openxmlformats.org/officeDocument/2006/relationships/tags" Target="../tags/tag279.xml"/><Relationship Id="rId6" Type="http://schemas.openxmlformats.org/officeDocument/2006/relationships/image" Target="../media/image9.png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28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290.xml"/><Relationship Id="rId13" Type="http://schemas.openxmlformats.org/officeDocument/2006/relationships/tags" Target="../tags/tag295.xml"/><Relationship Id="rId3" Type="http://schemas.openxmlformats.org/officeDocument/2006/relationships/tags" Target="../tags/tag285.xml"/><Relationship Id="rId7" Type="http://schemas.openxmlformats.org/officeDocument/2006/relationships/tags" Target="../tags/tag289.xml"/><Relationship Id="rId12" Type="http://schemas.openxmlformats.org/officeDocument/2006/relationships/tags" Target="../tags/tag294.xml"/><Relationship Id="rId17" Type="http://schemas.openxmlformats.org/officeDocument/2006/relationships/slideLayout" Target="../slideLayouts/slideLayout9.xml"/><Relationship Id="rId2" Type="http://schemas.openxmlformats.org/officeDocument/2006/relationships/tags" Target="../tags/tag284.xml"/><Relationship Id="rId16" Type="http://schemas.openxmlformats.org/officeDocument/2006/relationships/tags" Target="../tags/tag298.xml"/><Relationship Id="rId1" Type="http://schemas.openxmlformats.org/officeDocument/2006/relationships/tags" Target="../tags/tag283.xml"/><Relationship Id="rId6" Type="http://schemas.openxmlformats.org/officeDocument/2006/relationships/tags" Target="../tags/tag288.xml"/><Relationship Id="rId11" Type="http://schemas.openxmlformats.org/officeDocument/2006/relationships/tags" Target="../tags/tag293.xml"/><Relationship Id="rId5" Type="http://schemas.openxmlformats.org/officeDocument/2006/relationships/tags" Target="../tags/tag287.xml"/><Relationship Id="rId15" Type="http://schemas.openxmlformats.org/officeDocument/2006/relationships/tags" Target="../tags/tag297.xml"/><Relationship Id="rId10" Type="http://schemas.openxmlformats.org/officeDocument/2006/relationships/tags" Target="../tags/tag292.xml"/><Relationship Id="rId4" Type="http://schemas.openxmlformats.org/officeDocument/2006/relationships/tags" Target="../tags/tag286.xml"/><Relationship Id="rId9" Type="http://schemas.openxmlformats.org/officeDocument/2006/relationships/tags" Target="../tags/tag291.xml"/><Relationship Id="rId14" Type="http://schemas.openxmlformats.org/officeDocument/2006/relationships/tags" Target="../tags/tag296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306.xml"/><Relationship Id="rId3" Type="http://schemas.openxmlformats.org/officeDocument/2006/relationships/tags" Target="../tags/tag301.xml"/><Relationship Id="rId7" Type="http://schemas.openxmlformats.org/officeDocument/2006/relationships/tags" Target="../tags/tag305.xml"/><Relationship Id="rId12" Type="http://schemas.openxmlformats.org/officeDocument/2006/relationships/image" Target="../media/image8.png"/><Relationship Id="rId2" Type="http://schemas.openxmlformats.org/officeDocument/2006/relationships/tags" Target="../tags/tag300.xml"/><Relationship Id="rId1" Type="http://schemas.openxmlformats.org/officeDocument/2006/relationships/tags" Target="../tags/tag299.xml"/><Relationship Id="rId6" Type="http://schemas.openxmlformats.org/officeDocument/2006/relationships/tags" Target="../tags/tag304.xml"/><Relationship Id="rId11" Type="http://schemas.openxmlformats.org/officeDocument/2006/relationships/slideLayout" Target="../slideLayouts/slideLayout9.xml"/><Relationship Id="rId5" Type="http://schemas.openxmlformats.org/officeDocument/2006/relationships/tags" Target="../tags/tag303.xml"/><Relationship Id="rId10" Type="http://schemas.openxmlformats.org/officeDocument/2006/relationships/tags" Target="../tags/tag308.xml"/><Relationship Id="rId4" Type="http://schemas.openxmlformats.org/officeDocument/2006/relationships/tags" Target="../tags/tag302.xml"/><Relationship Id="rId9" Type="http://schemas.openxmlformats.org/officeDocument/2006/relationships/tags" Target="../tags/tag307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316.xml"/><Relationship Id="rId3" Type="http://schemas.openxmlformats.org/officeDocument/2006/relationships/tags" Target="../tags/tag311.xml"/><Relationship Id="rId7" Type="http://schemas.openxmlformats.org/officeDocument/2006/relationships/tags" Target="../tags/tag315.xml"/><Relationship Id="rId12" Type="http://schemas.openxmlformats.org/officeDocument/2006/relationships/image" Target="../media/image8.png"/><Relationship Id="rId2" Type="http://schemas.openxmlformats.org/officeDocument/2006/relationships/tags" Target="../tags/tag310.xml"/><Relationship Id="rId1" Type="http://schemas.openxmlformats.org/officeDocument/2006/relationships/tags" Target="../tags/tag309.xml"/><Relationship Id="rId6" Type="http://schemas.openxmlformats.org/officeDocument/2006/relationships/tags" Target="../tags/tag314.xml"/><Relationship Id="rId11" Type="http://schemas.openxmlformats.org/officeDocument/2006/relationships/slideLayout" Target="../slideLayouts/slideLayout9.xml"/><Relationship Id="rId5" Type="http://schemas.openxmlformats.org/officeDocument/2006/relationships/tags" Target="../tags/tag313.xml"/><Relationship Id="rId10" Type="http://schemas.openxmlformats.org/officeDocument/2006/relationships/tags" Target="../tags/tag318.xml"/><Relationship Id="rId4" Type="http://schemas.openxmlformats.org/officeDocument/2006/relationships/tags" Target="../tags/tag312.xml"/><Relationship Id="rId9" Type="http://schemas.openxmlformats.org/officeDocument/2006/relationships/tags" Target="../tags/tag31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326.xml"/><Relationship Id="rId3" Type="http://schemas.openxmlformats.org/officeDocument/2006/relationships/tags" Target="../tags/tag321.xml"/><Relationship Id="rId7" Type="http://schemas.openxmlformats.org/officeDocument/2006/relationships/tags" Target="../tags/tag325.xml"/><Relationship Id="rId12" Type="http://schemas.openxmlformats.org/officeDocument/2006/relationships/image" Target="../media/image8.png"/><Relationship Id="rId2" Type="http://schemas.openxmlformats.org/officeDocument/2006/relationships/tags" Target="../tags/tag320.xml"/><Relationship Id="rId1" Type="http://schemas.openxmlformats.org/officeDocument/2006/relationships/tags" Target="../tags/tag319.xml"/><Relationship Id="rId6" Type="http://schemas.openxmlformats.org/officeDocument/2006/relationships/tags" Target="../tags/tag324.xml"/><Relationship Id="rId11" Type="http://schemas.openxmlformats.org/officeDocument/2006/relationships/slideLayout" Target="../slideLayouts/slideLayout9.xml"/><Relationship Id="rId5" Type="http://schemas.openxmlformats.org/officeDocument/2006/relationships/tags" Target="../tags/tag323.xml"/><Relationship Id="rId10" Type="http://schemas.openxmlformats.org/officeDocument/2006/relationships/tags" Target="../tags/tag328.xml"/><Relationship Id="rId4" Type="http://schemas.openxmlformats.org/officeDocument/2006/relationships/tags" Target="../tags/tag322.xml"/><Relationship Id="rId9" Type="http://schemas.openxmlformats.org/officeDocument/2006/relationships/tags" Target="../tags/tag327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336.xml"/><Relationship Id="rId13" Type="http://schemas.openxmlformats.org/officeDocument/2006/relationships/image" Target="../media/image8.png"/><Relationship Id="rId3" Type="http://schemas.openxmlformats.org/officeDocument/2006/relationships/tags" Target="../tags/tag331.xml"/><Relationship Id="rId7" Type="http://schemas.openxmlformats.org/officeDocument/2006/relationships/tags" Target="../tags/tag335.xml"/><Relationship Id="rId12" Type="http://schemas.openxmlformats.org/officeDocument/2006/relationships/slideLayout" Target="../slideLayouts/slideLayout9.xml"/><Relationship Id="rId2" Type="http://schemas.openxmlformats.org/officeDocument/2006/relationships/tags" Target="../tags/tag330.xml"/><Relationship Id="rId1" Type="http://schemas.openxmlformats.org/officeDocument/2006/relationships/tags" Target="../tags/tag329.xml"/><Relationship Id="rId6" Type="http://schemas.openxmlformats.org/officeDocument/2006/relationships/tags" Target="../tags/tag334.xml"/><Relationship Id="rId11" Type="http://schemas.openxmlformats.org/officeDocument/2006/relationships/tags" Target="../tags/tag339.xml"/><Relationship Id="rId5" Type="http://schemas.openxmlformats.org/officeDocument/2006/relationships/tags" Target="../tags/tag333.xml"/><Relationship Id="rId10" Type="http://schemas.openxmlformats.org/officeDocument/2006/relationships/tags" Target="../tags/tag338.xml"/><Relationship Id="rId4" Type="http://schemas.openxmlformats.org/officeDocument/2006/relationships/tags" Target="../tags/tag332.xml"/><Relationship Id="rId9" Type="http://schemas.openxmlformats.org/officeDocument/2006/relationships/tags" Target="../tags/tag337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347.xml"/><Relationship Id="rId13" Type="http://schemas.openxmlformats.org/officeDocument/2006/relationships/image" Target="../media/image8.png"/><Relationship Id="rId3" Type="http://schemas.openxmlformats.org/officeDocument/2006/relationships/tags" Target="../tags/tag342.xml"/><Relationship Id="rId7" Type="http://schemas.openxmlformats.org/officeDocument/2006/relationships/tags" Target="../tags/tag346.xml"/><Relationship Id="rId12" Type="http://schemas.openxmlformats.org/officeDocument/2006/relationships/slideLayout" Target="../slideLayouts/slideLayout9.xml"/><Relationship Id="rId2" Type="http://schemas.openxmlformats.org/officeDocument/2006/relationships/tags" Target="../tags/tag341.xml"/><Relationship Id="rId1" Type="http://schemas.openxmlformats.org/officeDocument/2006/relationships/tags" Target="../tags/tag340.xml"/><Relationship Id="rId6" Type="http://schemas.openxmlformats.org/officeDocument/2006/relationships/tags" Target="../tags/tag345.xml"/><Relationship Id="rId11" Type="http://schemas.openxmlformats.org/officeDocument/2006/relationships/tags" Target="../tags/tag350.xml"/><Relationship Id="rId5" Type="http://schemas.openxmlformats.org/officeDocument/2006/relationships/tags" Target="../tags/tag344.xml"/><Relationship Id="rId10" Type="http://schemas.openxmlformats.org/officeDocument/2006/relationships/tags" Target="../tags/tag349.xml"/><Relationship Id="rId4" Type="http://schemas.openxmlformats.org/officeDocument/2006/relationships/tags" Target="../tags/tag343.xml"/><Relationship Id="rId9" Type="http://schemas.openxmlformats.org/officeDocument/2006/relationships/tags" Target="../tags/tag348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358.xml"/><Relationship Id="rId13" Type="http://schemas.openxmlformats.org/officeDocument/2006/relationships/image" Target="../media/image8.png"/><Relationship Id="rId3" Type="http://schemas.openxmlformats.org/officeDocument/2006/relationships/tags" Target="../tags/tag353.xml"/><Relationship Id="rId7" Type="http://schemas.openxmlformats.org/officeDocument/2006/relationships/tags" Target="../tags/tag357.xml"/><Relationship Id="rId12" Type="http://schemas.openxmlformats.org/officeDocument/2006/relationships/slideLayout" Target="../slideLayouts/slideLayout9.xml"/><Relationship Id="rId2" Type="http://schemas.openxmlformats.org/officeDocument/2006/relationships/tags" Target="../tags/tag352.xml"/><Relationship Id="rId1" Type="http://schemas.openxmlformats.org/officeDocument/2006/relationships/tags" Target="../tags/tag351.xml"/><Relationship Id="rId6" Type="http://schemas.openxmlformats.org/officeDocument/2006/relationships/tags" Target="../tags/tag356.xml"/><Relationship Id="rId11" Type="http://schemas.openxmlformats.org/officeDocument/2006/relationships/tags" Target="../tags/tag361.xml"/><Relationship Id="rId5" Type="http://schemas.openxmlformats.org/officeDocument/2006/relationships/tags" Target="../tags/tag355.xml"/><Relationship Id="rId10" Type="http://schemas.openxmlformats.org/officeDocument/2006/relationships/tags" Target="../tags/tag360.xml"/><Relationship Id="rId4" Type="http://schemas.openxmlformats.org/officeDocument/2006/relationships/tags" Target="../tags/tag354.xml"/><Relationship Id="rId9" Type="http://schemas.openxmlformats.org/officeDocument/2006/relationships/tags" Target="../tags/tag359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369.xml"/><Relationship Id="rId13" Type="http://schemas.openxmlformats.org/officeDocument/2006/relationships/tags" Target="../tags/tag374.xml"/><Relationship Id="rId3" Type="http://schemas.openxmlformats.org/officeDocument/2006/relationships/tags" Target="../tags/tag364.xml"/><Relationship Id="rId7" Type="http://schemas.openxmlformats.org/officeDocument/2006/relationships/tags" Target="../tags/tag368.xml"/><Relationship Id="rId12" Type="http://schemas.openxmlformats.org/officeDocument/2006/relationships/tags" Target="../tags/tag373.xml"/><Relationship Id="rId17" Type="http://schemas.openxmlformats.org/officeDocument/2006/relationships/slideLayout" Target="../slideLayouts/slideLayout9.xml"/><Relationship Id="rId2" Type="http://schemas.openxmlformats.org/officeDocument/2006/relationships/tags" Target="../tags/tag363.xml"/><Relationship Id="rId16" Type="http://schemas.openxmlformats.org/officeDocument/2006/relationships/tags" Target="../tags/tag377.xml"/><Relationship Id="rId1" Type="http://schemas.openxmlformats.org/officeDocument/2006/relationships/tags" Target="../tags/tag362.xml"/><Relationship Id="rId6" Type="http://schemas.openxmlformats.org/officeDocument/2006/relationships/tags" Target="../tags/tag367.xml"/><Relationship Id="rId11" Type="http://schemas.openxmlformats.org/officeDocument/2006/relationships/tags" Target="../tags/tag372.xml"/><Relationship Id="rId5" Type="http://schemas.openxmlformats.org/officeDocument/2006/relationships/tags" Target="../tags/tag366.xml"/><Relationship Id="rId15" Type="http://schemas.openxmlformats.org/officeDocument/2006/relationships/tags" Target="../tags/tag376.xml"/><Relationship Id="rId10" Type="http://schemas.openxmlformats.org/officeDocument/2006/relationships/tags" Target="../tags/tag371.xml"/><Relationship Id="rId4" Type="http://schemas.openxmlformats.org/officeDocument/2006/relationships/tags" Target="../tags/tag365.xml"/><Relationship Id="rId9" Type="http://schemas.openxmlformats.org/officeDocument/2006/relationships/tags" Target="../tags/tag370.xml"/><Relationship Id="rId14" Type="http://schemas.openxmlformats.org/officeDocument/2006/relationships/tags" Target="../tags/tag375.xml"/></Relationships>
</file>

<file path=ppt/slides/_rels/slide35.xml.rels><?xml version="1.0" encoding="UTF-8" standalone="yes"?>
<Relationships xmlns="http://schemas.openxmlformats.org/package/2006/relationships"><Relationship Id="rId8" Type="http://schemas.openxmlformats.org/officeDocument/2006/relationships/tags" Target="../tags/tag385.xml"/><Relationship Id="rId3" Type="http://schemas.openxmlformats.org/officeDocument/2006/relationships/tags" Target="../tags/tag380.xml"/><Relationship Id="rId7" Type="http://schemas.openxmlformats.org/officeDocument/2006/relationships/tags" Target="../tags/tag384.xml"/><Relationship Id="rId12" Type="http://schemas.openxmlformats.org/officeDocument/2006/relationships/image" Target="../media/image8.png"/><Relationship Id="rId2" Type="http://schemas.openxmlformats.org/officeDocument/2006/relationships/tags" Target="../tags/tag379.xml"/><Relationship Id="rId1" Type="http://schemas.openxmlformats.org/officeDocument/2006/relationships/tags" Target="../tags/tag378.xml"/><Relationship Id="rId6" Type="http://schemas.openxmlformats.org/officeDocument/2006/relationships/tags" Target="../tags/tag383.xml"/><Relationship Id="rId11" Type="http://schemas.openxmlformats.org/officeDocument/2006/relationships/slideLayout" Target="../slideLayouts/slideLayout9.xml"/><Relationship Id="rId5" Type="http://schemas.openxmlformats.org/officeDocument/2006/relationships/tags" Target="../tags/tag382.xml"/><Relationship Id="rId10" Type="http://schemas.openxmlformats.org/officeDocument/2006/relationships/tags" Target="../tags/tag387.xml"/><Relationship Id="rId4" Type="http://schemas.openxmlformats.org/officeDocument/2006/relationships/tags" Target="../tags/tag381.xml"/><Relationship Id="rId9" Type="http://schemas.openxmlformats.org/officeDocument/2006/relationships/tags" Target="../tags/tag386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tags" Target="../tags/tag395.xml"/><Relationship Id="rId13" Type="http://schemas.openxmlformats.org/officeDocument/2006/relationships/image" Target="../media/image8.png"/><Relationship Id="rId3" Type="http://schemas.openxmlformats.org/officeDocument/2006/relationships/tags" Target="../tags/tag390.xml"/><Relationship Id="rId7" Type="http://schemas.openxmlformats.org/officeDocument/2006/relationships/tags" Target="../tags/tag394.xml"/><Relationship Id="rId12" Type="http://schemas.openxmlformats.org/officeDocument/2006/relationships/slideLayout" Target="../slideLayouts/slideLayout9.xml"/><Relationship Id="rId2" Type="http://schemas.openxmlformats.org/officeDocument/2006/relationships/tags" Target="../tags/tag389.xml"/><Relationship Id="rId1" Type="http://schemas.openxmlformats.org/officeDocument/2006/relationships/tags" Target="../tags/tag388.xml"/><Relationship Id="rId6" Type="http://schemas.openxmlformats.org/officeDocument/2006/relationships/tags" Target="../tags/tag393.xml"/><Relationship Id="rId11" Type="http://schemas.openxmlformats.org/officeDocument/2006/relationships/tags" Target="../tags/tag398.xml"/><Relationship Id="rId5" Type="http://schemas.openxmlformats.org/officeDocument/2006/relationships/tags" Target="../tags/tag392.xml"/><Relationship Id="rId10" Type="http://schemas.openxmlformats.org/officeDocument/2006/relationships/tags" Target="../tags/tag397.xml"/><Relationship Id="rId4" Type="http://schemas.openxmlformats.org/officeDocument/2006/relationships/tags" Target="../tags/tag391.xml"/><Relationship Id="rId9" Type="http://schemas.openxmlformats.org/officeDocument/2006/relationships/tags" Target="../tags/tag39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tags" Target="../tags/tag406.xml"/><Relationship Id="rId13" Type="http://schemas.openxmlformats.org/officeDocument/2006/relationships/image" Target="../media/image10.png"/><Relationship Id="rId3" Type="http://schemas.openxmlformats.org/officeDocument/2006/relationships/tags" Target="../tags/tag401.xml"/><Relationship Id="rId7" Type="http://schemas.openxmlformats.org/officeDocument/2006/relationships/tags" Target="../tags/tag405.xml"/><Relationship Id="rId12" Type="http://schemas.openxmlformats.org/officeDocument/2006/relationships/image" Target="../media/image8.png"/><Relationship Id="rId2" Type="http://schemas.openxmlformats.org/officeDocument/2006/relationships/tags" Target="../tags/tag400.xml"/><Relationship Id="rId1" Type="http://schemas.openxmlformats.org/officeDocument/2006/relationships/tags" Target="../tags/tag399.xml"/><Relationship Id="rId6" Type="http://schemas.openxmlformats.org/officeDocument/2006/relationships/tags" Target="../tags/tag404.xml"/><Relationship Id="rId11" Type="http://schemas.openxmlformats.org/officeDocument/2006/relationships/slideLayout" Target="../slideLayouts/slideLayout9.xml"/><Relationship Id="rId5" Type="http://schemas.openxmlformats.org/officeDocument/2006/relationships/tags" Target="../tags/tag403.xml"/><Relationship Id="rId10" Type="http://schemas.openxmlformats.org/officeDocument/2006/relationships/tags" Target="../tags/tag408.xml"/><Relationship Id="rId4" Type="http://schemas.openxmlformats.org/officeDocument/2006/relationships/tags" Target="../tags/tag402.xml"/><Relationship Id="rId9" Type="http://schemas.openxmlformats.org/officeDocument/2006/relationships/tags" Target="../tags/tag407.xml"/><Relationship Id="rId14" Type="http://schemas.openxmlformats.org/officeDocument/2006/relationships/image" Target="../media/image11.svg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tags" Target="../tags/tag416.xml"/><Relationship Id="rId3" Type="http://schemas.openxmlformats.org/officeDocument/2006/relationships/tags" Target="../tags/tag411.xml"/><Relationship Id="rId7" Type="http://schemas.openxmlformats.org/officeDocument/2006/relationships/tags" Target="../tags/tag415.xml"/><Relationship Id="rId2" Type="http://schemas.openxmlformats.org/officeDocument/2006/relationships/tags" Target="../tags/tag410.xml"/><Relationship Id="rId1" Type="http://schemas.openxmlformats.org/officeDocument/2006/relationships/tags" Target="../tags/tag409.xml"/><Relationship Id="rId6" Type="http://schemas.openxmlformats.org/officeDocument/2006/relationships/tags" Target="../tags/tag414.xml"/><Relationship Id="rId11" Type="http://schemas.openxmlformats.org/officeDocument/2006/relationships/image" Target="../media/image8.png"/><Relationship Id="rId5" Type="http://schemas.openxmlformats.org/officeDocument/2006/relationships/tags" Target="../tags/tag413.xml"/><Relationship Id="rId10" Type="http://schemas.openxmlformats.org/officeDocument/2006/relationships/slideLayout" Target="../slideLayouts/slideLayout9.xml"/><Relationship Id="rId4" Type="http://schemas.openxmlformats.org/officeDocument/2006/relationships/tags" Target="../tags/tag412.xml"/><Relationship Id="rId9" Type="http://schemas.openxmlformats.org/officeDocument/2006/relationships/tags" Target="../tags/tag417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tags" Target="../tags/tag425.xml"/><Relationship Id="rId13" Type="http://schemas.openxmlformats.org/officeDocument/2006/relationships/image" Target="../media/image8.png"/><Relationship Id="rId3" Type="http://schemas.openxmlformats.org/officeDocument/2006/relationships/tags" Target="../tags/tag420.xml"/><Relationship Id="rId7" Type="http://schemas.openxmlformats.org/officeDocument/2006/relationships/tags" Target="../tags/tag424.xml"/><Relationship Id="rId12" Type="http://schemas.openxmlformats.org/officeDocument/2006/relationships/notesSlide" Target="../notesSlides/notesSlide1.xml"/><Relationship Id="rId2" Type="http://schemas.openxmlformats.org/officeDocument/2006/relationships/tags" Target="../tags/tag419.xml"/><Relationship Id="rId1" Type="http://schemas.openxmlformats.org/officeDocument/2006/relationships/tags" Target="../tags/tag418.xml"/><Relationship Id="rId6" Type="http://schemas.openxmlformats.org/officeDocument/2006/relationships/tags" Target="../tags/tag423.xml"/><Relationship Id="rId11" Type="http://schemas.openxmlformats.org/officeDocument/2006/relationships/slideLayout" Target="../slideLayouts/slideLayout9.xml"/><Relationship Id="rId5" Type="http://schemas.openxmlformats.org/officeDocument/2006/relationships/tags" Target="../tags/tag422.xml"/><Relationship Id="rId10" Type="http://schemas.openxmlformats.org/officeDocument/2006/relationships/tags" Target="../tags/tag427.xml"/><Relationship Id="rId4" Type="http://schemas.openxmlformats.org/officeDocument/2006/relationships/tags" Target="../tags/tag421.xml"/><Relationship Id="rId9" Type="http://schemas.openxmlformats.org/officeDocument/2006/relationships/tags" Target="../tags/tag426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tags" Target="../tags/tag435.xml"/><Relationship Id="rId3" Type="http://schemas.openxmlformats.org/officeDocument/2006/relationships/tags" Target="../tags/tag430.xml"/><Relationship Id="rId7" Type="http://schemas.openxmlformats.org/officeDocument/2006/relationships/tags" Target="../tags/tag434.xml"/><Relationship Id="rId12" Type="http://schemas.openxmlformats.org/officeDocument/2006/relationships/image" Target="../media/image8.png"/><Relationship Id="rId2" Type="http://schemas.openxmlformats.org/officeDocument/2006/relationships/tags" Target="../tags/tag429.xml"/><Relationship Id="rId1" Type="http://schemas.openxmlformats.org/officeDocument/2006/relationships/tags" Target="../tags/tag428.xml"/><Relationship Id="rId6" Type="http://schemas.openxmlformats.org/officeDocument/2006/relationships/tags" Target="../tags/tag433.xml"/><Relationship Id="rId11" Type="http://schemas.openxmlformats.org/officeDocument/2006/relationships/slideLayout" Target="../slideLayouts/slideLayout9.xml"/><Relationship Id="rId5" Type="http://schemas.openxmlformats.org/officeDocument/2006/relationships/tags" Target="../tags/tag432.xml"/><Relationship Id="rId10" Type="http://schemas.openxmlformats.org/officeDocument/2006/relationships/tags" Target="../tags/tag437.xml"/><Relationship Id="rId4" Type="http://schemas.openxmlformats.org/officeDocument/2006/relationships/tags" Target="../tags/tag431.xml"/><Relationship Id="rId9" Type="http://schemas.openxmlformats.org/officeDocument/2006/relationships/tags" Target="../tags/tag436.xml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tags" Target="../tags/tag445.xml"/><Relationship Id="rId13" Type="http://schemas.openxmlformats.org/officeDocument/2006/relationships/image" Target="../media/image13.svg"/><Relationship Id="rId3" Type="http://schemas.openxmlformats.org/officeDocument/2006/relationships/tags" Target="../tags/tag440.xml"/><Relationship Id="rId7" Type="http://schemas.openxmlformats.org/officeDocument/2006/relationships/tags" Target="../tags/tag444.xml"/><Relationship Id="rId12" Type="http://schemas.openxmlformats.org/officeDocument/2006/relationships/image" Target="../media/image12.png"/><Relationship Id="rId2" Type="http://schemas.openxmlformats.org/officeDocument/2006/relationships/tags" Target="../tags/tag439.xml"/><Relationship Id="rId1" Type="http://schemas.openxmlformats.org/officeDocument/2006/relationships/tags" Target="../tags/tag438.xml"/><Relationship Id="rId6" Type="http://schemas.openxmlformats.org/officeDocument/2006/relationships/tags" Target="../tags/tag443.xml"/><Relationship Id="rId11" Type="http://schemas.openxmlformats.org/officeDocument/2006/relationships/image" Target="../media/image8.png"/><Relationship Id="rId5" Type="http://schemas.openxmlformats.org/officeDocument/2006/relationships/tags" Target="../tags/tag442.xml"/><Relationship Id="rId10" Type="http://schemas.openxmlformats.org/officeDocument/2006/relationships/slideLayout" Target="../slideLayouts/slideLayout9.xml"/><Relationship Id="rId4" Type="http://schemas.openxmlformats.org/officeDocument/2006/relationships/tags" Target="../tags/tag441.xml"/><Relationship Id="rId9" Type="http://schemas.openxmlformats.org/officeDocument/2006/relationships/tags" Target="../tags/tag446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tags" Target="../tags/tag454.xml"/><Relationship Id="rId3" Type="http://schemas.openxmlformats.org/officeDocument/2006/relationships/tags" Target="../tags/tag449.xml"/><Relationship Id="rId7" Type="http://schemas.openxmlformats.org/officeDocument/2006/relationships/tags" Target="../tags/tag453.xml"/><Relationship Id="rId2" Type="http://schemas.openxmlformats.org/officeDocument/2006/relationships/tags" Target="../tags/tag448.xml"/><Relationship Id="rId1" Type="http://schemas.openxmlformats.org/officeDocument/2006/relationships/tags" Target="../tags/tag447.xml"/><Relationship Id="rId6" Type="http://schemas.openxmlformats.org/officeDocument/2006/relationships/tags" Target="../tags/tag452.xml"/><Relationship Id="rId11" Type="http://schemas.openxmlformats.org/officeDocument/2006/relationships/image" Target="../media/image8.png"/><Relationship Id="rId5" Type="http://schemas.openxmlformats.org/officeDocument/2006/relationships/tags" Target="../tags/tag451.xml"/><Relationship Id="rId10" Type="http://schemas.openxmlformats.org/officeDocument/2006/relationships/slideLayout" Target="../slideLayouts/slideLayout9.xml"/><Relationship Id="rId4" Type="http://schemas.openxmlformats.org/officeDocument/2006/relationships/tags" Target="../tags/tag450.xml"/><Relationship Id="rId9" Type="http://schemas.openxmlformats.org/officeDocument/2006/relationships/tags" Target="../tags/tag455.xml"/></Relationships>
</file>

<file path=ppt/slides/_rels/slide43.xml.rels><?xml version="1.0" encoding="UTF-8" standalone="yes"?>
<Relationships xmlns="http://schemas.openxmlformats.org/package/2006/relationships"><Relationship Id="rId8" Type="http://schemas.openxmlformats.org/officeDocument/2006/relationships/tags" Target="../tags/tag463.xml"/><Relationship Id="rId13" Type="http://schemas.openxmlformats.org/officeDocument/2006/relationships/tags" Target="../tags/tag468.xml"/><Relationship Id="rId3" Type="http://schemas.openxmlformats.org/officeDocument/2006/relationships/tags" Target="../tags/tag458.xml"/><Relationship Id="rId7" Type="http://schemas.openxmlformats.org/officeDocument/2006/relationships/tags" Target="../tags/tag462.xml"/><Relationship Id="rId12" Type="http://schemas.openxmlformats.org/officeDocument/2006/relationships/tags" Target="../tags/tag467.xml"/><Relationship Id="rId17" Type="http://schemas.openxmlformats.org/officeDocument/2006/relationships/slideLayout" Target="../slideLayouts/slideLayout9.xml"/><Relationship Id="rId2" Type="http://schemas.openxmlformats.org/officeDocument/2006/relationships/tags" Target="../tags/tag457.xml"/><Relationship Id="rId16" Type="http://schemas.openxmlformats.org/officeDocument/2006/relationships/tags" Target="../tags/tag471.xml"/><Relationship Id="rId1" Type="http://schemas.openxmlformats.org/officeDocument/2006/relationships/tags" Target="../tags/tag456.xml"/><Relationship Id="rId6" Type="http://schemas.openxmlformats.org/officeDocument/2006/relationships/tags" Target="../tags/tag461.xml"/><Relationship Id="rId11" Type="http://schemas.openxmlformats.org/officeDocument/2006/relationships/tags" Target="../tags/tag466.xml"/><Relationship Id="rId5" Type="http://schemas.openxmlformats.org/officeDocument/2006/relationships/tags" Target="../tags/tag460.xml"/><Relationship Id="rId15" Type="http://schemas.openxmlformats.org/officeDocument/2006/relationships/tags" Target="../tags/tag470.xml"/><Relationship Id="rId10" Type="http://schemas.openxmlformats.org/officeDocument/2006/relationships/tags" Target="../tags/tag465.xml"/><Relationship Id="rId4" Type="http://schemas.openxmlformats.org/officeDocument/2006/relationships/tags" Target="../tags/tag459.xml"/><Relationship Id="rId9" Type="http://schemas.openxmlformats.org/officeDocument/2006/relationships/tags" Target="../tags/tag464.xml"/><Relationship Id="rId14" Type="http://schemas.openxmlformats.org/officeDocument/2006/relationships/tags" Target="../tags/tag469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tags" Target="../tags/tag474.xml"/><Relationship Id="rId2" Type="http://schemas.openxmlformats.org/officeDocument/2006/relationships/tags" Target="../tags/tag473.xml"/><Relationship Id="rId1" Type="http://schemas.openxmlformats.org/officeDocument/2006/relationships/tags" Target="../tags/tag472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476.xml"/><Relationship Id="rId4" Type="http://schemas.openxmlformats.org/officeDocument/2006/relationships/tags" Target="../tags/tag47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tags" Target="../tags/tag479.xml"/><Relationship Id="rId2" Type="http://schemas.openxmlformats.org/officeDocument/2006/relationships/tags" Target="../tags/tag478.xml"/><Relationship Id="rId1" Type="http://schemas.openxmlformats.org/officeDocument/2006/relationships/tags" Target="../tags/tag477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481.xml"/><Relationship Id="rId4" Type="http://schemas.openxmlformats.org/officeDocument/2006/relationships/tags" Target="../tags/tag48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484.xml"/><Relationship Id="rId2" Type="http://schemas.openxmlformats.org/officeDocument/2006/relationships/tags" Target="../tags/tag483.xml"/><Relationship Id="rId1" Type="http://schemas.openxmlformats.org/officeDocument/2006/relationships/tags" Target="../tags/tag482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486.xml"/><Relationship Id="rId4" Type="http://schemas.openxmlformats.org/officeDocument/2006/relationships/tags" Target="../tags/tag48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tags" Target="../tags/tag489.xml"/><Relationship Id="rId2" Type="http://schemas.openxmlformats.org/officeDocument/2006/relationships/tags" Target="../tags/tag488.xml"/><Relationship Id="rId1" Type="http://schemas.openxmlformats.org/officeDocument/2006/relationships/tags" Target="../tags/tag487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491.xml"/><Relationship Id="rId4" Type="http://schemas.openxmlformats.org/officeDocument/2006/relationships/tags" Target="../tags/tag490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tags" Target="../tags/tag494.xml"/><Relationship Id="rId7" Type="http://schemas.openxmlformats.org/officeDocument/2006/relationships/image" Target="../media/image14.png"/><Relationship Id="rId2" Type="http://schemas.openxmlformats.org/officeDocument/2006/relationships/tags" Target="../tags/tag493.xml"/><Relationship Id="rId1" Type="http://schemas.openxmlformats.org/officeDocument/2006/relationships/tags" Target="../tags/tag492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496.xml"/><Relationship Id="rId4" Type="http://schemas.openxmlformats.org/officeDocument/2006/relationships/tags" Target="../tags/tag495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tags" Target="../tags/tag499.xml"/><Relationship Id="rId2" Type="http://schemas.openxmlformats.org/officeDocument/2006/relationships/tags" Target="../tags/tag498.xml"/><Relationship Id="rId1" Type="http://schemas.openxmlformats.org/officeDocument/2006/relationships/tags" Target="../tags/tag497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501.xml"/><Relationship Id="rId4" Type="http://schemas.openxmlformats.org/officeDocument/2006/relationships/tags" Target="../tags/tag500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tags" Target="../tags/tag504.xml"/><Relationship Id="rId2" Type="http://schemas.openxmlformats.org/officeDocument/2006/relationships/tags" Target="../tags/tag503.xml"/><Relationship Id="rId1" Type="http://schemas.openxmlformats.org/officeDocument/2006/relationships/tags" Target="../tags/tag502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506.xml"/><Relationship Id="rId4" Type="http://schemas.openxmlformats.org/officeDocument/2006/relationships/tags" Target="../tags/tag505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tags" Target="../tags/tag509.xml"/><Relationship Id="rId2" Type="http://schemas.openxmlformats.org/officeDocument/2006/relationships/tags" Target="../tags/tag508.xml"/><Relationship Id="rId1" Type="http://schemas.openxmlformats.org/officeDocument/2006/relationships/tags" Target="../tags/tag507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511.xml"/><Relationship Id="rId4" Type="http://schemas.openxmlformats.org/officeDocument/2006/relationships/tags" Target="../tags/tag51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tags" Target="../tags/tag514.xml"/><Relationship Id="rId2" Type="http://schemas.openxmlformats.org/officeDocument/2006/relationships/tags" Target="../tags/tag513.xml"/><Relationship Id="rId1" Type="http://schemas.openxmlformats.org/officeDocument/2006/relationships/tags" Target="../tags/tag512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516.xml"/><Relationship Id="rId4" Type="http://schemas.openxmlformats.org/officeDocument/2006/relationships/tags" Target="../tags/tag515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tags" Target="../tags/tag519.xml"/><Relationship Id="rId7" Type="http://schemas.openxmlformats.org/officeDocument/2006/relationships/notesSlide" Target="../notesSlides/notesSlide2.xml"/><Relationship Id="rId2" Type="http://schemas.openxmlformats.org/officeDocument/2006/relationships/tags" Target="../tags/tag518.xml"/><Relationship Id="rId1" Type="http://schemas.openxmlformats.org/officeDocument/2006/relationships/tags" Target="../tags/tag517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521.xml"/><Relationship Id="rId4" Type="http://schemas.openxmlformats.org/officeDocument/2006/relationships/tags" Target="../tags/tag520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tags" Target="../tags/tag529.xml"/><Relationship Id="rId13" Type="http://schemas.openxmlformats.org/officeDocument/2006/relationships/tags" Target="../tags/tag534.xml"/><Relationship Id="rId3" Type="http://schemas.openxmlformats.org/officeDocument/2006/relationships/tags" Target="../tags/tag524.xml"/><Relationship Id="rId7" Type="http://schemas.openxmlformats.org/officeDocument/2006/relationships/tags" Target="../tags/tag528.xml"/><Relationship Id="rId12" Type="http://schemas.openxmlformats.org/officeDocument/2006/relationships/tags" Target="../tags/tag533.xml"/><Relationship Id="rId17" Type="http://schemas.openxmlformats.org/officeDocument/2006/relationships/slideLayout" Target="../slideLayouts/slideLayout9.xml"/><Relationship Id="rId2" Type="http://schemas.openxmlformats.org/officeDocument/2006/relationships/tags" Target="../tags/tag523.xml"/><Relationship Id="rId16" Type="http://schemas.openxmlformats.org/officeDocument/2006/relationships/tags" Target="../tags/tag537.xml"/><Relationship Id="rId1" Type="http://schemas.openxmlformats.org/officeDocument/2006/relationships/tags" Target="../tags/tag522.xml"/><Relationship Id="rId6" Type="http://schemas.openxmlformats.org/officeDocument/2006/relationships/tags" Target="../tags/tag527.xml"/><Relationship Id="rId11" Type="http://schemas.openxmlformats.org/officeDocument/2006/relationships/tags" Target="../tags/tag532.xml"/><Relationship Id="rId5" Type="http://schemas.openxmlformats.org/officeDocument/2006/relationships/tags" Target="../tags/tag526.xml"/><Relationship Id="rId15" Type="http://schemas.openxmlformats.org/officeDocument/2006/relationships/tags" Target="../tags/tag536.xml"/><Relationship Id="rId10" Type="http://schemas.openxmlformats.org/officeDocument/2006/relationships/tags" Target="../tags/tag531.xml"/><Relationship Id="rId4" Type="http://schemas.openxmlformats.org/officeDocument/2006/relationships/tags" Target="../tags/tag525.xml"/><Relationship Id="rId9" Type="http://schemas.openxmlformats.org/officeDocument/2006/relationships/tags" Target="../tags/tag530.xml"/><Relationship Id="rId14" Type="http://schemas.openxmlformats.org/officeDocument/2006/relationships/tags" Target="../tags/tag535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tags" Target="../tags/tag540.xml"/><Relationship Id="rId2" Type="http://schemas.openxmlformats.org/officeDocument/2006/relationships/tags" Target="../tags/tag539.xml"/><Relationship Id="rId1" Type="http://schemas.openxmlformats.org/officeDocument/2006/relationships/tags" Target="../tags/tag538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542.xml"/><Relationship Id="rId4" Type="http://schemas.openxmlformats.org/officeDocument/2006/relationships/tags" Target="../tags/tag541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tags" Target="../tags/tag545.xml"/><Relationship Id="rId2" Type="http://schemas.openxmlformats.org/officeDocument/2006/relationships/tags" Target="../tags/tag544.xml"/><Relationship Id="rId1" Type="http://schemas.openxmlformats.org/officeDocument/2006/relationships/tags" Target="../tags/tag543.xml"/><Relationship Id="rId6" Type="http://schemas.openxmlformats.org/officeDocument/2006/relationships/slideLayout" Target="../slideLayouts/slideLayout9.xml"/><Relationship Id="rId5" Type="http://schemas.openxmlformats.org/officeDocument/2006/relationships/tags" Target="../tags/tag547.xml"/><Relationship Id="rId4" Type="http://schemas.openxmlformats.org/officeDocument/2006/relationships/tags" Target="../tags/tag546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tags" Target="../tags/tag550.xml"/><Relationship Id="rId2" Type="http://schemas.openxmlformats.org/officeDocument/2006/relationships/tags" Target="../tags/tag549.xml"/><Relationship Id="rId1" Type="http://schemas.openxmlformats.org/officeDocument/2006/relationships/tags" Target="../tags/tag548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551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tags" Target="../tags/tag554.xml"/><Relationship Id="rId2" Type="http://schemas.openxmlformats.org/officeDocument/2006/relationships/tags" Target="../tags/tag553.xml"/><Relationship Id="rId1" Type="http://schemas.openxmlformats.org/officeDocument/2006/relationships/tags" Target="../tags/tag552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555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tags" Target="../tags/tag558.xml"/><Relationship Id="rId2" Type="http://schemas.openxmlformats.org/officeDocument/2006/relationships/tags" Target="../tags/tag557.xml"/><Relationship Id="rId1" Type="http://schemas.openxmlformats.org/officeDocument/2006/relationships/tags" Target="../tags/tag556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559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tags" Target="../tags/tag562.xml"/><Relationship Id="rId2" Type="http://schemas.openxmlformats.org/officeDocument/2006/relationships/tags" Target="../tags/tag561.xml"/><Relationship Id="rId1" Type="http://schemas.openxmlformats.org/officeDocument/2006/relationships/tags" Target="../tags/tag560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563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tags" Target="../tags/tag566.xml"/><Relationship Id="rId2" Type="http://schemas.openxmlformats.org/officeDocument/2006/relationships/tags" Target="../tags/tag565.xml"/><Relationship Id="rId1" Type="http://schemas.openxmlformats.org/officeDocument/2006/relationships/tags" Target="../tags/tag564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567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tags" Target="../tags/tag570.xml"/><Relationship Id="rId2" Type="http://schemas.openxmlformats.org/officeDocument/2006/relationships/tags" Target="../tags/tag569.xml"/><Relationship Id="rId1" Type="http://schemas.openxmlformats.org/officeDocument/2006/relationships/tags" Target="../tags/tag568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571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tags" Target="../tags/tag574.xml"/><Relationship Id="rId2" Type="http://schemas.openxmlformats.org/officeDocument/2006/relationships/tags" Target="../tags/tag573.xml"/><Relationship Id="rId1" Type="http://schemas.openxmlformats.org/officeDocument/2006/relationships/tags" Target="../tags/tag572.xml"/><Relationship Id="rId5" Type="http://schemas.openxmlformats.org/officeDocument/2006/relationships/slideLayout" Target="../slideLayouts/slideLayout9.xml"/><Relationship Id="rId4" Type="http://schemas.openxmlformats.org/officeDocument/2006/relationships/tags" Target="../tags/tag575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任意多边形 13"/>
          <p:cNvSpPr/>
          <p:nvPr>
            <p:custDataLst>
              <p:tags r:id="rId1"/>
            </p:custDataLst>
          </p:nvPr>
        </p:nvSpPr>
        <p:spPr>
          <a:xfrm>
            <a:off x="635" y="1988820"/>
            <a:ext cx="5493385" cy="308673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831" h="6252">
                <a:moveTo>
                  <a:pt x="0" y="0"/>
                </a:moveTo>
                <a:lnTo>
                  <a:pt x="8831" y="0"/>
                </a:lnTo>
                <a:lnTo>
                  <a:pt x="7445" y="6252"/>
                </a:lnTo>
                <a:lnTo>
                  <a:pt x="0" y="6252"/>
                </a:lnTo>
                <a:lnTo>
                  <a:pt x="0" y="0"/>
                </a:lnTo>
                <a:close/>
              </a:path>
            </a:pathLst>
          </a:custGeom>
          <a:solidFill>
            <a:srgbClr val="C8C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Regular" panose="020B0500000000000000" pitchFamily="34" charset="-122"/>
            </a:endParaRPr>
          </a:p>
        </p:txBody>
      </p:sp>
      <p:sp>
        <p:nvSpPr>
          <p:cNvPr id="31" name="任意多边形 30"/>
          <p:cNvSpPr/>
          <p:nvPr>
            <p:custDataLst>
              <p:tags r:id="rId2"/>
            </p:custDataLst>
          </p:nvPr>
        </p:nvSpPr>
        <p:spPr>
          <a:xfrm flipH="1" flipV="1">
            <a:off x="4584065" y="2515870"/>
            <a:ext cx="3785870" cy="212725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831" h="6252">
                <a:moveTo>
                  <a:pt x="0" y="0"/>
                </a:moveTo>
                <a:lnTo>
                  <a:pt x="8831" y="0"/>
                </a:lnTo>
                <a:lnTo>
                  <a:pt x="7445" y="6252"/>
                </a:lnTo>
                <a:lnTo>
                  <a:pt x="0" y="6252"/>
                </a:lnTo>
                <a:lnTo>
                  <a:pt x="0" y="0"/>
                </a:lnTo>
                <a:close/>
              </a:path>
            </a:pathLst>
          </a:custGeom>
          <a:solidFill>
            <a:srgbClr val="EEA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Regular" panose="020B0500000000000000" pitchFamily="3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3"/>
            </p:custDataLst>
          </p:nvPr>
        </p:nvSpPr>
        <p:spPr>
          <a:xfrm flipH="1" flipV="1">
            <a:off x="4481195" y="1270000"/>
            <a:ext cx="7710805" cy="433197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8831" h="6252">
                <a:moveTo>
                  <a:pt x="0" y="0"/>
                </a:moveTo>
                <a:lnTo>
                  <a:pt x="8831" y="0"/>
                </a:lnTo>
                <a:lnTo>
                  <a:pt x="7445" y="6252"/>
                </a:lnTo>
                <a:lnTo>
                  <a:pt x="0" y="6252"/>
                </a:lnTo>
                <a:lnTo>
                  <a:pt x="0" y="0"/>
                </a:lnTo>
                <a:close/>
              </a:path>
            </a:pathLst>
          </a:custGeom>
          <a:solidFill>
            <a:srgbClr val="183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Regular" panose="020B0500000000000000" pitchFamily="3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4"/>
            </p:custDataLst>
          </p:nvPr>
        </p:nvSpPr>
        <p:spPr>
          <a:xfrm>
            <a:off x="1271905" y="2532698"/>
            <a:ext cx="2087880" cy="16304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8800" dirty="0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  <a:cs typeface="思源黑体 CN Bold" panose="020B0800000000000000" charset="-122"/>
                <a:sym typeface="+mn-lt"/>
              </a:rPr>
              <a:t>01</a:t>
            </a:r>
          </a:p>
        </p:txBody>
      </p:sp>
      <p:sp>
        <p:nvSpPr>
          <p:cNvPr id="16" name="文本框 15"/>
          <p:cNvSpPr txBox="1"/>
          <p:nvPr>
            <p:custDataLst>
              <p:tags r:id="rId5"/>
            </p:custDataLst>
          </p:nvPr>
        </p:nvSpPr>
        <p:spPr>
          <a:xfrm>
            <a:off x="6311900" y="2493010"/>
            <a:ext cx="4861560" cy="791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Python</a:t>
            </a:r>
            <a:r>
              <a:rPr lang="zh-CN" altLang="en-US" sz="4000" dirty="0">
                <a:solidFill>
                  <a:schemeClr val="bg1"/>
                </a:solidFill>
                <a:latin typeface="思源黑体 CN Bold" panose="020B0800000000000000" charset="-122"/>
                <a:ea typeface="思源黑体 CN Bold" panose="020B0800000000000000" charset="-122"/>
                <a:cs typeface="思源黑体 CN Bold" panose="020B0800000000000000" charset="-122"/>
                <a:sym typeface="+mn-ea"/>
              </a:rPr>
              <a:t>程序入门</a:t>
            </a:r>
          </a:p>
        </p:txBody>
      </p:sp>
      <p:sp>
        <p:nvSpPr>
          <p:cNvPr id="32" name="文本框 31"/>
          <p:cNvSpPr txBox="1"/>
          <p:nvPr>
            <p:custDataLst>
              <p:tags r:id="rId6"/>
            </p:custDataLst>
          </p:nvPr>
        </p:nvSpPr>
        <p:spPr>
          <a:xfrm>
            <a:off x="6311900" y="3573145"/>
            <a:ext cx="4861560" cy="386080"/>
          </a:xfrm>
          <a:prstGeom prst="rect">
            <a:avLst/>
          </a:prstGeom>
          <a:noFill/>
          <a:effectLst/>
        </p:spPr>
        <p:txBody>
          <a:bodyPr wrap="square" lIns="109728" tIns="54864" rIns="109728" bIns="54864" rtlCol="0">
            <a:spAutoFit/>
          </a:bodyPr>
          <a:lstStyle>
            <a:defPPr>
              <a:defRPr lang="zh-CN"/>
            </a:defPPr>
            <a:lvl1pPr marR="0" lvl="0" indent="0" algn="ctr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sz="1200" b="0" i="0" u="none" strike="noStrike" cap="none" spc="0" normalizeH="0" baseline="0">
                <a:ln>
                  <a:noFill/>
                </a:ln>
                <a:solidFill>
                  <a:srgbClr val="FAEFDA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+mn-ea"/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algn="l"/>
            <a:r>
              <a:rPr lang="en-US" dirty="0">
                <a:solidFill>
                  <a:schemeClr val="bg1"/>
                </a:solidFill>
                <a:sym typeface="+mn-ea"/>
              </a:rPr>
              <a:t>Python</a:t>
            </a:r>
            <a:r>
              <a:rPr lang="zh-CN" altLang="en-US" dirty="0">
                <a:solidFill>
                  <a:schemeClr val="bg1"/>
                </a:solidFill>
                <a:sym typeface="+mn-ea"/>
              </a:rPr>
              <a:t>语法基础</a:t>
            </a:r>
          </a:p>
        </p:txBody>
      </p:sp>
      <p:sp>
        <p:nvSpPr>
          <p:cNvPr id="34" name="矩形 33"/>
          <p:cNvSpPr/>
          <p:nvPr>
            <p:custDataLst>
              <p:tags r:id="rId7"/>
            </p:custDataLst>
          </p:nvPr>
        </p:nvSpPr>
        <p:spPr>
          <a:xfrm>
            <a:off x="635" y="998855"/>
            <a:ext cx="988060" cy="739775"/>
          </a:xfrm>
          <a:prstGeom prst="rect">
            <a:avLst/>
          </a:prstGeom>
          <a:solidFill>
            <a:srgbClr val="183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pitchFamily="34" charset="-122"/>
            </a:endParaRPr>
          </a:p>
        </p:txBody>
      </p:sp>
      <p:sp>
        <p:nvSpPr>
          <p:cNvPr id="35" name="矩形 34"/>
          <p:cNvSpPr/>
          <p:nvPr>
            <p:custDataLst>
              <p:tags r:id="rId8"/>
            </p:custDataLst>
          </p:nvPr>
        </p:nvSpPr>
        <p:spPr>
          <a:xfrm>
            <a:off x="1062990" y="998855"/>
            <a:ext cx="154940" cy="739775"/>
          </a:xfrm>
          <a:prstGeom prst="rect">
            <a:avLst/>
          </a:prstGeom>
          <a:solidFill>
            <a:srgbClr val="18336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Regular" panose="020B0500000000000000" pitchFamily="34" charset="-122"/>
            </a:endParaRPr>
          </a:p>
        </p:txBody>
      </p:sp>
      <p:grpSp>
        <p:nvGrpSpPr>
          <p:cNvPr id="36" name="组合 35"/>
          <p:cNvGrpSpPr/>
          <p:nvPr/>
        </p:nvGrpSpPr>
        <p:grpSpPr>
          <a:xfrm>
            <a:off x="11395075" y="6205220"/>
            <a:ext cx="437515" cy="435610"/>
            <a:chOff x="17945" y="9802"/>
            <a:chExt cx="689" cy="686"/>
          </a:xfrm>
        </p:grpSpPr>
        <p:sp>
          <p:nvSpPr>
            <p:cNvPr id="37" name="椭圆 36"/>
            <p:cNvSpPr/>
            <p:nvPr>
              <p:custDataLst>
                <p:tags r:id="rId17"/>
              </p:custDataLst>
            </p:nvPr>
          </p:nvSpPr>
          <p:spPr>
            <a:xfrm>
              <a:off x="18306" y="9802"/>
              <a:ext cx="148" cy="148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38" name="椭圆 37"/>
            <p:cNvSpPr/>
            <p:nvPr>
              <p:custDataLst>
                <p:tags r:id="rId18"/>
              </p:custDataLst>
            </p:nvPr>
          </p:nvSpPr>
          <p:spPr>
            <a:xfrm>
              <a:off x="18486" y="9802"/>
              <a:ext cx="148" cy="148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50" name="椭圆 49"/>
            <p:cNvSpPr/>
            <p:nvPr>
              <p:custDataLst>
                <p:tags r:id="rId19"/>
              </p:custDataLst>
            </p:nvPr>
          </p:nvSpPr>
          <p:spPr>
            <a:xfrm>
              <a:off x="18306" y="9981"/>
              <a:ext cx="148" cy="148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51" name="椭圆 50"/>
            <p:cNvSpPr/>
            <p:nvPr>
              <p:custDataLst>
                <p:tags r:id="rId20"/>
              </p:custDataLst>
            </p:nvPr>
          </p:nvSpPr>
          <p:spPr>
            <a:xfrm>
              <a:off x="18486" y="9981"/>
              <a:ext cx="148" cy="148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52" name="椭圆 51"/>
            <p:cNvSpPr/>
            <p:nvPr>
              <p:custDataLst>
                <p:tags r:id="rId21"/>
              </p:custDataLst>
            </p:nvPr>
          </p:nvSpPr>
          <p:spPr>
            <a:xfrm>
              <a:off x="18306" y="10161"/>
              <a:ext cx="148" cy="148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53" name="椭圆 52"/>
            <p:cNvSpPr/>
            <p:nvPr>
              <p:custDataLst>
                <p:tags r:id="rId22"/>
              </p:custDataLst>
            </p:nvPr>
          </p:nvSpPr>
          <p:spPr>
            <a:xfrm>
              <a:off x="18486" y="10161"/>
              <a:ext cx="148" cy="148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54" name="椭圆 53"/>
            <p:cNvSpPr/>
            <p:nvPr>
              <p:custDataLst>
                <p:tags r:id="rId23"/>
              </p:custDataLst>
            </p:nvPr>
          </p:nvSpPr>
          <p:spPr>
            <a:xfrm>
              <a:off x="18306" y="10340"/>
              <a:ext cx="148" cy="148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55" name="椭圆 54"/>
            <p:cNvSpPr/>
            <p:nvPr>
              <p:custDataLst>
                <p:tags r:id="rId24"/>
              </p:custDataLst>
            </p:nvPr>
          </p:nvSpPr>
          <p:spPr>
            <a:xfrm>
              <a:off x="18486" y="10340"/>
              <a:ext cx="148" cy="148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56" name="椭圆 55"/>
            <p:cNvSpPr/>
            <p:nvPr>
              <p:custDataLst>
                <p:tags r:id="rId25"/>
              </p:custDataLst>
            </p:nvPr>
          </p:nvSpPr>
          <p:spPr>
            <a:xfrm>
              <a:off x="17945" y="10161"/>
              <a:ext cx="148" cy="148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57" name="椭圆 56"/>
            <p:cNvSpPr/>
            <p:nvPr>
              <p:custDataLst>
                <p:tags r:id="rId26"/>
              </p:custDataLst>
            </p:nvPr>
          </p:nvSpPr>
          <p:spPr>
            <a:xfrm>
              <a:off x="18126" y="10161"/>
              <a:ext cx="148" cy="148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58" name="椭圆 57"/>
            <p:cNvSpPr/>
            <p:nvPr>
              <p:custDataLst>
                <p:tags r:id="rId27"/>
              </p:custDataLst>
            </p:nvPr>
          </p:nvSpPr>
          <p:spPr>
            <a:xfrm>
              <a:off x="17945" y="10340"/>
              <a:ext cx="148" cy="148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59" name="椭圆 58"/>
            <p:cNvSpPr/>
            <p:nvPr>
              <p:custDataLst>
                <p:tags r:id="rId28"/>
              </p:custDataLst>
            </p:nvPr>
          </p:nvSpPr>
          <p:spPr>
            <a:xfrm>
              <a:off x="18126" y="10340"/>
              <a:ext cx="148" cy="148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5269865" y="6445250"/>
            <a:ext cx="1682750" cy="71120"/>
            <a:chOff x="8299" y="10255"/>
            <a:chExt cx="2650" cy="112"/>
          </a:xfrm>
        </p:grpSpPr>
        <p:sp>
          <p:nvSpPr>
            <p:cNvPr id="40" name="椭圆 39"/>
            <p:cNvSpPr/>
            <p:nvPr>
              <p:custDataLst>
                <p:tags r:id="rId10"/>
              </p:custDataLst>
            </p:nvPr>
          </p:nvSpPr>
          <p:spPr>
            <a:xfrm rot="16200000">
              <a:off x="10837" y="10255"/>
              <a:ext cx="113" cy="113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42" name="椭圆 41"/>
            <p:cNvSpPr/>
            <p:nvPr>
              <p:custDataLst>
                <p:tags r:id="rId11"/>
              </p:custDataLst>
            </p:nvPr>
          </p:nvSpPr>
          <p:spPr>
            <a:xfrm rot="16200000">
              <a:off x="10414" y="10255"/>
              <a:ext cx="113" cy="113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43" name="椭圆 42"/>
            <p:cNvSpPr/>
            <p:nvPr>
              <p:custDataLst>
                <p:tags r:id="rId12"/>
              </p:custDataLst>
            </p:nvPr>
          </p:nvSpPr>
          <p:spPr>
            <a:xfrm rot="16200000">
              <a:off x="9991" y="10255"/>
              <a:ext cx="113" cy="113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44" name="椭圆 43"/>
            <p:cNvSpPr/>
            <p:nvPr>
              <p:custDataLst>
                <p:tags r:id="rId13"/>
              </p:custDataLst>
            </p:nvPr>
          </p:nvSpPr>
          <p:spPr>
            <a:xfrm rot="16200000">
              <a:off x="9568" y="10255"/>
              <a:ext cx="113" cy="113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45" name="椭圆 44"/>
            <p:cNvSpPr/>
            <p:nvPr>
              <p:custDataLst>
                <p:tags r:id="rId14"/>
              </p:custDataLst>
            </p:nvPr>
          </p:nvSpPr>
          <p:spPr>
            <a:xfrm rot="16200000">
              <a:off x="9145" y="10255"/>
              <a:ext cx="113" cy="113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46" name="椭圆 45"/>
            <p:cNvSpPr/>
            <p:nvPr>
              <p:custDataLst>
                <p:tags r:id="rId15"/>
              </p:custDataLst>
            </p:nvPr>
          </p:nvSpPr>
          <p:spPr>
            <a:xfrm rot="16200000">
              <a:off x="8722" y="10255"/>
              <a:ext cx="113" cy="113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  <p:sp>
          <p:nvSpPr>
            <p:cNvPr id="47" name="椭圆 46"/>
            <p:cNvSpPr/>
            <p:nvPr>
              <p:custDataLst>
                <p:tags r:id="rId16"/>
              </p:custDataLst>
            </p:nvPr>
          </p:nvSpPr>
          <p:spPr>
            <a:xfrm rot="16200000">
              <a:off x="8299" y="10255"/>
              <a:ext cx="113" cy="113"/>
            </a:xfrm>
            <a:prstGeom prst="ellipse">
              <a:avLst/>
            </a:prstGeom>
            <a:solidFill>
              <a:srgbClr val="18336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54975"/>
                </a:solidFill>
                <a:effectLst/>
                <a:uLnTx/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endParaRPr>
            </a:p>
          </p:txBody>
        </p:sp>
      </p:grpSp>
      <p:sp>
        <p:nvSpPr>
          <p:cNvPr id="48" name="文本框 47"/>
          <p:cNvSpPr txBox="1"/>
          <p:nvPr>
            <p:custDataLst>
              <p:tags r:id="rId9"/>
            </p:custDataLst>
          </p:nvPr>
        </p:nvSpPr>
        <p:spPr>
          <a:xfrm>
            <a:off x="1272540" y="1046480"/>
            <a:ext cx="315404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2000" cap="all">
                <a:solidFill>
                  <a:srgbClr val="183365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  <a:sym typeface="+mn-ea"/>
              </a:rPr>
              <a:t>ChatGPT</a:t>
            </a:r>
            <a:r>
              <a:rPr lang="zh-CN" altLang="en-US" sz="2000" cap="all">
                <a:solidFill>
                  <a:srgbClr val="183365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 </a:t>
            </a:r>
          </a:p>
          <a:p>
            <a:r>
              <a:rPr lang="en-US" altLang="zh-CN" sz="2000" cap="all">
                <a:solidFill>
                  <a:srgbClr val="183365"/>
                </a:solidFill>
                <a:uFillTx/>
                <a:latin typeface="思源黑体 CN Regular" panose="020B0500000000000000" pitchFamily="34" charset="-122"/>
                <a:ea typeface="思源黑体 CN Regular" panose="020B0500000000000000" pitchFamily="34" charset="-122"/>
                <a:cs typeface="思源黑体 CN Regular" panose="020B0500000000000000" pitchFamily="34" charset="-122"/>
              </a:rPr>
              <a:t>Getting Started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122295" y="627380"/>
            <a:ext cx="5940425" cy="5603240"/>
            <a:chOff x="5080" y="988"/>
            <a:chExt cx="9038" cy="88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组合 10"/>
            <p:cNvGrpSpPr/>
            <p:nvPr/>
          </p:nvGrpSpPr>
          <p:grpSpPr>
            <a:xfrm>
              <a:off x="5080" y="988"/>
              <a:ext cx="9039" cy="8825"/>
              <a:chOff x="5348" y="1147"/>
              <a:chExt cx="8504" cy="8506"/>
            </a:xfrm>
            <a:gradFill>
              <a:gsLst>
                <a:gs pos="0">
                  <a:schemeClr val="bg1"/>
                </a:gs>
                <a:gs pos="50000">
                  <a:schemeClr val="tx2">
                    <a:lumMod val="10000"/>
                    <a:lumOff val="9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5400000" scaled="0"/>
            </a:gradFill>
          </p:grpSpPr>
          <p:grpSp>
            <p:nvGrpSpPr>
              <p:cNvPr id="12" name="组合 11"/>
              <p:cNvGrpSpPr/>
              <p:nvPr/>
            </p:nvGrpSpPr>
            <p:grpSpPr>
              <a:xfrm>
                <a:off x="5348" y="1148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3" name="流程图: 终止 12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流程图: 终止 13"/>
                <p:cNvSpPr/>
                <p:nvPr>
                  <p:custDataLst>
                    <p:tags r:id="rId16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 rot="270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6" name="流程图: 终止 15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流程图: 终止 16"/>
                <p:cNvSpPr/>
                <p:nvPr>
                  <p:custDataLst>
                    <p:tags r:id="rId14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rot="1380000">
                <a:off x="5348" y="1147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6" name="流程图: 终止 25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流程图: 终止 26"/>
                <p:cNvSpPr/>
                <p:nvPr>
                  <p:custDataLst>
                    <p:tags r:id="rId12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 rot="2022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9" name="流程图: 终止 2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流程图: 终止 29"/>
                <p:cNvSpPr/>
                <p:nvPr>
                  <p:custDataLst>
                    <p:tags r:id="rId10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1" name="椭圆 30"/>
            <p:cNvSpPr/>
            <p:nvPr>
              <p:custDataLst>
                <p:tags r:id="rId7"/>
              </p:custDataLst>
            </p:nvPr>
          </p:nvSpPr>
          <p:spPr>
            <a:xfrm>
              <a:off x="5501" y="1400"/>
              <a:ext cx="8195" cy="799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5828" y="1633"/>
              <a:ext cx="7540" cy="754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0" name="直接连接符 39"/>
          <p:cNvCxnSpPr>
            <a:cxnSpLocks noChangeAspect="1"/>
          </p:cNvCxnSpPr>
          <p:nvPr>
            <p:custDataLst>
              <p:tags r:id="rId1"/>
            </p:custDataLst>
          </p:nvPr>
        </p:nvCxnSpPr>
        <p:spPr>
          <a:xfrm>
            <a:off x="1656080" y="911225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cxnSpLocks noChangeAspect="1"/>
          </p:cNvCxnSpPr>
          <p:nvPr>
            <p:custDataLst>
              <p:tags r:id="rId2"/>
            </p:custDataLst>
          </p:nvPr>
        </p:nvCxnSpPr>
        <p:spPr>
          <a:xfrm>
            <a:off x="1221740" y="1014095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368040" y="3105785"/>
            <a:ext cx="5448935" cy="1114425"/>
            <a:chOff x="5304" y="5005"/>
            <a:chExt cx="8581" cy="1755"/>
          </a:xfrm>
        </p:grpSpPr>
        <p:sp>
          <p:nvSpPr>
            <p:cNvPr id="44" name="文本框 43"/>
            <p:cNvSpPr txBox="1"/>
            <p:nvPr>
              <p:custDataLst>
                <p:tags r:id="rId5"/>
              </p:custDataLst>
            </p:nvPr>
          </p:nvSpPr>
          <p:spPr>
            <a:xfrm>
              <a:off x="6186" y="6326"/>
              <a:ext cx="683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站酷快乐体" panose="02010600030101010101" charset="-128"/>
                  <a:ea typeface="宋体" panose="02010600030101010101" pitchFamily="2" charset="-122"/>
                  <a:cs typeface="汉仪中黑S" panose="00020600040101010101" charset="-122"/>
                  <a:sym typeface="+mn-ea"/>
                </a:rPr>
                <a:t>语言特点</a:t>
              </a:r>
            </a:p>
          </p:txBody>
        </p:sp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5304" y="5005"/>
              <a:ext cx="8581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Python</a:t>
              </a:r>
              <a:r>
                <a:rPr lang="zh-CN" altLang="en-US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语言简介</a:t>
              </a:r>
              <a:endParaRPr lang="zh-CN" altLang="en-US" sz="3600" b="1" dirty="0">
                <a:solidFill>
                  <a:srgbClr val="C00000"/>
                </a:solidFill>
                <a:effectLst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endParaRPr>
            </a:p>
          </p:txBody>
        </p:sp>
      </p:grpSp>
      <p:cxnSp>
        <p:nvCxnSpPr>
          <p:cNvPr id="42" name="直接连接符 41"/>
          <p:cNvCxnSpPr>
            <a:cxnSpLocks noChangeAspect="1"/>
          </p:cNvCxnSpPr>
          <p:nvPr>
            <p:custDataLst>
              <p:tags r:id="rId3"/>
            </p:custDataLst>
          </p:nvPr>
        </p:nvCxnSpPr>
        <p:spPr>
          <a:xfrm>
            <a:off x="9115425" y="4871720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cxnSpLocks noChangeAspect="1"/>
          </p:cNvCxnSpPr>
          <p:nvPr>
            <p:custDataLst>
              <p:tags r:id="rId4"/>
            </p:custDataLst>
          </p:nvPr>
        </p:nvCxnSpPr>
        <p:spPr>
          <a:xfrm>
            <a:off x="10128250" y="5591810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为什么 Python 如此受欢迎</a:t>
            </a: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4384040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特点如下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4095750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1380" y="2032000"/>
            <a:ext cx="10396220" cy="3538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面向对象，解释型计算机程序设计语言</a:t>
            </a: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1989 年 Guido van Rossum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（</a:t>
            </a:r>
            <a:r>
              <a:rPr sz="1600" b="0" i="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吉多·范罗苏姆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）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发明，1991 年公开版本发行</a:t>
            </a: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Python3.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X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在 2008 年发布，为了不带来过多的累赘，没有考虑向下兼容</a:t>
            </a: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Python2.X</a:t>
            </a:r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应用：科学计算、自然语言处理、图形图像处理、脚本开发、Web 应用</a:t>
            </a: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charset="0"/>
              <a:buChar char="Ø"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当今最受欢迎的语言之一，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人生苦短我用</a:t>
            </a:r>
            <a:r>
              <a:rPr lang="en-US" alt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Python</a:t>
            </a:r>
            <a:r>
              <a:rPr lang="zh-CN" alt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，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TIOBE 排名</a:t>
            </a:r>
            <a:r>
              <a:rPr lang="zh-CN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均在第一</a:t>
            </a:r>
            <a:endParaRPr sz="16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charset="0"/>
              <a:buChar char="Ø"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美国大学计算机编程入门课程最流行的语言(前 10 名计算机系中有 8 名使用 Python）</a:t>
            </a:r>
          </a:p>
          <a:p>
            <a:pPr marL="285750" indent="-285750" algn="l">
              <a:lnSpc>
                <a:spcPct val="20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Python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设计哲学：优雅，明确，简单，可读性强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解析器</a:t>
            </a: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4384040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4095750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964565" y="1699260"/>
            <a:ext cx="10396220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解析器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语言只是符号、语法、语义定义及使用规则的集合。使用这些规则编写的程序（Python 程序）并不能被计算机直接执行。解析执行 Python 源程序的程序叫做Python 解析器（Interpreter），而由解析器解析执行的过程就是 Python 的实现。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Python解析器有几种：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1600" b="1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CPython </a:t>
            </a: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官方提供的解析器就是 C 语言实现的，所以称之为 CPython，也是最常用的 Python 实现，课程中使用的就是 CPython 作为解析器。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JPython 使用 Java 语言实现的 Python 解析器，将 Python 代码编程成 Java 字节码执行。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IronPython 是运行在微软 Net 平台上的 Python 解析器，直接把 Python 代码编译成 Net 字节码。</a:t>
            </a:r>
          </a:p>
          <a:p>
            <a:pPr marL="285750" indent="-285750">
              <a:lnSpc>
                <a:spcPct val="150000"/>
              </a:lnSpc>
              <a:buFont typeface="Wingdings" panose="05000000000000000000" charset="0"/>
              <a:buChar char="Ø"/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PyPy 使用 Python 语言实现的 Python 解析器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Python语言简洁性</a:t>
            </a:r>
            <a:endParaRPr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  <a:p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4384040" y="986155"/>
            <a:ext cx="2578735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Python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宋体" panose="02010600030101010101" pitchFamily="2" charset="-122"/>
              </a:rPr>
              <a:t>语言简洁性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4095750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369060" y="2098040"/>
            <a:ext cx="252412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16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C++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#include&lt;iostream&gt;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using namespace std;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int main()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{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cout&lt;&lt;"Hello World";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return 0;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}</a:t>
            </a: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4658360" y="2098040"/>
            <a:ext cx="2524125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16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Java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public class Main{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public static void main(String[] args)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{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System.out.println("Hello World");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}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}</a:t>
            </a: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7793355" y="2098040"/>
            <a:ext cx="252412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sz="16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Python</a:t>
            </a:r>
          </a:p>
          <a:p>
            <a:pPr>
              <a:lnSpc>
                <a:spcPct val="150000"/>
              </a:lnSpc>
            </a:pPr>
            <a:r>
              <a:rPr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print "Hello World";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122295" y="627380"/>
            <a:ext cx="5940425" cy="5603240"/>
            <a:chOff x="5080" y="988"/>
            <a:chExt cx="9038" cy="88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组合 10"/>
            <p:cNvGrpSpPr/>
            <p:nvPr/>
          </p:nvGrpSpPr>
          <p:grpSpPr>
            <a:xfrm>
              <a:off x="5080" y="988"/>
              <a:ext cx="9039" cy="8825"/>
              <a:chOff x="5348" y="1147"/>
              <a:chExt cx="8504" cy="8506"/>
            </a:xfrm>
            <a:gradFill>
              <a:gsLst>
                <a:gs pos="0">
                  <a:schemeClr val="bg1"/>
                </a:gs>
                <a:gs pos="50000">
                  <a:schemeClr val="tx2">
                    <a:lumMod val="10000"/>
                    <a:lumOff val="9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5400000" scaled="0"/>
            </a:gradFill>
          </p:grpSpPr>
          <p:grpSp>
            <p:nvGrpSpPr>
              <p:cNvPr id="12" name="组合 11"/>
              <p:cNvGrpSpPr/>
              <p:nvPr/>
            </p:nvGrpSpPr>
            <p:grpSpPr>
              <a:xfrm>
                <a:off x="5348" y="1148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3" name="流程图: 终止 12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流程图: 终止 13"/>
                <p:cNvSpPr/>
                <p:nvPr>
                  <p:custDataLst>
                    <p:tags r:id="rId16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 rot="270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6" name="流程图: 终止 15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流程图: 终止 16"/>
                <p:cNvSpPr/>
                <p:nvPr>
                  <p:custDataLst>
                    <p:tags r:id="rId14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rot="1380000">
                <a:off x="5348" y="1147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6" name="流程图: 终止 25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流程图: 终止 26"/>
                <p:cNvSpPr/>
                <p:nvPr>
                  <p:custDataLst>
                    <p:tags r:id="rId12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 rot="2022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9" name="流程图: 终止 2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流程图: 终止 29"/>
                <p:cNvSpPr/>
                <p:nvPr>
                  <p:custDataLst>
                    <p:tags r:id="rId10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1" name="椭圆 30"/>
            <p:cNvSpPr/>
            <p:nvPr>
              <p:custDataLst>
                <p:tags r:id="rId7"/>
              </p:custDataLst>
            </p:nvPr>
          </p:nvSpPr>
          <p:spPr>
            <a:xfrm>
              <a:off x="5501" y="1400"/>
              <a:ext cx="8195" cy="799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5828" y="1633"/>
              <a:ext cx="7540" cy="754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0" name="直接连接符 39"/>
          <p:cNvCxnSpPr>
            <a:cxnSpLocks noChangeAspect="1"/>
          </p:cNvCxnSpPr>
          <p:nvPr>
            <p:custDataLst>
              <p:tags r:id="rId1"/>
            </p:custDataLst>
          </p:nvPr>
        </p:nvCxnSpPr>
        <p:spPr>
          <a:xfrm>
            <a:off x="1656080" y="911225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cxnSpLocks noChangeAspect="1"/>
          </p:cNvCxnSpPr>
          <p:nvPr>
            <p:custDataLst>
              <p:tags r:id="rId2"/>
            </p:custDataLst>
          </p:nvPr>
        </p:nvCxnSpPr>
        <p:spPr>
          <a:xfrm>
            <a:off x="1221740" y="1014095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368040" y="3105785"/>
            <a:ext cx="5448935" cy="1114425"/>
            <a:chOff x="5304" y="5005"/>
            <a:chExt cx="8581" cy="1755"/>
          </a:xfrm>
        </p:grpSpPr>
        <p:sp>
          <p:nvSpPr>
            <p:cNvPr id="44" name="文本框 43"/>
            <p:cNvSpPr txBox="1"/>
            <p:nvPr>
              <p:custDataLst>
                <p:tags r:id="rId5"/>
              </p:custDataLst>
            </p:nvPr>
          </p:nvSpPr>
          <p:spPr>
            <a:xfrm>
              <a:off x="6186" y="6326"/>
              <a:ext cx="683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站酷快乐体" panose="02010600030101010101" charset="-128"/>
                  <a:ea typeface="宋体" panose="02010600030101010101" pitchFamily="2" charset="-122"/>
                  <a:cs typeface="汉仪中黑S" panose="00020600040101010101" charset="-122"/>
                  <a:sym typeface="+mn-ea"/>
                </a:rPr>
                <a:t>核心步骤</a:t>
              </a:r>
            </a:p>
          </p:txBody>
        </p:sp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5304" y="5005"/>
              <a:ext cx="8581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Python</a:t>
              </a:r>
              <a:r>
                <a:rPr lang="zh-CN" altLang="en-US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环境搭建</a:t>
              </a:r>
              <a:endParaRPr lang="zh-CN" altLang="en-US" sz="3600" b="1" dirty="0">
                <a:solidFill>
                  <a:srgbClr val="C00000"/>
                </a:solidFill>
                <a:effectLst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endParaRPr>
            </a:p>
          </p:txBody>
        </p:sp>
      </p:grpSp>
      <p:cxnSp>
        <p:nvCxnSpPr>
          <p:cNvPr id="42" name="直接连接符 41"/>
          <p:cNvCxnSpPr>
            <a:cxnSpLocks noChangeAspect="1"/>
          </p:cNvCxnSpPr>
          <p:nvPr>
            <p:custDataLst>
              <p:tags r:id="rId3"/>
            </p:custDataLst>
          </p:nvPr>
        </p:nvCxnSpPr>
        <p:spPr>
          <a:xfrm>
            <a:off x="9115425" y="4871720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cxnSpLocks noChangeAspect="1"/>
          </p:cNvCxnSpPr>
          <p:nvPr>
            <p:custDataLst>
              <p:tags r:id="rId4"/>
            </p:custDataLst>
          </p:nvPr>
        </p:nvCxnSpPr>
        <p:spPr>
          <a:xfrm>
            <a:off x="10128250" y="5591810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A</a:t>
            </a:r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naconda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安装</a:t>
            </a:r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简介与安装</a:t>
            </a:r>
            <a:endParaRPr lang="en-US" altLang="zh-CN">
              <a:solidFill>
                <a:schemeClr val="tx1">
                  <a:lumMod val="75000"/>
                  <a:lumOff val="25000"/>
                </a:schemeClr>
              </a:solidFill>
              <a:effectLst/>
              <a:latin typeface="站酷快乐体" panose="02010600030101010101" charset="-128"/>
              <a:ea typeface="站酷快乐体" panose="02010600030101010101" charset="-128"/>
            </a:endParaRP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48360" y="1675765"/>
            <a:ext cx="10688955" cy="12958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/>
              <a:t>Anaconda（水蟒）：是一个科学计算软件发行版，集成了大量常用扩展包的环境，包含了 conda、Python 等 180 多个科学计算包及其依赖项，并且支持所有操作系统平台。下载地址：</a:t>
            </a:r>
            <a:r>
              <a:rPr lang="en-US" altLang="zh-CN" dirty="0"/>
              <a:t> https://www.anaconda.com/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959802" y="3104983"/>
            <a:ext cx="104057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charset="0"/>
              <a:buChar char="ü"/>
            </a:pPr>
            <a:r>
              <a:rPr lang="zh-CN" altLang="en-US" dirty="0"/>
              <a:t>可以在</a:t>
            </a:r>
            <a:r>
              <a:rPr lang="en-US" altLang="zh-CN" dirty="0"/>
              <a:t>Win</a:t>
            </a:r>
            <a:r>
              <a:rPr lang="zh-CN" altLang="en-US" dirty="0"/>
              <a:t>或者</a:t>
            </a:r>
            <a:r>
              <a:rPr lang="en-US" altLang="zh-CN" dirty="0" err="1"/>
              <a:t>LInux</a:t>
            </a:r>
            <a:r>
              <a:rPr lang="zh-CN" altLang="en-US" dirty="0"/>
              <a:t>中安装，本次授课采用</a:t>
            </a:r>
            <a:r>
              <a:rPr lang="en-US" altLang="zh-CN" dirty="0"/>
              <a:t>Windows</a:t>
            </a:r>
            <a:r>
              <a:rPr lang="zh-CN" altLang="en-US" dirty="0"/>
              <a:t>中安装。</a:t>
            </a: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959802" y="3692986"/>
            <a:ext cx="7165340" cy="1355725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285A6D1-37ED-B20C-11AD-5077AB7352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75351" y="5399012"/>
            <a:ext cx="9961964" cy="685142"/>
          </a:xfrm>
          <a:prstGeom prst="rect">
            <a:avLst/>
          </a:prstGeom>
        </p:spPr>
      </p:pic>
      <p:sp>
        <p:nvSpPr>
          <p:cNvPr id="9" name="箭头: 右 8">
            <a:extLst>
              <a:ext uri="{FF2B5EF4-FFF2-40B4-BE49-F238E27FC236}">
                <a16:creationId xmlns:a16="http://schemas.microsoft.com/office/drawing/2014/main" id="{D2678005-0AB3-3CD2-8E73-2A0D4D85FBDD}"/>
              </a:ext>
            </a:extLst>
          </p:cNvPr>
          <p:cNvSpPr/>
          <p:nvPr/>
        </p:nvSpPr>
        <p:spPr>
          <a:xfrm rot="2134317">
            <a:off x="8521831" y="4364610"/>
            <a:ext cx="1131216" cy="684101"/>
          </a:xfrm>
          <a:prstGeom prst="rightArrow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PyCharm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安装</a:t>
            </a:r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848360" y="1675765"/>
            <a:ext cx="10688955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/>
              <a:t>PyCharm</a:t>
            </a:r>
            <a:r>
              <a:rPr lang="zh-CN" altLang="en-US"/>
              <a:t>：The Python IDE</a:t>
            </a:r>
            <a:r>
              <a:rPr lang="en-US" altLang="zh-CN"/>
              <a:t> </a:t>
            </a:r>
            <a:r>
              <a:rPr lang="zh-CN" altLang="en-US"/>
              <a:t>for Professional Developers</a:t>
            </a: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1487805" y="2503805"/>
            <a:ext cx="8906510" cy="36347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122295" y="627380"/>
            <a:ext cx="5940425" cy="5603240"/>
            <a:chOff x="5080" y="988"/>
            <a:chExt cx="9038" cy="88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组合 10"/>
            <p:cNvGrpSpPr/>
            <p:nvPr/>
          </p:nvGrpSpPr>
          <p:grpSpPr>
            <a:xfrm>
              <a:off x="5080" y="988"/>
              <a:ext cx="9039" cy="8825"/>
              <a:chOff x="5348" y="1147"/>
              <a:chExt cx="8504" cy="8506"/>
            </a:xfrm>
            <a:gradFill>
              <a:gsLst>
                <a:gs pos="0">
                  <a:schemeClr val="bg1"/>
                </a:gs>
                <a:gs pos="50000">
                  <a:schemeClr val="tx2">
                    <a:lumMod val="10000"/>
                    <a:lumOff val="9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5400000" scaled="0"/>
            </a:gradFill>
          </p:grpSpPr>
          <p:grpSp>
            <p:nvGrpSpPr>
              <p:cNvPr id="12" name="组合 11"/>
              <p:cNvGrpSpPr/>
              <p:nvPr/>
            </p:nvGrpSpPr>
            <p:grpSpPr>
              <a:xfrm>
                <a:off x="5348" y="1148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3" name="流程图: 终止 12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流程图: 终止 13"/>
                <p:cNvSpPr/>
                <p:nvPr>
                  <p:custDataLst>
                    <p:tags r:id="rId16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 rot="270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6" name="流程图: 终止 15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流程图: 终止 16"/>
                <p:cNvSpPr/>
                <p:nvPr>
                  <p:custDataLst>
                    <p:tags r:id="rId14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rot="1380000">
                <a:off x="5348" y="1147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6" name="流程图: 终止 25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流程图: 终止 26"/>
                <p:cNvSpPr/>
                <p:nvPr>
                  <p:custDataLst>
                    <p:tags r:id="rId12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 rot="2022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9" name="流程图: 终止 2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流程图: 终止 29"/>
                <p:cNvSpPr/>
                <p:nvPr>
                  <p:custDataLst>
                    <p:tags r:id="rId10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1" name="椭圆 30"/>
            <p:cNvSpPr/>
            <p:nvPr>
              <p:custDataLst>
                <p:tags r:id="rId7"/>
              </p:custDataLst>
            </p:nvPr>
          </p:nvSpPr>
          <p:spPr>
            <a:xfrm>
              <a:off x="5501" y="1400"/>
              <a:ext cx="8195" cy="799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5828" y="1633"/>
              <a:ext cx="7540" cy="754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0" name="直接连接符 39"/>
          <p:cNvCxnSpPr>
            <a:cxnSpLocks noChangeAspect="1"/>
          </p:cNvCxnSpPr>
          <p:nvPr>
            <p:custDataLst>
              <p:tags r:id="rId1"/>
            </p:custDataLst>
          </p:nvPr>
        </p:nvCxnSpPr>
        <p:spPr>
          <a:xfrm>
            <a:off x="1656080" y="911225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cxnSpLocks noChangeAspect="1"/>
          </p:cNvCxnSpPr>
          <p:nvPr>
            <p:custDataLst>
              <p:tags r:id="rId2"/>
            </p:custDataLst>
          </p:nvPr>
        </p:nvCxnSpPr>
        <p:spPr>
          <a:xfrm>
            <a:off x="1221740" y="1014095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368040" y="3105785"/>
            <a:ext cx="5448935" cy="1114425"/>
            <a:chOff x="5304" y="5005"/>
            <a:chExt cx="8581" cy="1755"/>
          </a:xfrm>
        </p:grpSpPr>
        <p:sp>
          <p:nvSpPr>
            <p:cNvPr id="44" name="文本框 43"/>
            <p:cNvSpPr txBox="1"/>
            <p:nvPr>
              <p:custDataLst>
                <p:tags r:id="rId5"/>
              </p:custDataLst>
            </p:nvPr>
          </p:nvSpPr>
          <p:spPr>
            <a:xfrm>
              <a:off x="6186" y="6326"/>
              <a:ext cx="683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站酷快乐体" panose="02010600030101010101" charset="-128"/>
                  <a:ea typeface="宋体" panose="02010600030101010101" pitchFamily="2" charset="-122"/>
                  <a:cs typeface="汉仪中黑S" panose="00020600040101010101" charset="-122"/>
                  <a:sym typeface="+mn-ea"/>
                </a:rPr>
                <a:t>核心步骤</a:t>
              </a:r>
            </a:p>
          </p:txBody>
        </p:sp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5304" y="5005"/>
              <a:ext cx="8581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Python</a:t>
              </a:r>
              <a:r>
                <a:rPr lang="zh-CN" altLang="en-US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基础语法</a:t>
              </a:r>
              <a:endParaRPr lang="zh-CN" altLang="en-US" sz="3600" b="1" dirty="0">
                <a:solidFill>
                  <a:srgbClr val="C00000"/>
                </a:solidFill>
                <a:effectLst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endParaRPr>
            </a:p>
          </p:txBody>
        </p:sp>
      </p:grpSp>
      <p:cxnSp>
        <p:nvCxnSpPr>
          <p:cNvPr id="42" name="直接连接符 41"/>
          <p:cNvCxnSpPr>
            <a:cxnSpLocks noChangeAspect="1"/>
          </p:cNvCxnSpPr>
          <p:nvPr>
            <p:custDataLst>
              <p:tags r:id="rId3"/>
            </p:custDataLst>
          </p:nvPr>
        </p:nvCxnSpPr>
        <p:spPr>
          <a:xfrm>
            <a:off x="9115425" y="4871720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cxnSpLocks noChangeAspect="1"/>
          </p:cNvCxnSpPr>
          <p:nvPr>
            <p:custDataLst>
              <p:tags r:id="rId4"/>
            </p:custDataLst>
          </p:nvPr>
        </p:nvCxnSpPr>
        <p:spPr>
          <a:xfrm>
            <a:off x="10128250" y="5591810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注释</a:t>
            </a:r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①单行注释与多行注释</a:t>
            </a:r>
            <a:endParaRPr lang="en-US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1270635" y="4478589"/>
            <a:ext cx="3891272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lnSpc>
                <a:spcPts val="3145"/>
              </a:lnSpc>
              <a:buNone/>
            </a:pPr>
            <a:r>
              <a:rPr lang="zh-CN" altLang="en-US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单行注释</a:t>
            </a:r>
            <a:r>
              <a:rPr lang="en-US" altLang="zh-CN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: </a:t>
            </a:r>
            <a:r>
              <a:rPr lang="zh-CN" altLang="en-US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以</a:t>
            </a:r>
            <a:r>
              <a:rPr lang="en-US" altLang="zh-CN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#</a:t>
            </a:r>
            <a:r>
              <a:rPr lang="zh-CN" altLang="en-US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开头，</a:t>
            </a:r>
            <a:r>
              <a:rPr lang="en-US" altLang="zh-CN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#</a:t>
            </a:r>
            <a:r>
              <a:rPr lang="zh-CN" altLang="en-US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右边的所有文字当作说明，而不是真正要执行的程序，起辅助说明作用</a:t>
            </a:r>
          </a:p>
        </p:txBody>
      </p:sp>
      <p:sp>
        <p:nvSpPr>
          <p:cNvPr id="36" name="矩形: 圆角 35"/>
          <p:cNvSpPr/>
          <p:nvPr>
            <p:custDataLst>
              <p:tags r:id="rId8"/>
            </p:custDataLst>
          </p:nvPr>
        </p:nvSpPr>
        <p:spPr>
          <a:xfrm rot="18900000">
            <a:off x="2032751" y="2681069"/>
            <a:ext cx="1256102" cy="1256102"/>
          </a:xfrm>
          <a:prstGeom prst="roundRect">
            <a:avLst>
              <a:gd name="adj" fmla="val 35535"/>
            </a:avLst>
          </a:prstGeom>
          <a:solidFill>
            <a:srgbClr val="A4E3F4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1435632" y="3925751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 fontScale="95000"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sz="2000" b="1" spc="3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Arial" panose="020B0604020202020204" pitchFamily="34" charset="0"/>
              </a:rPr>
              <a:t>方式</a:t>
            </a:r>
            <a:r>
              <a:rPr lang="en-US" altLang="zh-CN" sz="2000" b="1" spc="3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Arial" panose="020B0604020202020204" pitchFamily="34" charset="0"/>
              </a:rPr>
              <a:t>1</a:t>
            </a:r>
            <a:r>
              <a:rPr lang="zh-CN" altLang="en-US" sz="2000" b="1" spc="3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Arial" panose="020B0604020202020204" pitchFamily="34" charset="0"/>
              </a:rPr>
              <a:t>：</a:t>
            </a:r>
            <a:r>
              <a:rPr lang="zh-CN" altLang="en-US" sz="2000" b="1" dirty="0">
                <a:solidFill>
                  <a:srgbClr val="FF0000"/>
                </a:solidFill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单行注释</a:t>
            </a:r>
            <a:endParaRPr lang="zh-CN" altLang="en-US" sz="2000" b="1" spc="30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汉仪中黑S" panose="00020600040101010101"/>
              <a:ea typeface="汉仪中黑S" panose="00020600040101010101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2434028" y="3093416"/>
            <a:ext cx="452755" cy="45275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11"/>
            </p:custDataLst>
          </p:nvPr>
        </p:nvSpPr>
        <p:spPr>
          <a:xfrm>
            <a:off x="6302787" y="4370317"/>
            <a:ext cx="4683348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lnSpc>
                <a:spcPts val="3145"/>
              </a:lnSpc>
              <a:buNone/>
            </a:pPr>
            <a:r>
              <a:rPr lang="en-US" altLang="zh-CN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"""</a:t>
            </a:r>
            <a:r>
              <a:rPr lang="zh-CN" altLang="en-US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内容</a:t>
            </a:r>
            <a:r>
              <a:rPr lang="en-US" altLang="zh-CN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""", </a:t>
            </a:r>
            <a:r>
              <a:rPr lang="zh-CN" altLang="en-US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三个引号引起来的内容作为对代码的解释说明</a:t>
            </a:r>
            <a:r>
              <a:rPr lang="en-US" altLang="zh-CN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, </a:t>
            </a:r>
            <a:r>
              <a:rPr lang="zh-CN" altLang="en-US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这里的解释往往比较详尽</a:t>
            </a:r>
            <a:r>
              <a:rPr lang="en-US" altLang="zh-CN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,</a:t>
            </a:r>
            <a:r>
              <a:rPr lang="zh-CN" altLang="en-US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行数较多</a:t>
            </a:r>
            <a:r>
              <a:rPr lang="en-US" altLang="zh-CN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(</a:t>
            </a:r>
            <a:r>
              <a:rPr lang="zh-CN" altLang="en-US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三个单引号或者三个双引号都可以</a:t>
            </a:r>
            <a:r>
              <a:rPr lang="en-US" altLang="zh-CN" sz="1200" b="1" dirty="0"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)</a:t>
            </a:r>
            <a:endParaRPr lang="zh-CN" altLang="en-US" sz="1200" b="1" dirty="0">
              <a:latin typeface="汉仪中黑S" panose="00020600040101010101"/>
              <a:ea typeface="汉仪中黑S" panose="00020600040101010101"/>
              <a:cs typeface="汉仪粗简黑简" panose="00020600040101010101" charset="-122"/>
              <a:sym typeface="+mn-ea"/>
            </a:endParaRPr>
          </a:p>
        </p:txBody>
      </p:sp>
      <p:sp>
        <p:nvSpPr>
          <p:cNvPr id="5" name="矩形: 圆角 35"/>
          <p:cNvSpPr/>
          <p:nvPr>
            <p:custDataLst>
              <p:tags r:id="rId12"/>
            </p:custDataLst>
          </p:nvPr>
        </p:nvSpPr>
        <p:spPr>
          <a:xfrm rot="18900000">
            <a:off x="8100816" y="2578575"/>
            <a:ext cx="1256102" cy="1256102"/>
          </a:xfrm>
          <a:prstGeom prst="roundRect">
            <a:avLst>
              <a:gd name="adj" fmla="val 35535"/>
            </a:avLst>
          </a:prstGeom>
          <a:solidFill>
            <a:srgbClr val="A4E3F4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中黑S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3"/>
            </p:custDataLst>
          </p:nvPr>
        </p:nvSpPr>
        <p:spPr>
          <a:xfrm>
            <a:off x="7121315" y="3855086"/>
            <a:ext cx="3478530" cy="602615"/>
          </a:xfrm>
          <a:prstGeom prst="rect">
            <a:avLst/>
          </a:prstGeom>
          <a:noFill/>
        </p:spPr>
        <p:txBody>
          <a:bodyPr wrap="square" rtlCol="0" anchor="ctr" anchorCtr="0">
            <a:normAutofit fontScale="97500"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sz="2000" b="1" spc="3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Arial" panose="020B0604020202020204" pitchFamily="34" charset="0"/>
              </a:rPr>
              <a:t>方式</a:t>
            </a:r>
            <a:r>
              <a:rPr lang="en-US" altLang="zh-CN" sz="2000" b="1" spc="3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Arial" panose="020B0604020202020204" pitchFamily="34" charset="0"/>
              </a:rPr>
              <a:t>2</a:t>
            </a:r>
            <a:r>
              <a:rPr lang="zh-CN" altLang="en-US" sz="2000" b="1" spc="30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Arial" panose="020B0604020202020204" pitchFamily="34" charset="0"/>
              </a:rPr>
              <a:t>：</a:t>
            </a:r>
            <a:r>
              <a:rPr lang="zh-CN" altLang="en-US" sz="2000" b="1" dirty="0">
                <a:solidFill>
                  <a:srgbClr val="FF0000"/>
                </a:solidFill>
                <a:latin typeface="汉仪中黑S" panose="00020600040101010101"/>
                <a:ea typeface="汉仪中黑S" panose="00020600040101010101"/>
                <a:cs typeface="汉仪粗简黑简" panose="00020600040101010101" charset="-122"/>
                <a:sym typeface="+mn-ea"/>
              </a:rPr>
              <a:t>多行注释</a:t>
            </a:r>
            <a:endParaRPr lang="en-US" altLang="zh-CN" sz="2000" b="1" dirty="0">
              <a:solidFill>
                <a:srgbClr val="FF0000"/>
              </a:solidFill>
              <a:latin typeface="汉仪中黑S" panose="00020600040101010101"/>
              <a:ea typeface="汉仪中黑S" panose="00020600040101010101"/>
              <a:cs typeface="汉仪粗简黑简" panose="00020600040101010101" charset="-122"/>
              <a:sym typeface="+mn-ea"/>
            </a:endParaRPr>
          </a:p>
        </p:txBody>
      </p:sp>
      <p:pic>
        <p:nvPicPr>
          <p:cNvPr id="8" name="图片 7" descr="343435383139363b333635383830313bcdbccae9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7"/>
          <a:stretch>
            <a:fillRect/>
          </a:stretch>
        </p:blipFill>
        <p:spPr>
          <a:xfrm>
            <a:off x="8502093" y="3042357"/>
            <a:ext cx="452755" cy="452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291334" y="5440539"/>
            <a:ext cx="38912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汉仪中黑S" panose="00020600040101010101"/>
                <a:ea typeface="汉仪中黑S" panose="00020600040101010101"/>
              </a:rPr>
              <a:t># </a:t>
            </a:r>
            <a:r>
              <a:rPr lang="zh-CN" altLang="en-US" sz="1400" dirty="0">
                <a:latin typeface="汉仪中黑S" panose="00020600040101010101"/>
                <a:ea typeface="汉仪中黑S" panose="00020600040101010101"/>
              </a:rPr>
              <a:t>我是注释，可以在里写一些功能说明</a:t>
            </a:r>
          </a:p>
          <a:p>
            <a:r>
              <a:rPr lang="en-US" altLang="zh-CN" sz="1400" dirty="0">
                <a:latin typeface="汉仪中黑S" panose="00020600040101010101"/>
                <a:ea typeface="汉仪中黑S" panose="00020600040101010101"/>
              </a:rPr>
              <a:t>print('hello world')</a:t>
            </a:r>
            <a:endParaRPr lang="zh-CN" altLang="en-US" sz="1400" dirty="0">
              <a:latin typeface="汉仪中黑S" panose="00020600040101010101"/>
              <a:ea typeface="汉仪中黑S" panose="00020600040101010101"/>
            </a:endParaRPr>
          </a:p>
        </p:txBody>
      </p:sp>
      <p:sp>
        <p:nvSpPr>
          <p:cNvPr id="12" name="文本框 11"/>
          <p:cNvSpPr txBox="1"/>
          <p:nvPr>
            <p:custDataLst>
              <p:tags r:id="rId15"/>
            </p:custDataLst>
          </p:nvPr>
        </p:nvSpPr>
        <p:spPr>
          <a:xfrm>
            <a:off x="6302787" y="5195487"/>
            <a:ext cx="527431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汉仪中黑S" panose="00020600040101010101"/>
                <a:ea typeface="汉仪中黑S" panose="00020600040101010101"/>
              </a:rPr>
              <a:t>'''</a:t>
            </a:r>
          </a:p>
          <a:p>
            <a:r>
              <a:rPr lang="en-US" altLang="zh-CN" sz="1400" dirty="0">
                <a:latin typeface="汉仪中黑S" panose="00020600040101010101"/>
                <a:ea typeface="汉仪中黑S" panose="00020600040101010101"/>
              </a:rPr>
              <a:t>     </a:t>
            </a:r>
            <a:r>
              <a:rPr lang="zh-CN" altLang="en-US" sz="1400" dirty="0">
                <a:latin typeface="汉仪中黑S" panose="00020600040101010101"/>
                <a:ea typeface="汉仪中黑S" panose="00020600040101010101"/>
              </a:rPr>
              <a:t>我是多行注释，可以写很多很多行的功能说明</a:t>
            </a:r>
            <a:endParaRPr lang="en-US" altLang="zh-CN" sz="1400" dirty="0">
              <a:latin typeface="汉仪中黑S" panose="00020600040101010101"/>
              <a:ea typeface="汉仪中黑S" panose="00020600040101010101"/>
            </a:endParaRPr>
          </a:p>
          <a:p>
            <a:r>
              <a:rPr lang="en-US" altLang="zh-CN" sz="1400" dirty="0">
                <a:latin typeface="汉仪中黑S" panose="00020600040101010101"/>
                <a:ea typeface="汉仪中黑S" panose="00020600040101010101"/>
              </a:rPr>
              <a:t>     </a:t>
            </a:r>
            <a:r>
              <a:rPr lang="zh-CN" altLang="en-US" sz="1400" dirty="0">
                <a:latin typeface="汉仪中黑S" panose="00020600040101010101"/>
                <a:ea typeface="汉仪中黑S" panose="00020600040101010101"/>
              </a:rPr>
              <a:t>功能说明</a:t>
            </a:r>
            <a:r>
              <a:rPr lang="en-US" altLang="zh-CN" sz="1400" dirty="0">
                <a:latin typeface="汉仪中黑S" panose="00020600040101010101"/>
                <a:ea typeface="汉仪中黑S" panose="00020600040101010101"/>
              </a:rPr>
              <a:t>1</a:t>
            </a:r>
          </a:p>
          <a:p>
            <a:r>
              <a:rPr lang="en-US" altLang="zh-CN" sz="1400" dirty="0">
                <a:latin typeface="汉仪中黑S" panose="00020600040101010101"/>
                <a:ea typeface="汉仪中黑S" panose="00020600040101010101"/>
              </a:rPr>
              <a:t>     </a:t>
            </a:r>
            <a:r>
              <a:rPr lang="zh-CN" altLang="en-US" sz="1400" dirty="0">
                <a:latin typeface="汉仪中黑S" panose="00020600040101010101"/>
                <a:ea typeface="汉仪中黑S" panose="00020600040101010101"/>
              </a:rPr>
              <a:t>功能说明</a:t>
            </a:r>
            <a:r>
              <a:rPr lang="en-US" altLang="zh-CN" sz="1400" dirty="0">
                <a:latin typeface="汉仪中黑S" panose="00020600040101010101"/>
                <a:ea typeface="汉仪中黑S" panose="00020600040101010101"/>
              </a:rPr>
              <a:t>2</a:t>
            </a:r>
          </a:p>
          <a:p>
            <a:r>
              <a:rPr lang="en-US" altLang="zh-CN" sz="1400" dirty="0">
                <a:latin typeface="汉仪中黑S" panose="00020600040101010101"/>
                <a:ea typeface="汉仪中黑S" panose="00020600040101010101"/>
              </a:rPr>
              <a:t>'''</a:t>
            </a:r>
            <a:endParaRPr lang="zh-CN" altLang="en-US" sz="1400" dirty="0">
              <a:latin typeface="汉仪中黑S" panose="00020600040101010101"/>
              <a:ea typeface="汉仪中黑S" panose="00020600040101010101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中的变量</a:t>
            </a:r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70635" y="2287152"/>
            <a:ext cx="10299535" cy="30047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汉仪中黑S" panose="00020600040101010101"/>
                <a:ea typeface="汉仪中黑S" panose="00020600040101010101"/>
              </a:rPr>
              <a:t>什么是变量？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汉仪中黑S" panose="00020600040101010101"/>
                <a:ea typeface="汉仪中黑S" panose="00020600040101010101"/>
              </a:rPr>
              <a:t>答：</a:t>
            </a:r>
            <a:r>
              <a:rPr lang="zh-CN" altLang="en-US" sz="1600" dirty="0">
                <a:solidFill>
                  <a:srgbClr val="FF0000"/>
                </a:solidFill>
                <a:latin typeface="汉仪中黑S" panose="00020600040101010101"/>
                <a:ea typeface="汉仪中黑S" panose="00020600040101010101"/>
              </a:rPr>
              <a:t>① 变量是存储数据的容器 ② 变量中存储的数据是临时的 ③ 变量中存储的数据是可以发生变化的。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rgbClr val="FF0000"/>
              </a:solidFill>
              <a:latin typeface="汉仪中黑S" panose="00020600040101010101"/>
              <a:ea typeface="汉仪中黑S" panose="00020600040101010101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汉仪中黑S" panose="00020600040101010101"/>
                <a:ea typeface="汉仪中黑S" panose="00020600040101010101"/>
              </a:rPr>
              <a:t>如何定一个变量？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汉仪中黑S" panose="00020600040101010101"/>
                <a:ea typeface="汉仪中黑S" panose="00020600040101010101"/>
              </a:rPr>
              <a:t>答：</a:t>
            </a:r>
            <a:r>
              <a:rPr lang="zh-CN" altLang="en-US" sz="1600" dirty="0">
                <a:solidFill>
                  <a:srgbClr val="FF0000"/>
                </a:solidFill>
                <a:latin typeface="汉仪中黑S" panose="00020600040101010101"/>
                <a:ea typeface="汉仪中黑S" panose="00020600040101010101"/>
              </a:rPr>
              <a:t>变量 </a:t>
            </a:r>
            <a:r>
              <a:rPr lang="en-US" altLang="zh-CN" sz="1600" dirty="0">
                <a:solidFill>
                  <a:srgbClr val="FF0000"/>
                </a:solidFill>
                <a:latin typeface="汉仪中黑S" panose="00020600040101010101"/>
                <a:ea typeface="汉仪中黑S" panose="00020600040101010101"/>
              </a:rPr>
              <a:t>= </a:t>
            </a:r>
            <a:r>
              <a:rPr lang="zh-CN" altLang="en-US" sz="1600" dirty="0">
                <a:solidFill>
                  <a:srgbClr val="FF0000"/>
                </a:solidFill>
                <a:latin typeface="汉仪中黑S" panose="00020600040101010101"/>
                <a:ea typeface="汉仪中黑S" panose="00020600040101010101"/>
              </a:rPr>
              <a:t>变量的值</a:t>
            </a:r>
          </a:p>
          <a:p>
            <a:pPr>
              <a:lnSpc>
                <a:spcPct val="150000"/>
              </a:lnSpc>
            </a:pPr>
            <a:endParaRPr lang="zh-CN" altLang="en-US" sz="1600" dirty="0">
              <a:latin typeface="汉仪中黑S" panose="00020600040101010101"/>
              <a:ea typeface="汉仪中黑S" panose="00020600040101010101"/>
            </a:endParaRP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汉仪中黑S" panose="00020600040101010101"/>
                <a:ea typeface="汉仪中黑S" panose="00020600040101010101"/>
              </a:rPr>
              <a:t>变量的命名规则？</a:t>
            </a:r>
          </a:p>
          <a:p>
            <a:pPr>
              <a:lnSpc>
                <a:spcPct val="150000"/>
              </a:lnSpc>
            </a:pPr>
            <a:r>
              <a:rPr lang="zh-CN" altLang="en-US" sz="1600" dirty="0">
                <a:latin typeface="汉仪中黑S" panose="00020600040101010101"/>
                <a:ea typeface="汉仪中黑S" panose="00020600040101010101"/>
              </a:rPr>
              <a:t>答：</a:t>
            </a:r>
            <a:r>
              <a:rPr lang="zh-CN" altLang="en-US" sz="1600" dirty="0">
                <a:solidFill>
                  <a:srgbClr val="FF0000"/>
                </a:solidFill>
                <a:latin typeface="汉仪中黑S" panose="00020600040101010101"/>
                <a:ea typeface="汉仪中黑S" panose="00020600040101010101"/>
              </a:rPr>
              <a:t>① 必须由字母、数字、下划线组成 ② 不能以数字开头 ③ 严格区分大小写 ④ 不能使用内置关键字</a:t>
            </a:r>
          </a:p>
        </p:txBody>
      </p:sp>
      <p:sp>
        <p:nvSpPr>
          <p:cNvPr id="13" name="矩形 12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solidFill>
                  <a:schemeClr val="tx1"/>
                </a:solidFill>
                <a:latin typeface="+mj-ea"/>
                <a:ea typeface="+mj-ea"/>
                <a:cs typeface="汉仪粗简黑简" panose="00020600040101010101" charset="-122"/>
                <a:sym typeface="+mn-ea"/>
              </a:rPr>
              <a:t>②</a:t>
            </a:r>
            <a:r>
              <a:rPr lang="en-US" altLang="zh-CN" sz="2000" b="1" dirty="0">
                <a:solidFill>
                  <a:schemeClr val="tx1"/>
                </a:solidFill>
                <a:latin typeface="+mj-ea"/>
                <a:ea typeface="+mj-ea"/>
                <a:cs typeface="汉仪粗简黑简" panose="00020600040101010101" charset="-122"/>
                <a:sym typeface="+mn-ea"/>
              </a:rPr>
              <a:t>Python</a:t>
            </a:r>
            <a:r>
              <a:rPr lang="zh-CN" altLang="en-US" sz="2000" b="1" dirty="0">
                <a:solidFill>
                  <a:schemeClr val="tx1"/>
                </a:solidFill>
                <a:latin typeface="+mj-ea"/>
                <a:ea typeface="+mj-ea"/>
                <a:cs typeface="汉仪粗简黑简" panose="00020600040101010101" charset="-122"/>
                <a:sym typeface="+mn-ea"/>
              </a:rPr>
              <a:t>中的变量</a:t>
            </a:r>
            <a:endParaRPr lang="en-US" altLang="zh-CN" sz="2000" b="1" dirty="0">
              <a:solidFill>
                <a:schemeClr val="tx1"/>
              </a:solidFill>
              <a:latin typeface="+mj-ea"/>
              <a:ea typeface="+mj-ea"/>
              <a:cs typeface="汉仪粗简黑简" panose="00020600040101010101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数据类型</a:t>
            </a: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③数据类型: 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Int &amp; Float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 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&amp; Boolean 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&amp; 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S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tring</a:t>
            </a: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881380" y="4730750"/>
            <a:ext cx="3540760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ts val="3145"/>
              </a:lnSpc>
              <a:buNone/>
            </a:pP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弱类型语言，使用</a:t>
            </a:r>
            <a:r>
              <a:rPr lang="en-US" altLang="zh-CN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Type</a:t>
            </a: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查看类型</a:t>
            </a:r>
          </a:p>
        </p:txBody>
      </p:sp>
      <p:sp>
        <p:nvSpPr>
          <p:cNvPr id="36" name="矩形: 圆角 35"/>
          <p:cNvSpPr/>
          <p:nvPr>
            <p:custDataLst>
              <p:tags r:id="rId8"/>
            </p:custDataLst>
          </p:nvPr>
        </p:nvSpPr>
        <p:spPr>
          <a:xfrm rot="18900000">
            <a:off x="1861863" y="2792498"/>
            <a:ext cx="1256102" cy="1256102"/>
          </a:xfrm>
          <a:prstGeom prst="roundRect">
            <a:avLst>
              <a:gd name="adj" fmla="val 35535"/>
            </a:avLst>
          </a:prstGeom>
          <a:solidFill>
            <a:srgbClr val="A4E3F4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1236464" y="4303207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数据类型实操</a:t>
            </a: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263140" y="3204845"/>
            <a:ext cx="452755" cy="4527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744086" y="3149187"/>
            <a:ext cx="6242050" cy="22764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zh-CN" altLang="en-US" sz="1400" dirty="0"/>
              <a:t>a = </a:t>
            </a:r>
            <a:r>
              <a:rPr lang="en-US" altLang="zh-CN" sz="1400" dirty="0"/>
              <a:t>9</a:t>
            </a:r>
            <a:endParaRPr lang="zh-CN" altLang="en-US" sz="1400" dirty="0"/>
          </a:p>
          <a:p>
            <a:pPr>
              <a:lnSpc>
                <a:spcPct val="100000"/>
              </a:lnSpc>
            </a:pPr>
            <a:r>
              <a:rPr lang="zh-CN" altLang="en-US" sz="1400" dirty="0"/>
              <a:t>b = </a:t>
            </a:r>
            <a:r>
              <a:rPr lang="en-US" altLang="zh-CN" sz="1400" dirty="0"/>
              <a:t>4</a:t>
            </a:r>
          </a:p>
          <a:p>
            <a:pPr>
              <a:lnSpc>
                <a:spcPct val="100000"/>
              </a:lnSpc>
            </a:pPr>
            <a:r>
              <a:rPr lang="en-US" altLang="zh-CN" sz="1400" dirty="0"/>
              <a:t>c = 3.56</a:t>
            </a:r>
          </a:p>
          <a:p>
            <a:pPr>
              <a:lnSpc>
                <a:spcPct val="100000"/>
              </a:lnSpc>
            </a:pPr>
            <a:r>
              <a:rPr lang="en-US" altLang="zh-CN" sz="1400" dirty="0"/>
              <a:t>d = True</a:t>
            </a:r>
            <a:endParaRPr lang="zh-CN" altLang="en-US" sz="1400" dirty="0"/>
          </a:p>
          <a:p>
            <a:pPr>
              <a:lnSpc>
                <a:spcPct val="100000"/>
              </a:lnSpc>
            </a:pPr>
            <a:r>
              <a:rPr lang="en-US" altLang="zh-CN" sz="1400" dirty="0"/>
              <a:t>e </a:t>
            </a:r>
            <a:r>
              <a:rPr lang="zh-CN" altLang="en-US" sz="1400" dirty="0"/>
              <a:t>= "Tom"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ym typeface="+mn-ea"/>
              </a:rPr>
              <a:t>print (</a:t>
            </a:r>
            <a:r>
              <a:rPr lang="en-US" altLang="zh-CN" sz="1400" dirty="0">
                <a:sym typeface="+mn-ea"/>
              </a:rPr>
              <a:t>type</a:t>
            </a:r>
            <a:r>
              <a:rPr lang="zh-CN" altLang="en-US" sz="1400" dirty="0"/>
              <a:t>(</a:t>
            </a:r>
            <a:r>
              <a:rPr lang="en-US" altLang="zh-CN" sz="1400" dirty="0"/>
              <a:t>a</a:t>
            </a:r>
            <a:r>
              <a:rPr lang="zh-CN" altLang="en-US" sz="1400" dirty="0"/>
              <a:t>)</a:t>
            </a:r>
            <a:r>
              <a:rPr lang="en-US" altLang="zh-CN" sz="1400" dirty="0"/>
              <a:t>)</a:t>
            </a:r>
          </a:p>
          <a:p>
            <a:r>
              <a:rPr lang="zh-CN" altLang="en-US" sz="1400" dirty="0">
                <a:sym typeface="+mn-ea"/>
              </a:rPr>
              <a:t>print (</a:t>
            </a:r>
            <a:r>
              <a:rPr lang="en-US" altLang="zh-CN" sz="1400" dirty="0">
                <a:sym typeface="+mn-ea"/>
              </a:rPr>
              <a:t>type</a:t>
            </a:r>
            <a:r>
              <a:rPr lang="zh-CN" altLang="en-US" sz="1400" dirty="0"/>
              <a:t>(</a:t>
            </a:r>
            <a:r>
              <a:rPr lang="en-US" altLang="zh-CN" sz="1400" dirty="0"/>
              <a:t>b</a:t>
            </a:r>
            <a:r>
              <a:rPr lang="zh-CN" altLang="en-US" sz="1400" dirty="0"/>
              <a:t>)</a:t>
            </a:r>
            <a:r>
              <a:rPr lang="en-US" altLang="zh-CN" sz="1400" dirty="0"/>
              <a:t>)</a:t>
            </a:r>
            <a:endParaRPr lang="zh-CN" altLang="en-US" sz="1400" dirty="0"/>
          </a:p>
          <a:p>
            <a:pPr>
              <a:lnSpc>
                <a:spcPct val="100000"/>
              </a:lnSpc>
            </a:pPr>
            <a:r>
              <a:rPr lang="zh-CN" altLang="en-US" sz="1400" dirty="0">
                <a:sym typeface="+mn-ea"/>
              </a:rPr>
              <a:t>print (</a:t>
            </a:r>
            <a:r>
              <a:rPr lang="en-US" altLang="zh-CN" sz="1400" dirty="0">
                <a:sym typeface="+mn-ea"/>
              </a:rPr>
              <a:t>type</a:t>
            </a:r>
            <a:r>
              <a:rPr lang="zh-CN" altLang="en-US" sz="1400" dirty="0">
                <a:sym typeface="+mn-ea"/>
              </a:rPr>
              <a:t>(</a:t>
            </a:r>
            <a:r>
              <a:rPr lang="en-US" altLang="zh-CN" sz="1400" dirty="0">
                <a:sym typeface="+mn-ea"/>
              </a:rPr>
              <a:t>c</a:t>
            </a:r>
            <a:r>
              <a:rPr lang="zh-CN" altLang="en-US" sz="1400" dirty="0">
                <a:sym typeface="+mn-ea"/>
              </a:rPr>
              <a:t>)</a:t>
            </a:r>
            <a:r>
              <a:rPr lang="en-US" altLang="zh-CN" sz="1400" dirty="0">
                <a:sym typeface="+mn-ea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en-US" altLang="zh-CN" sz="1400" dirty="0">
                <a:sym typeface="+mn-ea"/>
              </a:rPr>
              <a:t>print (type(d))</a:t>
            </a:r>
            <a:endParaRPr lang="zh-CN" altLang="en-US" sz="1600" dirty="0"/>
          </a:p>
          <a:p>
            <a:pPr>
              <a:lnSpc>
                <a:spcPct val="100000"/>
              </a:lnSpc>
            </a:pPr>
            <a:endParaRPr lang="zh-CN" altLang="en-US" sz="1600" dirty="0"/>
          </a:p>
        </p:txBody>
      </p:sp>
      <p:sp>
        <p:nvSpPr>
          <p:cNvPr id="6" name="椭圆 5"/>
          <p:cNvSpPr/>
          <p:nvPr/>
        </p:nvSpPr>
        <p:spPr>
          <a:xfrm>
            <a:off x="7381187" y="2749166"/>
            <a:ext cx="3098449" cy="29446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汉仪中黑S"/>
              </a:rPr>
              <a:t>+ - *乘法 /除法 //整除 </a:t>
            </a:r>
            <a:endParaRPr lang="en-US" altLang="zh-CN" sz="1400" dirty="0">
              <a:solidFill>
                <a:srgbClr val="FF0000"/>
              </a:solidFill>
              <a:latin typeface="汉仪中黑S"/>
            </a:endParaRP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汉仪中黑S"/>
              </a:rPr>
              <a:t>幂 %取模</a:t>
            </a:r>
            <a:endParaRPr lang="en-US" altLang="zh-CN" sz="1400" dirty="0">
              <a:solidFill>
                <a:srgbClr val="FF0000"/>
              </a:solidFill>
              <a:latin typeface="汉仪中黑S"/>
            </a:endParaRPr>
          </a:p>
          <a:p>
            <a:pPr>
              <a:lnSpc>
                <a:spcPct val="100000"/>
              </a:lnSpc>
            </a:pPr>
            <a:endParaRPr lang="zh-CN" altLang="en-US" sz="1400" dirty="0">
              <a:solidFill>
                <a:srgbClr val="FF0000"/>
              </a:solidFill>
              <a:latin typeface="汉仪中黑S"/>
            </a:endParaRPr>
          </a:p>
          <a:p>
            <a:pPr>
              <a:lnSpc>
                <a:spcPct val="100000"/>
              </a:lnSpc>
            </a:pPr>
            <a:r>
              <a:rPr lang="zh-CN" altLang="en-US" sz="1200" dirty="0">
                <a:latin typeface="汉仪中黑S"/>
              </a:rPr>
              <a:t>print (a + b)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latin typeface="汉仪中黑S"/>
              </a:rPr>
              <a:t>print (</a:t>
            </a:r>
            <a:r>
              <a:rPr lang="en-US" altLang="zh-CN" sz="1200" dirty="0">
                <a:latin typeface="汉仪中黑S"/>
              </a:rPr>
              <a:t>a</a:t>
            </a:r>
            <a:r>
              <a:rPr lang="zh-CN" altLang="en-US" sz="1200" dirty="0">
                <a:latin typeface="汉仪中黑S"/>
              </a:rPr>
              <a:t> </a:t>
            </a:r>
            <a:r>
              <a:rPr lang="en-US" altLang="zh-CN" sz="1200" dirty="0">
                <a:latin typeface="汉仪中黑S"/>
              </a:rPr>
              <a:t>- b</a:t>
            </a:r>
            <a:r>
              <a:rPr lang="zh-CN" altLang="en-US" sz="1200" dirty="0">
                <a:latin typeface="汉仪中黑S"/>
              </a:rPr>
              <a:t>)</a:t>
            </a:r>
          </a:p>
          <a:p>
            <a:pPr>
              <a:lnSpc>
                <a:spcPct val="100000"/>
              </a:lnSpc>
            </a:pPr>
            <a:r>
              <a:rPr lang="zh-CN" altLang="en-US" sz="1200" dirty="0">
                <a:latin typeface="汉仪中黑S"/>
              </a:rPr>
              <a:t>print (</a:t>
            </a:r>
            <a:r>
              <a:rPr lang="en-US" altLang="zh-CN" sz="1200" dirty="0">
                <a:latin typeface="汉仪中黑S"/>
              </a:rPr>
              <a:t>a * b</a:t>
            </a:r>
            <a:r>
              <a:rPr lang="zh-CN" altLang="en-US" sz="1200" dirty="0">
                <a:latin typeface="汉仪中黑S"/>
              </a:rPr>
              <a:t>)</a:t>
            </a:r>
            <a:endParaRPr lang="en-US" altLang="zh-CN" sz="1200" dirty="0">
              <a:latin typeface="汉仪中黑S"/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latin typeface="汉仪中黑S"/>
              </a:rPr>
              <a:t>print (a / b)</a:t>
            </a:r>
            <a:endParaRPr lang="zh-CN" altLang="en-US" sz="1200" dirty="0">
              <a:latin typeface="汉仪中黑S"/>
            </a:endParaRPr>
          </a:p>
          <a:p>
            <a:pPr>
              <a:lnSpc>
                <a:spcPct val="100000"/>
              </a:lnSpc>
            </a:pPr>
            <a:r>
              <a:rPr lang="zh-CN" altLang="en-US" sz="1200" dirty="0">
                <a:latin typeface="汉仪中黑S"/>
              </a:rPr>
              <a:t>print (</a:t>
            </a:r>
            <a:r>
              <a:rPr lang="en-US" altLang="zh-CN" sz="1200" dirty="0">
                <a:latin typeface="汉仪中黑S"/>
              </a:rPr>
              <a:t>a</a:t>
            </a:r>
            <a:r>
              <a:rPr lang="zh-CN" altLang="en-US" sz="1200" dirty="0">
                <a:latin typeface="汉仪中黑S"/>
              </a:rPr>
              <a:t> // </a:t>
            </a:r>
            <a:r>
              <a:rPr lang="en-US" altLang="zh-CN" sz="1200" dirty="0">
                <a:latin typeface="汉仪中黑S"/>
              </a:rPr>
              <a:t>b</a:t>
            </a:r>
            <a:r>
              <a:rPr lang="zh-CN" altLang="en-US" sz="1200" dirty="0">
                <a:latin typeface="汉仪中黑S"/>
              </a:rPr>
              <a:t>)</a:t>
            </a:r>
            <a:endParaRPr lang="en-US" altLang="zh-CN" sz="1200" dirty="0">
              <a:latin typeface="汉仪中黑S"/>
            </a:endParaRPr>
          </a:p>
          <a:p>
            <a:pPr>
              <a:lnSpc>
                <a:spcPct val="100000"/>
              </a:lnSpc>
            </a:pPr>
            <a:r>
              <a:rPr lang="en-US" altLang="zh-CN" sz="1200" dirty="0">
                <a:latin typeface="汉仪中黑S"/>
              </a:rPr>
              <a:t>print (a % b)</a:t>
            </a:r>
            <a:endParaRPr lang="zh-CN" altLang="en-US" sz="1200" dirty="0">
              <a:latin typeface="汉仪中黑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Python输入和输出</a:t>
            </a: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举例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④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Python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输入与输出</a:t>
            </a: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881380" y="4730750"/>
            <a:ext cx="3540760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 algn="ctr">
              <a:lnSpc>
                <a:spcPts val="3145"/>
              </a:lnSpc>
              <a:buNone/>
            </a:pPr>
            <a:r>
              <a:rPr lang="en-US" altLang="zh-CN" sz="12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input</a:t>
            </a:r>
            <a:r>
              <a:rPr lang="zh-CN" sz="12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输入，</a:t>
            </a:r>
            <a:r>
              <a:rPr lang="en-US" altLang="zh-CN" sz="12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output</a:t>
            </a:r>
            <a:r>
              <a:rPr lang="zh-CN" altLang="en-US" sz="12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输出</a:t>
            </a:r>
          </a:p>
          <a:p>
            <a:pPr marL="0" indent="0" algn="ctr">
              <a:lnSpc>
                <a:spcPts val="3145"/>
              </a:lnSpc>
              <a:buNone/>
            </a:pPr>
            <a:endParaRPr lang="zh-CN" altLang="en-US" sz="1200" b="1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6" name="矩形: 圆角 35"/>
          <p:cNvSpPr/>
          <p:nvPr>
            <p:custDataLst>
              <p:tags r:id="rId8"/>
            </p:custDataLst>
          </p:nvPr>
        </p:nvSpPr>
        <p:spPr>
          <a:xfrm rot="18900000">
            <a:off x="1861863" y="2792498"/>
            <a:ext cx="1256102" cy="1256102"/>
          </a:xfrm>
          <a:prstGeom prst="roundRect">
            <a:avLst>
              <a:gd name="adj" fmla="val 35535"/>
            </a:avLst>
          </a:prstGeom>
          <a:solidFill>
            <a:srgbClr val="A4E3F4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1236464" y="4303207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/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Python</a:t>
            </a: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输入，输出</a:t>
            </a:r>
            <a:endParaRPr lang="zh-CN" altLang="en-US" sz="1200" b="1" spc="300" noProof="0">
              <a:ln>
                <a:noFill/>
              </a:ln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263140" y="3204845"/>
            <a:ext cx="452755" cy="45275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4046220" y="2287270"/>
            <a:ext cx="7447915" cy="2836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 algn="l">
              <a:lnSpc>
                <a:spcPts val="3145"/>
              </a:lnSpc>
              <a:buNone/>
            </a:pPr>
            <a:r>
              <a:rPr sz="1200" b="1" dirty="0" err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语法</a:t>
            </a:r>
            <a:r>
              <a:rPr sz="12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 1：&lt;</a:t>
            </a:r>
            <a:r>
              <a:rPr sz="1200" b="1" dirty="0" err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变量</a:t>
            </a:r>
            <a:r>
              <a:rPr sz="12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&gt;=input([&lt;</a:t>
            </a:r>
            <a:r>
              <a:rPr sz="1200" b="1" dirty="0" err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提示</a:t>
            </a:r>
            <a:r>
              <a:rPr sz="12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&gt;])</a:t>
            </a:r>
          </a:p>
          <a:p>
            <a:pPr marL="0" indent="0" algn="l">
              <a:lnSpc>
                <a:spcPts val="3145"/>
              </a:lnSpc>
              <a:buNone/>
            </a:pPr>
            <a:r>
              <a:rPr lang="en-US" sz="12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</a:t>
            </a:r>
            <a:r>
              <a:rPr sz="12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ython3 </a:t>
            </a:r>
            <a:r>
              <a:rPr sz="1200" b="1" dirty="0" err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中从键盘输入的均为</a:t>
            </a:r>
            <a:r>
              <a:rPr sz="12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 string </a:t>
            </a:r>
            <a:r>
              <a:rPr sz="1200" b="1" dirty="0" err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字符串类型，如果需要整形或浮点型需要强转</a:t>
            </a:r>
            <a:endParaRPr lang="zh-CN" altLang="en-US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a=int(input("请输入整数~"))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b=float(input("请输入浮点数"))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print(a,b)</a:t>
            </a:r>
          </a:p>
          <a:p>
            <a:pPr>
              <a:lnSpc>
                <a:spcPct val="150000"/>
              </a:lnSpc>
            </a:pPr>
            <a:endParaRPr lang="zh-CN" altLang="en-US" sz="1200" dirty="0"/>
          </a:p>
          <a:p>
            <a:pPr>
              <a:lnSpc>
                <a:spcPct val="150000"/>
              </a:lnSpc>
            </a:pPr>
            <a:r>
              <a:rPr lang="zh-CN" altLang="en-US" sz="1200" dirty="0"/>
              <a:t>语法 2：print(&lt;输出项列表&gt;，sep=分隔符，end=结束符)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代码 2:</a:t>
            </a:r>
          </a:p>
          <a:p>
            <a:pPr>
              <a:lnSpc>
                <a:spcPct val="150000"/>
              </a:lnSpc>
            </a:pPr>
            <a:r>
              <a:rPr lang="zh-CN" altLang="en-US" sz="1200" dirty="0"/>
              <a:t>print("Sun","Mon","Tue", "</a:t>
            </a:r>
            <a:r>
              <a:rPr lang="en-US" altLang="zh-CN" sz="1200" dirty="0"/>
              <a:t>Wed</a:t>
            </a:r>
            <a:r>
              <a:rPr lang="zh-CN" altLang="en-US" sz="1200" dirty="0"/>
              <a:t>",sep=',',end=';')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122295" y="627380"/>
            <a:ext cx="5940425" cy="5603240"/>
            <a:chOff x="5080" y="988"/>
            <a:chExt cx="9038" cy="88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组合 10"/>
            <p:cNvGrpSpPr/>
            <p:nvPr/>
          </p:nvGrpSpPr>
          <p:grpSpPr>
            <a:xfrm>
              <a:off x="5080" y="988"/>
              <a:ext cx="9039" cy="8825"/>
              <a:chOff x="5348" y="1147"/>
              <a:chExt cx="8504" cy="8506"/>
            </a:xfrm>
            <a:gradFill>
              <a:gsLst>
                <a:gs pos="0">
                  <a:schemeClr val="bg1"/>
                </a:gs>
                <a:gs pos="50000">
                  <a:schemeClr val="tx2">
                    <a:lumMod val="10000"/>
                    <a:lumOff val="9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5400000" scaled="0"/>
            </a:gradFill>
          </p:grpSpPr>
          <p:grpSp>
            <p:nvGrpSpPr>
              <p:cNvPr id="12" name="组合 11"/>
              <p:cNvGrpSpPr/>
              <p:nvPr/>
            </p:nvGrpSpPr>
            <p:grpSpPr>
              <a:xfrm>
                <a:off x="5348" y="1148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3" name="流程图: 终止 12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流程图: 终止 13"/>
                <p:cNvSpPr/>
                <p:nvPr>
                  <p:custDataLst>
                    <p:tags r:id="rId16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 rot="270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6" name="流程图: 终止 15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流程图: 终止 16"/>
                <p:cNvSpPr/>
                <p:nvPr>
                  <p:custDataLst>
                    <p:tags r:id="rId14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rot="1380000">
                <a:off x="5348" y="1147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6" name="流程图: 终止 25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流程图: 终止 26"/>
                <p:cNvSpPr/>
                <p:nvPr>
                  <p:custDataLst>
                    <p:tags r:id="rId12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 rot="2022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9" name="流程图: 终止 2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流程图: 终止 29"/>
                <p:cNvSpPr/>
                <p:nvPr>
                  <p:custDataLst>
                    <p:tags r:id="rId10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1" name="椭圆 30"/>
            <p:cNvSpPr/>
            <p:nvPr>
              <p:custDataLst>
                <p:tags r:id="rId7"/>
              </p:custDataLst>
            </p:nvPr>
          </p:nvSpPr>
          <p:spPr>
            <a:xfrm>
              <a:off x="5501" y="1400"/>
              <a:ext cx="8195" cy="799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5828" y="1633"/>
              <a:ext cx="7540" cy="754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0" name="直接连接符 39"/>
          <p:cNvCxnSpPr>
            <a:cxnSpLocks noChangeAspect="1"/>
          </p:cNvCxnSpPr>
          <p:nvPr>
            <p:custDataLst>
              <p:tags r:id="rId1"/>
            </p:custDataLst>
          </p:nvPr>
        </p:nvCxnSpPr>
        <p:spPr>
          <a:xfrm>
            <a:off x="1656080" y="911225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cxnSpLocks noChangeAspect="1"/>
          </p:cNvCxnSpPr>
          <p:nvPr>
            <p:custDataLst>
              <p:tags r:id="rId2"/>
            </p:custDataLst>
          </p:nvPr>
        </p:nvCxnSpPr>
        <p:spPr>
          <a:xfrm>
            <a:off x="1221740" y="1014095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368040" y="3105785"/>
            <a:ext cx="5448935" cy="1114425"/>
            <a:chOff x="5304" y="5005"/>
            <a:chExt cx="8581" cy="1755"/>
          </a:xfrm>
        </p:grpSpPr>
        <p:sp>
          <p:nvSpPr>
            <p:cNvPr id="44" name="文本框 43"/>
            <p:cNvSpPr txBox="1"/>
            <p:nvPr>
              <p:custDataLst>
                <p:tags r:id="rId5"/>
              </p:custDataLst>
            </p:nvPr>
          </p:nvSpPr>
          <p:spPr>
            <a:xfrm>
              <a:off x="6186" y="6326"/>
              <a:ext cx="683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站酷快乐体" panose="02010600030101010101" charset="-128"/>
                  <a:ea typeface="宋体" panose="02010600030101010101" pitchFamily="2" charset="-122"/>
                  <a:cs typeface="汉仪中黑S" panose="00020600040101010101" charset="-122"/>
                  <a:sym typeface="+mn-ea"/>
                </a:rPr>
                <a:t>核心步骤</a:t>
              </a:r>
            </a:p>
          </p:txBody>
        </p:sp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5304" y="5005"/>
              <a:ext cx="8581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Python</a:t>
              </a:r>
              <a:r>
                <a:rPr lang="zh-CN" altLang="en-US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中的选择结构</a:t>
              </a:r>
              <a:endParaRPr lang="zh-CN" altLang="en-US" sz="3600" b="1" dirty="0">
                <a:solidFill>
                  <a:srgbClr val="C00000"/>
                </a:solidFill>
                <a:effectLst/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endParaRPr>
            </a:p>
          </p:txBody>
        </p:sp>
      </p:grpSp>
      <p:cxnSp>
        <p:nvCxnSpPr>
          <p:cNvPr id="42" name="直接连接符 41"/>
          <p:cNvCxnSpPr>
            <a:cxnSpLocks noChangeAspect="1"/>
          </p:cNvCxnSpPr>
          <p:nvPr>
            <p:custDataLst>
              <p:tags r:id="rId3"/>
            </p:custDataLst>
          </p:nvPr>
        </p:nvCxnSpPr>
        <p:spPr>
          <a:xfrm>
            <a:off x="9115425" y="4871720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cxnSpLocks noChangeAspect="1"/>
          </p:cNvCxnSpPr>
          <p:nvPr>
            <p:custDataLst>
              <p:tags r:id="rId4"/>
            </p:custDataLst>
          </p:nvPr>
        </p:nvCxnSpPr>
        <p:spPr>
          <a:xfrm>
            <a:off x="10128250" y="5591810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中的流程结构</a:t>
            </a:r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①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Python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流程结构</a:t>
            </a:r>
            <a:endParaRPr lang="en-US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40" name="圆角矩形 39"/>
          <p:cNvSpPr/>
          <p:nvPr>
            <p:custDataLst>
              <p:tags r:id="rId7"/>
            </p:custDataLst>
          </p:nvPr>
        </p:nvSpPr>
        <p:spPr>
          <a:xfrm>
            <a:off x="7905091" y="3507255"/>
            <a:ext cx="1931988" cy="2344951"/>
          </a:xfrm>
          <a:prstGeom prst="roundRect">
            <a:avLst>
              <a:gd name="adj" fmla="val 3995"/>
            </a:avLst>
          </a:prstGeom>
          <a:noFill/>
          <a:ln>
            <a:gradFill>
              <a:gsLst>
                <a:gs pos="10000">
                  <a:schemeClr val="accent3">
                    <a:lumMod val="20000"/>
                    <a:lumOff val="80000"/>
                    <a:alpha val="0"/>
                  </a:schemeClr>
                </a:gs>
                <a:gs pos="74000">
                  <a:schemeClr val="accent3">
                    <a:lumMod val="40000"/>
                    <a:lumOff val="60000"/>
                  </a:schemeClr>
                </a:gs>
              </a:gsLst>
              <a:lin ang="162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>
            <p:custDataLst>
              <p:tags r:id="rId8"/>
            </p:custDataLst>
          </p:nvPr>
        </p:nvSpPr>
        <p:spPr>
          <a:xfrm>
            <a:off x="2710944" y="3507255"/>
            <a:ext cx="1931988" cy="2344951"/>
          </a:xfrm>
          <a:prstGeom prst="roundRect">
            <a:avLst>
              <a:gd name="adj" fmla="val 2962"/>
            </a:avLst>
          </a:prstGeom>
          <a:noFill/>
          <a:ln w="6350">
            <a:gradFill>
              <a:gsLst>
                <a:gs pos="10000">
                  <a:schemeClr val="accent1">
                    <a:lumMod val="20000"/>
                    <a:lumOff val="80000"/>
                    <a:alpha val="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>
            <p:custDataLst>
              <p:tags r:id="rId9"/>
            </p:custDataLst>
          </p:nvPr>
        </p:nvSpPr>
        <p:spPr>
          <a:xfrm>
            <a:off x="5312110" y="3507255"/>
            <a:ext cx="1931988" cy="2344951"/>
          </a:xfrm>
          <a:prstGeom prst="roundRect">
            <a:avLst>
              <a:gd name="adj" fmla="val 3995"/>
            </a:avLst>
          </a:prstGeom>
          <a:noFill/>
          <a:ln>
            <a:gradFill>
              <a:gsLst>
                <a:gs pos="10000">
                  <a:schemeClr val="accent2">
                    <a:lumMod val="20000"/>
                    <a:lumOff val="80000"/>
                    <a:alpha val="0"/>
                  </a:schemeClr>
                </a:gs>
                <a:gs pos="74000">
                  <a:schemeClr val="accent2">
                    <a:lumMod val="40000"/>
                    <a:lumOff val="60000"/>
                  </a:schemeClr>
                </a:gs>
              </a:gsLst>
              <a:lin ang="162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>
            <p:custDataLst>
              <p:tags r:id="rId10"/>
            </p:custDataLst>
          </p:nvPr>
        </p:nvSpPr>
        <p:spPr>
          <a:xfrm rot="10800000">
            <a:off x="3117612" y="3121990"/>
            <a:ext cx="1103544" cy="1103544"/>
          </a:xfrm>
          <a:prstGeom prst="roundRect">
            <a:avLst>
              <a:gd name="adj" fmla="val 7602"/>
            </a:avLst>
          </a:prstGeom>
          <a:noFill/>
          <a:ln w="25400">
            <a:solidFill>
              <a:schemeClr val="accent1"/>
            </a:solidFill>
          </a:ln>
          <a:scene3d>
            <a:camera prst="isometricBottomDown"/>
            <a:lightRig rig="threePt" dir="t"/>
          </a:scene3d>
          <a:sp3d z="-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44" name="圆角矩形 43"/>
          <p:cNvSpPr/>
          <p:nvPr>
            <p:custDataLst>
              <p:tags r:id="rId11"/>
            </p:custDataLst>
          </p:nvPr>
        </p:nvSpPr>
        <p:spPr>
          <a:xfrm rot="10800000">
            <a:off x="3117612" y="2868295"/>
            <a:ext cx="1103544" cy="1103544"/>
          </a:xfrm>
          <a:prstGeom prst="roundRect">
            <a:avLst>
              <a:gd name="adj" fmla="val 7602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70000">
                <a:schemeClr val="accent1"/>
              </a:gs>
            </a:gsLst>
            <a:lin ang="2400000" scaled="0"/>
          </a:gradFill>
          <a:ln w="25400">
            <a:solidFill>
              <a:schemeClr val="bg1"/>
            </a:solidFill>
          </a:ln>
          <a:effectLst>
            <a:outerShdw blurRad="190500" dist="2032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  <a:scene3d>
            <a:camera prst="isometricBottomDown"/>
            <a:lightRig rig="contrasting" dir="t">
              <a:rot lat="0" lon="0" rev="0"/>
            </a:lightRig>
          </a:scene3d>
          <a:sp3d extrusionH="127000" prstMaterial="matte">
            <a:extrusionClr>
              <a:schemeClr val="accent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45" name="序号"/>
          <p:cNvSpPr txBox="1"/>
          <p:nvPr>
            <p:custDataLst>
              <p:tags r:id="rId12"/>
            </p:custDataLst>
          </p:nvPr>
        </p:nvSpPr>
        <p:spPr>
          <a:xfrm>
            <a:off x="3356829" y="3188719"/>
            <a:ext cx="624561" cy="4639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+mj-ea"/>
                <a:ea typeface="+mj-ea"/>
              </a:rPr>
              <a:t>01</a:t>
            </a:r>
          </a:p>
        </p:txBody>
      </p:sp>
      <p:sp>
        <p:nvSpPr>
          <p:cNvPr id="46" name="正文"/>
          <p:cNvSpPr txBox="1"/>
          <p:nvPr>
            <p:custDataLst>
              <p:tags r:id="rId13"/>
            </p:custDataLst>
          </p:nvPr>
        </p:nvSpPr>
        <p:spPr>
          <a:xfrm>
            <a:off x="2792781" y="4617093"/>
            <a:ext cx="1753836" cy="1185381"/>
          </a:xfrm>
          <a:prstGeom prst="rect">
            <a:avLst/>
          </a:prstGeom>
          <a:noFill/>
        </p:spPr>
        <p:txBody>
          <a:bodyPr wrap="square" lIns="71755" tIns="0" rIns="71755" bIns="0" rtlCol="0" anchor="t" anchorCtr="0">
            <a:normAutofit/>
          </a:bodyPr>
          <a:lstStyle/>
          <a:p>
            <a:pPr indent="0" algn="ctr" fontAlgn="auto">
              <a:lnSpc>
                <a:spcPct val="130000"/>
              </a:lnSpc>
            </a:pPr>
            <a:r>
              <a:rPr lang="zh-CN" altLang="en-US" sz="140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顺序结构</a:t>
            </a:r>
          </a:p>
        </p:txBody>
      </p:sp>
      <p:sp>
        <p:nvSpPr>
          <p:cNvPr id="47" name="圆角矩形 46"/>
          <p:cNvSpPr/>
          <p:nvPr>
            <p:custDataLst>
              <p:tags r:id="rId14"/>
            </p:custDataLst>
          </p:nvPr>
        </p:nvSpPr>
        <p:spPr>
          <a:xfrm rot="10800000">
            <a:off x="5718778" y="3121990"/>
            <a:ext cx="1103544" cy="1104173"/>
          </a:xfrm>
          <a:prstGeom prst="roundRect">
            <a:avLst>
              <a:gd name="adj" fmla="val 7602"/>
            </a:avLst>
          </a:prstGeom>
          <a:noFill/>
          <a:ln w="25400">
            <a:solidFill>
              <a:schemeClr val="accent2"/>
            </a:solidFill>
          </a:ln>
          <a:scene3d>
            <a:camera prst="isometricBottomDown"/>
            <a:lightRig rig="threePt" dir="t"/>
          </a:scene3d>
          <a:sp3d z="-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48" name="圆角矩形 47"/>
          <p:cNvSpPr/>
          <p:nvPr>
            <p:custDataLst>
              <p:tags r:id="rId15"/>
            </p:custDataLst>
          </p:nvPr>
        </p:nvSpPr>
        <p:spPr>
          <a:xfrm rot="10800000">
            <a:off x="5718778" y="2868295"/>
            <a:ext cx="1103544" cy="1104173"/>
          </a:xfrm>
          <a:prstGeom prst="roundRect">
            <a:avLst>
              <a:gd name="adj" fmla="val 7602"/>
            </a:avLst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70000">
                <a:schemeClr val="accent2"/>
              </a:gs>
            </a:gsLst>
            <a:lin ang="2400000" scaled="0"/>
          </a:gradFill>
          <a:ln w="25400">
            <a:solidFill>
              <a:schemeClr val="bg1"/>
            </a:solidFill>
          </a:ln>
          <a:effectLst>
            <a:outerShdw blurRad="342900" dist="203200" dir="2700000" algn="tl" rotWithShape="0">
              <a:schemeClr val="accent2">
                <a:lumMod val="60000"/>
                <a:lumOff val="40000"/>
                <a:alpha val="40000"/>
              </a:schemeClr>
            </a:outerShdw>
          </a:effectLst>
          <a:scene3d>
            <a:camera prst="isometricBottomDown"/>
            <a:lightRig rig="contrasting" dir="t">
              <a:rot lat="0" lon="0" rev="0"/>
            </a:lightRig>
          </a:scene3d>
          <a:sp3d extrusionH="127000" prstMaterial="matte">
            <a:extrusionClr>
              <a:schemeClr val="accent2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49" name="序号"/>
          <p:cNvSpPr txBox="1"/>
          <p:nvPr>
            <p:custDataLst>
              <p:tags r:id="rId16"/>
            </p:custDataLst>
          </p:nvPr>
        </p:nvSpPr>
        <p:spPr>
          <a:xfrm>
            <a:off x="5957995" y="3188719"/>
            <a:ext cx="624561" cy="4639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+mj-ea"/>
                <a:ea typeface="+mj-ea"/>
              </a:rPr>
              <a:t>02</a:t>
            </a:r>
          </a:p>
        </p:txBody>
      </p:sp>
      <p:sp>
        <p:nvSpPr>
          <p:cNvPr id="50" name="正文"/>
          <p:cNvSpPr txBox="1"/>
          <p:nvPr>
            <p:custDataLst>
              <p:tags r:id="rId17"/>
            </p:custDataLst>
          </p:nvPr>
        </p:nvSpPr>
        <p:spPr>
          <a:xfrm>
            <a:off x="5393947" y="4617093"/>
            <a:ext cx="1753836" cy="1185381"/>
          </a:xfrm>
          <a:prstGeom prst="rect">
            <a:avLst/>
          </a:prstGeom>
          <a:noFill/>
        </p:spPr>
        <p:txBody>
          <a:bodyPr wrap="square" lIns="71755" tIns="0" rIns="71755" bIns="0" rtlCol="0" anchor="t" anchorCtr="0">
            <a:normAutofit/>
          </a:bodyPr>
          <a:lstStyle/>
          <a:p>
            <a:pPr indent="0" algn="ctr" fontAlgn="auto">
              <a:lnSpc>
                <a:spcPct val="130000"/>
              </a:lnSpc>
            </a:pPr>
            <a:r>
              <a:rPr lang="zh-CN" altLang="en-US" sz="14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选择结构</a:t>
            </a:r>
          </a:p>
        </p:txBody>
      </p:sp>
      <p:sp>
        <p:nvSpPr>
          <p:cNvPr id="51" name="圆角矩形 50"/>
          <p:cNvSpPr/>
          <p:nvPr>
            <p:custDataLst>
              <p:tags r:id="rId18"/>
            </p:custDataLst>
          </p:nvPr>
        </p:nvSpPr>
        <p:spPr>
          <a:xfrm rot="10800000">
            <a:off x="8319942" y="3121990"/>
            <a:ext cx="1103544" cy="1104173"/>
          </a:xfrm>
          <a:prstGeom prst="roundRect">
            <a:avLst>
              <a:gd name="adj" fmla="val 7602"/>
            </a:avLst>
          </a:prstGeom>
          <a:noFill/>
          <a:ln w="25400">
            <a:solidFill>
              <a:schemeClr val="accent3"/>
            </a:solidFill>
          </a:ln>
          <a:scene3d>
            <a:camera prst="isometricBottomDown"/>
            <a:lightRig rig="threePt" dir="t"/>
          </a:scene3d>
          <a:sp3d z="-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2" name="圆角矩形 51"/>
          <p:cNvSpPr/>
          <p:nvPr>
            <p:custDataLst>
              <p:tags r:id="rId19"/>
            </p:custDataLst>
          </p:nvPr>
        </p:nvSpPr>
        <p:spPr>
          <a:xfrm rot="10800000">
            <a:off x="8319942" y="2868295"/>
            <a:ext cx="1103544" cy="1104173"/>
          </a:xfrm>
          <a:prstGeom prst="roundRect">
            <a:avLst>
              <a:gd name="adj" fmla="val 7602"/>
            </a:avLst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70000">
                <a:schemeClr val="accent3"/>
              </a:gs>
            </a:gsLst>
            <a:lin ang="2400000" scaled="0"/>
          </a:gradFill>
          <a:ln w="25400">
            <a:solidFill>
              <a:schemeClr val="bg1"/>
            </a:solidFill>
          </a:ln>
          <a:effectLst>
            <a:outerShdw blurRad="190500" dist="203200" dir="2700000" algn="tl" rotWithShape="0">
              <a:schemeClr val="accent3">
                <a:lumMod val="60000"/>
                <a:lumOff val="40000"/>
                <a:alpha val="40000"/>
              </a:schemeClr>
            </a:outerShdw>
          </a:effectLst>
          <a:scene3d>
            <a:camera prst="isometricBottomDown"/>
            <a:lightRig rig="contrasting" dir="t">
              <a:rot lat="0" lon="0" rev="0"/>
            </a:lightRig>
          </a:scene3d>
          <a:sp3d extrusionH="127000" prstMaterial="matte">
            <a:extrusionClr>
              <a:schemeClr val="accent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53" name="序号"/>
          <p:cNvSpPr txBox="1"/>
          <p:nvPr>
            <p:custDataLst>
              <p:tags r:id="rId20"/>
            </p:custDataLst>
          </p:nvPr>
        </p:nvSpPr>
        <p:spPr>
          <a:xfrm>
            <a:off x="8559159" y="3188719"/>
            <a:ext cx="624561" cy="4639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+mj-ea"/>
                <a:ea typeface="+mj-ea"/>
              </a:rPr>
              <a:t>03</a:t>
            </a:r>
          </a:p>
        </p:txBody>
      </p:sp>
      <p:sp>
        <p:nvSpPr>
          <p:cNvPr id="54" name="正文"/>
          <p:cNvSpPr txBox="1"/>
          <p:nvPr>
            <p:custDataLst>
              <p:tags r:id="rId21"/>
            </p:custDataLst>
          </p:nvPr>
        </p:nvSpPr>
        <p:spPr>
          <a:xfrm>
            <a:off x="7995111" y="4617093"/>
            <a:ext cx="1753836" cy="1185381"/>
          </a:xfrm>
          <a:prstGeom prst="rect">
            <a:avLst/>
          </a:prstGeom>
          <a:noFill/>
        </p:spPr>
        <p:txBody>
          <a:bodyPr wrap="square" lIns="71755" tIns="0" rIns="71755" bIns="0" rtlCol="0" anchor="t" anchorCtr="0">
            <a:normAutofit/>
          </a:bodyPr>
          <a:lstStyle/>
          <a:p>
            <a:pPr indent="0" algn="ctr" fontAlgn="auto">
              <a:lnSpc>
                <a:spcPct val="130000"/>
              </a:lnSpc>
            </a:pPr>
            <a:r>
              <a:rPr lang="zh-CN" altLang="en-US" sz="140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循环结构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中的流程结构</a:t>
            </a:r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②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Python</a:t>
            </a:r>
            <a:r>
              <a:rPr lang="zh-CN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选择结构</a:t>
            </a:r>
          </a:p>
        </p:txBody>
      </p:sp>
      <p:sp>
        <p:nvSpPr>
          <p:cNvPr id="55" name="矩形: 圆角 35"/>
          <p:cNvSpPr/>
          <p:nvPr>
            <p:custDataLst>
              <p:tags r:id="rId7"/>
            </p:custDataLst>
          </p:nvPr>
        </p:nvSpPr>
        <p:spPr>
          <a:xfrm rot="18900000">
            <a:off x="2126658" y="2996333"/>
            <a:ext cx="1256102" cy="1256102"/>
          </a:xfrm>
          <a:prstGeom prst="roundRect">
            <a:avLst>
              <a:gd name="adj" fmla="val 35535"/>
            </a:avLst>
          </a:prstGeom>
          <a:solidFill>
            <a:srgbClr val="A4E3F4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56" name="文本框 55"/>
          <p:cNvSpPr txBox="1"/>
          <p:nvPr>
            <p:custDataLst>
              <p:tags r:id="rId8"/>
            </p:custDataLst>
          </p:nvPr>
        </p:nvSpPr>
        <p:spPr>
          <a:xfrm>
            <a:off x="1501259" y="4507042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if</a:t>
            </a:r>
            <a:r>
              <a:rPr lang="zh-CN" altLang="en-US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选择结构</a:t>
            </a:r>
          </a:p>
        </p:txBody>
      </p:sp>
      <p:pic>
        <p:nvPicPr>
          <p:cNvPr id="57" name="图片 56" descr="343435383139363b333635383830313bcdbccae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527935" y="3408680"/>
            <a:ext cx="452755" cy="452755"/>
          </a:xfrm>
          <a:prstGeom prst="rect">
            <a:avLst/>
          </a:prstGeom>
        </p:spPr>
      </p:pic>
      <p:sp>
        <p:nvSpPr>
          <p:cNvPr id="58" name="文本框 57"/>
          <p:cNvSpPr txBox="1"/>
          <p:nvPr>
            <p:custDataLst>
              <p:tags r:id="rId10"/>
            </p:custDataLst>
          </p:nvPr>
        </p:nvSpPr>
        <p:spPr>
          <a:xfrm>
            <a:off x="4319271" y="3046317"/>
            <a:ext cx="6242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sz="1400" dirty="0"/>
              <a:t>if语句是用来进行判断的，其使用格式如下：</a:t>
            </a:r>
          </a:p>
          <a:p>
            <a:pPr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</a:rPr>
              <a:t>if 要判断的条件:</a:t>
            </a:r>
          </a:p>
          <a:p>
            <a:pPr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</a:rPr>
              <a:t> </a:t>
            </a:r>
            <a:r>
              <a:rPr lang="en-US" sz="1400" dirty="0">
                <a:solidFill>
                  <a:srgbClr val="FF0000"/>
                </a:solidFill>
              </a:rPr>
              <a:t>   </a:t>
            </a:r>
            <a:r>
              <a:rPr sz="1400" dirty="0">
                <a:solidFill>
                  <a:srgbClr val="FF0000"/>
                </a:solidFill>
              </a:rPr>
              <a:t>条件成立时，要做的事情</a:t>
            </a:r>
          </a:p>
          <a:p>
            <a:pPr>
              <a:lnSpc>
                <a:spcPct val="100000"/>
              </a:lnSpc>
            </a:pPr>
            <a:endParaRPr sz="14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endParaRPr sz="1400" dirty="0">
              <a:solidFill>
                <a:srgbClr val="FF0000"/>
              </a:solidFill>
            </a:endParaRPr>
          </a:p>
          <a:p>
            <a:pPr>
              <a:lnSpc>
                <a:spcPct val="100000"/>
              </a:lnSpc>
            </a:pPr>
            <a:r>
              <a:rPr sz="1400" dirty="0">
                <a:solidFill>
                  <a:srgbClr val="FF0000"/>
                </a:solidFill>
              </a:rPr>
              <a:t>案例: 写一个网吧登录的程序, 年满18岁就可以上网,不满18岁就不可以上网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选择结构</a:t>
            </a:r>
            <a:endParaRPr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  <a:p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270635" y="2201545"/>
            <a:ext cx="3012440" cy="3692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if...else</a:t>
            </a:r>
            <a:endParaRPr sz="1600" dirty="0">
              <a:solidFill>
                <a:srgbClr val="FF0000"/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if 条件: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满足条件时要做的事情1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满足条件时要做的事情2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满足条件时要做的事情3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...(省略)...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else: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不满足条件时要做的事情1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不满足条件时要做的事情2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不满足条件时要做的事情3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...(省略)...</a:t>
            </a: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904105" y="2186305"/>
            <a:ext cx="3046095" cy="30460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if...elif...else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if xxx1: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</a:t>
            </a: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  <a:sym typeface="+mn-ea"/>
              </a:rPr>
              <a:t>满足条件时要做的事情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  <a:sym typeface="+mn-ea"/>
              </a:rPr>
              <a:t>1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elif xxx2: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</a:t>
            </a: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  <a:sym typeface="+mn-ea"/>
              </a:rPr>
              <a:t>满足条件时要做的事情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elif xxx3: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</a:t>
            </a: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  <a:sym typeface="+mn-ea"/>
              </a:rPr>
              <a:t>满足条件时要做的事情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3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else: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其他</a:t>
            </a:r>
          </a:p>
        </p:txBody>
      </p:sp>
      <p:sp>
        <p:nvSpPr>
          <p:cNvPr id="4" name="文本框 3"/>
          <p:cNvSpPr txBox="1"/>
          <p:nvPr>
            <p:custDataLst>
              <p:tags r:id="rId4"/>
            </p:custDataLst>
          </p:nvPr>
        </p:nvSpPr>
        <p:spPr>
          <a:xfrm>
            <a:off x="8035290" y="2201545"/>
            <a:ext cx="2966720" cy="2399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if</a:t>
            </a:r>
            <a:r>
              <a:rPr lang="zh-CN" altLang="en-US" sz="16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嵌套结构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if 条件1: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满足条件1 做的事情1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满足条件1 做的事情2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if 条件2: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    满足条件2 做的事情1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    满足条件2 做的事情2</a:t>
            </a:r>
          </a:p>
        </p:txBody>
      </p:sp>
      <p:sp>
        <p:nvSpPr>
          <p:cNvPr id="5" name="矩形 4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ts val="3145"/>
              </a:lnSpc>
              <a:buNone/>
            </a:pPr>
            <a:r>
              <a:rPr 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③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Python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选择结构的几种形式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if</a:t>
            </a:r>
            <a:r>
              <a:rPr lang="zh-CN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选择结构综合</a:t>
            </a:r>
            <a:r>
              <a:rPr 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案例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1252220" y="2459990"/>
            <a:ext cx="990790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需求:</a:t>
            </a:r>
          </a:p>
          <a:p>
            <a:pPr>
              <a:lnSpc>
                <a:spcPct val="150000"/>
              </a:lnSpc>
            </a:pPr>
            <a:endParaRPr lang="en-US" sz="16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1. 输⼊要出的拳 —— ⽯头（1）／剪⼑（2）／布（3）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2. 电脑 随机 出拳 —— 先假定电脑只会出⽯头，完成整体代码功能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3. ⽐较胜负</a:t>
            </a:r>
          </a:p>
        </p:txBody>
      </p:sp>
      <p:sp>
        <p:nvSpPr>
          <p:cNvPr id="5" name="矩形 4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indent="0">
              <a:lnSpc>
                <a:spcPts val="3145"/>
              </a:lnSpc>
              <a:buNone/>
            </a:pPr>
            <a:r>
              <a:rPr 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④</a:t>
            </a:r>
            <a:r>
              <a:rPr lang="en-US" altLang="zh-CN" b="1" dirty="0">
                <a:solidFill>
                  <a:schemeClr val="tx1">
                    <a:lumMod val="75000"/>
                    <a:lumOff val="25000"/>
                  </a:schemeClr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Python</a:t>
            </a:r>
            <a:r>
              <a:rPr lang="zh-CN" altLang="en-US" b="1" dirty="0">
                <a:solidFill>
                  <a:schemeClr val="tx1">
                    <a:lumMod val="75000"/>
                    <a:lumOff val="25000"/>
                  </a:schemeClr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综合案例：猜拳游戏开发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扩展：</a:t>
            </a:r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中的</a:t>
            </a:r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module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模块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⑤导入与使用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Python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中的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module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模块（模块本质：就是一个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Python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文件）</a:t>
            </a:r>
          </a:p>
        </p:txBody>
      </p:sp>
      <p:sp>
        <p:nvSpPr>
          <p:cNvPr id="31" name="文本框 30"/>
          <p:cNvSpPr txBox="1"/>
          <p:nvPr>
            <p:custDataLst>
              <p:tags r:id="rId5"/>
            </p:custDataLst>
          </p:nvPr>
        </p:nvSpPr>
        <p:spPr>
          <a:xfrm>
            <a:off x="1798320" y="4827270"/>
            <a:ext cx="3747770" cy="89471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lnSpc>
                <a:spcPts val="3145"/>
              </a:lnSpc>
              <a:buNone/>
            </a:pP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使用方式：模块名.函数名(参数)</a:t>
            </a:r>
          </a:p>
          <a:p>
            <a:pPr marL="0" indent="0">
              <a:lnSpc>
                <a:spcPts val="3145"/>
              </a:lnSpc>
              <a:buNone/>
            </a:pP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模块名.变量名</a:t>
            </a:r>
          </a:p>
        </p:txBody>
      </p:sp>
      <p:sp>
        <p:nvSpPr>
          <p:cNvPr id="36" name="矩形: 圆角 35"/>
          <p:cNvSpPr/>
          <p:nvPr>
            <p:custDataLst>
              <p:tags r:id="rId6"/>
            </p:custDataLst>
          </p:nvPr>
        </p:nvSpPr>
        <p:spPr>
          <a:xfrm rot="18900000">
            <a:off x="2547028" y="2792498"/>
            <a:ext cx="1256102" cy="1256102"/>
          </a:xfrm>
          <a:prstGeom prst="roundRect">
            <a:avLst>
              <a:gd name="adj" fmla="val 35535"/>
            </a:avLst>
          </a:prstGeom>
          <a:solidFill>
            <a:srgbClr val="A4E3F4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7"/>
            </p:custDataLst>
          </p:nvPr>
        </p:nvSpPr>
        <p:spPr>
          <a:xfrm>
            <a:off x="1794499" y="4352592"/>
            <a:ext cx="2744639" cy="602391"/>
          </a:xfrm>
          <a:prstGeom prst="rect">
            <a:avLst/>
          </a:prstGeom>
          <a:noFill/>
        </p:spPr>
        <p:txBody>
          <a:bodyPr wrap="square" rtlCol="0" anchor="ctr" anchorCtr="0">
            <a:normAutofit fontScale="87500"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sz="2000" b="1" spc="300" noProof="0" dirty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方式</a:t>
            </a:r>
            <a:r>
              <a:rPr lang="en-US" altLang="zh-CN" sz="2000" b="1" spc="300" noProof="0" dirty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1</a:t>
            </a:r>
            <a:r>
              <a:rPr lang="zh-CN" altLang="en-US" sz="2000" b="1" spc="300" noProof="0" dirty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：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import 模块名</a:t>
            </a:r>
            <a:endParaRPr lang="zh-CN" altLang="en-US" sz="2000" b="1" spc="300" noProof="0" dirty="0">
              <a:ln>
                <a:noFill/>
              </a:ln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2948305" y="3204845"/>
            <a:ext cx="452755" cy="452755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9"/>
            </p:custDataLst>
          </p:nvPr>
        </p:nvSpPr>
        <p:spPr>
          <a:xfrm>
            <a:off x="6694805" y="4875530"/>
            <a:ext cx="4909185" cy="8572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lnSpc>
                <a:spcPts val="3145"/>
              </a:lnSpc>
              <a:buNone/>
            </a:pP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from 模块名 import 函数名或变量名（多个函数名用逗号分割）</a:t>
            </a:r>
          </a:p>
          <a:p>
            <a:pPr marL="0" indent="0">
              <a:lnSpc>
                <a:spcPts val="3145"/>
              </a:lnSpc>
              <a:buNone/>
            </a:pPr>
            <a:r>
              <a:rPr lang="zh-CN" altLang="zh-CN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函数名</a:t>
            </a:r>
            <a:r>
              <a:rPr lang="en-US" altLang="zh-CN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()</a:t>
            </a:r>
            <a:r>
              <a:rPr lang="zh-CN" altLang="zh-CN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或变量名</a:t>
            </a:r>
          </a:p>
        </p:txBody>
      </p:sp>
      <p:sp>
        <p:nvSpPr>
          <p:cNvPr id="5" name="矩形: 圆角 35"/>
          <p:cNvSpPr/>
          <p:nvPr>
            <p:custDataLst>
              <p:tags r:id="rId10"/>
            </p:custDataLst>
          </p:nvPr>
        </p:nvSpPr>
        <p:spPr>
          <a:xfrm rot="18900000">
            <a:off x="7443513" y="2840758"/>
            <a:ext cx="1256102" cy="1256102"/>
          </a:xfrm>
          <a:prstGeom prst="roundRect">
            <a:avLst>
              <a:gd name="adj" fmla="val 35535"/>
            </a:avLst>
          </a:prstGeom>
          <a:solidFill>
            <a:srgbClr val="A4E3F4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6" name="文本框 5"/>
          <p:cNvSpPr txBox="1"/>
          <p:nvPr>
            <p:custDataLst>
              <p:tags r:id="rId11"/>
            </p:custDataLst>
          </p:nvPr>
        </p:nvSpPr>
        <p:spPr>
          <a:xfrm>
            <a:off x="6511290" y="4351655"/>
            <a:ext cx="3785235" cy="602615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方式</a:t>
            </a:r>
            <a:r>
              <a:rPr lang="en-US" altLang="zh-CN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2</a:t>
            </a:r>
            <a:r>
              <a:rPr lang="zh-CN" altLang="en-US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：</a:t>
            </a:r>
            <a:r>
              <a:rPr lang="zh-CN" altLang="en-US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from </a:t>
            </a:r>
            <a:r>
              <a:rPr lang="en-US" altLang="zh-CN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...</a:t>
            </a:r>
            <a:r>
              <a:rPr lang="zh-CN" altLang="en-US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 import </a:t>
            </a:r>
            <a:r>
              <a:rPr lang="en-US" altLang="zh-CN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...</a:t>
            </a:r>
          </a:p>
        </p:txBody>
      </p:sp>
      <p:pic>
        <p:nvPicPr>
          <p:cNvPr id="8" name="图片 7" descr="343435383139363b333635383830313bcdbccae9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5"/>
          <a:stretch>
            <a:fillRect/>
          </a:stretch>
        </p:blipFill>
        <p:spPr>
          <a:xfrm>
            <a:off x="7844790" y="3304540"/>
            <a:ext cx="452755" cy="45275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1798320" y="5789295"/>
            <a:ext cx="1726565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import </a:t>
            </a:r>
            <a:r>
              <a:rPr lang="en-US" altLang="zh-CN" sz="1400"/>
              <a:t>random</a:t>
            </a:r>
            <a:endParaRPr lang="zh-CN" altLang="en-US" sz="1400"/>
          </a:p>
          <a:p>
            <a:r>
              <a:rPr lang="en-US" altLang="zh-CN" sz="1400"/>
              <a:t>random.randint(1,10)</a:t>
            </a:r>
          </a:p>
        </p:txBody>
      </p:sp>
      <p:sp>
        <p:nvSpPr>
          <p:cNvPr id="12" name="文本框 11"/>
          <p:cNvSpPr txBox="1"/>
          <p:nvPr>
            <p:custDataLst>
              <p:tags r:id="rId13"/>
            </p:custDataLst>
          </p:nvPr>
        </p:nvSpPr>
        <p:spPr>
          <a:xfrm>
            <a:off x="6755130" y="5789295"/>
            <a:ext cx="527431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/>
              <a:t>from</a:t>
            </a:r>
            <a:r>
              <a:rPr lang="en-US" altLang="zh-CN" sz="1400"/>
              <a:t> random import randint</a:t>
            </a:r>
          </a:p>
          <a:p>
            <a:r>
              <a:rPr lang="en-US" altLang="zh-CN" sz="1400"/>
              <a:t>randint(1,10)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122295" y="627380"/>
            <a:ext cx="5940425" cy="5603240"/>
            <a:chOff x="5080" y="988"/>
            <a:chExt cx="9038" cy="88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组合 10"/>
            <p:cNvGrpSpPr/>
            <p:nvPr/>
          </p:nvGrpSpPr>
          <p:grpSpPr>
            <a:xfrm>
              <a:off x="5080" y="988"/>
              <a:ext cx="9039" cy="8825"/>
              <a:chOff x="5348" y="1147"/>
              <a:chExt cx="8504" cy="8506"/>
            </a:xfrm>
            <a:gradFill>
              <a:gsLst>
                <a:gs pos="0">
                  <a:schemeClr val="bg1"/>
                </a:gs>
                <a:gs pos="50000">
                  <a:schemeClr val="tx2">
                    <a:lumMod val="10000"/>
                    <a:lumOff val="9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5400000" scaled="0"/>
            </a:gradFill>
          </p:grpSpPr>
          <p:grpSp>
            <p:nvGrpSpPr>
              <p:cNvPr id="12" name="组合 11"/>
              <p:cNvGrpSpPr/>
              <p:nvPr/>
            </p:nvGrpSpPr>
            <p:grpSpPr>
              <a:xfrm>
                <a:off x="5348" y="1148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3" name="流程图: 终止 12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流程图: 终止 13"/>
                <p:cNvSpPr/>
                <p:nvPr>
                  <p:custDataLst>
                    <p:tags r:id="rId15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 rot="270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6" name="流程图: 终止 15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流程图: 终止 16"/>
                <p:cNvSpPr/>
                <p:nvPr>
                  <p:custDataLst>
                    <p:tags r:id="rId13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rot="1380000">
                <a:off x="5348" y="1147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6" name="流程图: 终止 25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流程图: 终止 26"/>
                <p:cNvSpPr/>
                <p:nvPr>
                  <p:custDataLst>
                    <p:tags r:id="rId11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 rot="2022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9" name="流程图: 终止 28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流程图: 终止 29"/>
                <p:cNvSpPr/>
                <p:nvPr>
                  <p:custDataLst>
                    <p:tags r:id="rId9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1" name="椭圆 30"/>
            <p:cNvSpPr/>
            <p:nvPr>
              <p:custDataLst>
                <p:tags r:id="rId6"/>
              </p:custDataLst>
            </p:nvPr>
          </p:nvSpPr>
          <p:spPr>
            <a:xfrm>
              <a:off x="5501" y="1400"/>
              <a:ext cx="8195" cy="799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>
              <a:spLocks noChangeAspect="1"/>
            </p:cNvSpPr>
            <p:nvPr>
              <p:custDataLst>
                <p:tags r:id="rId7"/>
              </p:custDataLst>
            </p:nvPr>
          </p:nvSpPr>
          <p:spPr>
            <a:xfrm>
              <a:off x="5828" y="1633"/>
              <a:ext cx="7540" cy="754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0" name="直接连接符 39"/>
          <p:cNvCxnSpPr>
            <a:cxnSpLocks noChangeAspect="1"/>
          </p:cNvCxnSpPr>
          <p:nvPr>
            <p:custDataLst>
              <p:tags r:id="rId1"/>
            </p:custDataLst>
          </p:nvPr>
        </p:nvCxnSpPr>
        <p:spPr>
          <a:xfrm>
            <a:off x="1656080" y="911225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cxnSpLocks noChangeAspect="1"/>
          </p:cNvCxnSpPr>
          <p:nvPr>
            <p:custDataLst>
              <p:tags r:id="rId2"/>
            </p:custDataLst>
          </p:nvPr>
        </p:nvCxnSpPr>
        <p:spPr>
          <a:xfrm>
            <a:off x="1221740" y="1014095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>
            <p:custDataLst>
              <p:tags r:id="rId3"/>
            </p:custDataLst>
          </p:nvPr>
        </p:nvSpPr>
        <p:spPr>
          <a:xfrm>
            <a:off x="3368040" y="3105785"/>
            <a:ext cx="544893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36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中循环结构</a:t>
            </a:r>
            <a:endParaRPr lang="zh-CN" sz="36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cxnSp>
        <p:nvCxnSpPr>
          <p:cNvPr id="42" name="直接连接符 41"/>
          <p:cNvCxnSpPr>
            <a:cxnSpLocks noChangeAspect="1"/>
          </p:cNvCxnSpPr>
          <p:nvPr>
            <p:custDataLst>
              <p:tags r:id="rId4"/>
            </p:custDataLst>
          </p:nvPr>
        </p:nvCxnSpPr>
        <p:spPr>
          <a:xfrm>
            <a:off x="9115425" y="4871720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cxnSpLocks noChangeAspect="1"/>
          </p:cNvCxnSpPr>
          <p:nvPr>
            <p:custDataLst>
              <p:tags r:id="rId5"/>
            </p:custDataLst>
          </p:nvPr>
        </p:nvCxnSpPr>
        <p:spPr>
          <a:xfrm>
            <a:off x="10128250" y="5591810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中的流程结构</a:t>
            </a:r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①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Python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流程结构</a:t>
            </a:r>
            <a:endParaRPr lang="en-US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40" name="圆角矩形 39"/>
          <p:cNvSpPr/>
          <p:nvPr>
            <p:custDataLst>
              <p:tags r:id="rId7"/>
            </p:custDataLst>
          </p:nvPr>
        </p:nvSpPr>
        <p:spPr>
          <a:xfrm>
            <a:off x="7905091" y="3507255"/>
            <a:ext cx="1931988" cy="2344951"/>
          </a:xfrm>
          <a:prstGeom prst="roundRect">
            <a:avLst>
              <a:gd name="adj" fmla="val 3995"/>
            </a:avLst>
          </a:prstGeom>
          <a:noFill/>
          <a:ln>
            <a:gradFill>
              <a:gsLst>
                <a:gs pos="10000">
                  <a:schemeClr val="accent3">
                    <a:lumMod val="20000"/>
                    <a:lumOff val="80000"/>
                    <a:alpha val="0"/>
                  </a:schemeClr>
                </a:gs>
                <a:gs pos="74000">
                  <a:schemeClr val="accent3">
                    <a:lumMod val="40000"/>
                    <a:lumOff val="60000"/>
                  </a:schemeClr>
                </a:gs>
              </a:gsLst>
              <a:lin ang="162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1" name="圆角矩形 40"/>
          <p:cNvSpPr/>
          <p:nvPr>
            <p:custDataLst>
              <p:tags r:id="rId8"/>
            </p:custDataLst>
          </p:nvPr>
        </p:nvSpPr>
        <p:spPr>
          <a:xfrm>
            <a:off x="2710944" y="3507255"/>
            <a:ext cx="1931988" cy="2344951"/>
          </a:xfrm>
          <a:prstGeom prst="roundRect">
            <a:avLst>
              <a:gd name="adj" fmla="val 2962"/>
            </a:avLst>
          </a:prstGeom>
          <a:noFill/>
          <a:ln w="6350">
            <a:gradFill>
              <a:gsLst>
                <a:gs pos="10000">
                  <a:schemeClr val="accent1">
                    <a:lumMod val="20000"/>
                    <a:lumOff val="80000"/>
                    <a:alpha val="0"/>
                  </a:schemeClr>
                </a:gs>
                <a:gs pos="74000">
                  <a:schemeClr val="accent1">
                    <a:lumMod val="40000"/>
                    <a:lumOff val="60000"/>
                  </a:schemeClr>
                </a:gs>
              </a:gsLst>
              <a:lin ang="162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2" name="圆角矩形 41"/>
          <p:cNvSpPr/>
          <p:nvPr>
            <p:custDataLst>
              <p:tags r:id="rId9"/>
            </p:custDataLst>
          </p:nvPr>
        </p:nvSpPr>
        <p:spPr>
          <a:xfrm>
            <a:off x="5312110" y="3507255"/>
            <a:ext cx="1931988" cy="2344951"/>
          </a:xfrm>
          <a:prstGeom prst="roundRect">
            <a:avLst>
              <a:gd name="adj" fmla="val 3995"/>
            </a:avLst>
          </a:prstGeom>
          <a:noFill/>
          <a:ln>
            <a:gradFill>
              <a:gsLst>
                <a:gs pos="10000">
                  <a:schemeClr val="accent2">
                    <a:lumMod val="20000"/>
                    <a:lumOff val="80000"/>
                    <a:alpha val="0"/>
                  </a:schemeClr>
                </a:gs>
                <a:gs pos="74000">
                  <a:schemeClr val="accent2">
                    <a:lumMod val="40000"/>
                    <a:lumOff val="60000"/>
                  </a:schemeClr>
                </a:gs>
              </a:gsLst>
              <a:lin ang="162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/>
          </a:p>
        </p:txBody>
      </p:sp>
      <p:sp>
        <p:nvSpPr>
          <p:cNvPr id="43" name="圆角矩形 42"/>
          <p:cNvSpPr/>
          <p:nvPr>
            <p:custDataLst>
              <p:tags r:id="rId10"/>
            </p:custDataLst>
          </p:nvPr>
        </p:nvSpPr>
        <p:spPr>
          <a:xfrm rot="10800000">
            <a:off x="3117612" y="3121990"/>
            <a:ext cx="1103544" cy="1103544"/>
          </a:xfrm>
          <a:prstGeom prst="roundRect">
            <a:avLst>
              <a:gd name="adj" fmla="val 7602"/>
            </a:avLst>
          </a:prstGeom>
          <a:noFill/>
          <a:ln w="25400">
            <a:solidFill>
              <a:schemeClr val="accent1"/>
            </a:solidFill>
          </a:ln>
          <a:scene3d>
            <a:camera prst="isometricBottomDown"/>
            <a:lightRig rig="threePt" dir="t"/>
          </a:scene3d>
          <a:sp3d z="-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44" name="圆角矩形 43"/>
          <p:cNvSpPr/>
          <p:nvPr>
            <p:custDataLst>
              <p:tags r:id="rId11"/>
            </p:custDataLst>
          </p:nvPr>
        </p:nvSpPr>
        <p:spPr>
          <a:xfrm rot="10800000">
            <a:off x="3117612" y="2868295"/>
            <a:ext cx="1103544" cy="1103544"/>
          </a:xfrm>
          <a:prstGeom prst="roundRect">
            <a:avLst>
              <a:gd name="adj" fmla="val 7602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70000">
                <a:schemeClr val="accent1"/>
              </a:gs>
            </a:gsLst>
            <a:lin ang="2400000" scaled="0"/>
          </a:gradFill>
          <a:ln w="25400">
            <a:solidFill>
              <a:schemeClr val="bg1"/>
            </a:solidFill>
          </a:ln>
          <a:effectLst>
            <a:outerShdw blurRad="190500" dist="203200" dir="2700000" algn="tl" rotWithShape="0">
              <a:schemeClr val="accent1">
                <a:lumMod val="60000"/>
                <a:lumOff val="40000"/>
                <a:alpha val="40000"/>
              </a:schemeClr>
            </a:outerShdw>
          </a:effectLst>
          <a:scene3d>
            <a:camera prst="isometricBottomDown"/>
            <a:lightRig rig="contrasting" dir="t">
              <a:rot lat="0" lon="0" rev="0"/>
            </a:lightRig>
          </a:scene3d>
          <a:sp3d extrusionH="127000" prstMaterial="matte">
            <a:extrusionClr>
              <a:schemeClr val="accent1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45" name="序号"/>
          <p:cNvSpPr txBox="1"/>
          <p:nvPr>
            <p:custDataLst>
              <p:tags r:id="rId12"/>
            </p:custDataLst>
          </p:nvPr>
        </p:nvSpPr>
        <p:spPr>
          <a:xfrm>
            <a:off x="3356829" y="3188719"/>
            <a:ext cx="624561" cy="4639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+mj-ea"/>
                <a:ea typeface="+mj-ea"/>
              </a:rPr>
              <a:t>01</a:t>
            </a:r>
          </a:p>
        </p:txBody>
      </p:sp>
      <p:sp>
        <p:nvSpPr>
          <p:cNvPr id="46" name="正文"/>
          <p:cNvSpPr txBox="1"/>
          <p:nvPr>
            <p:custDataLst>
              <p:tags r:id="rId13"/>
            </p:custDataLst>
          </p:nvPr>
        </p:nvSpPr>
        <p:spPr>
          <a:xfrm>
            <a:off x="2792781" y="4617093"/>
            <a:ext cx="1753836" cy="1185381"/>
          </a:xfrm>
          <a:prstGeom prst="rect">
            <a:avLst/>
          </a:prstGeom>
          <a:noFill/>
        </p:spPr>
        <p:txBody>
          <a:bodyPr wrap="square" lIns="71755" tIns="0" rIns="71755" bIns="0" rtlCol="0" anchor="t" anchorCtr="0">
            <a:normAutofit/>
          </a:bodyPr>
          <a:lstStyle/>
          <a:p>
            <a:pPr indent="0" algn="ctr" fontAlgn="auto">
              <a:lnSpc>
                <a:spcPct val="130000"/>
              </a:lnSpc>
            </a:pPr>
            <a:r>
              <a:rPr lang="zh-CN" altLang="en-US" sz="140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顺序结构</a:t>
            </a:r>
          </a:p>
        </p:txBody>
      </p:sp>
      <p:sp>
        <p:nvSpPr>
          <p:cNvPr id="47" name="圆角矩形 46"/>
          <p:cNvSpPr/>
          <p:nvPr>
            <p:custDataLst>
              <p:tags r:id="rId14"/>
            </p:custDataLst>
          </p:nvPr>
        </p:nvSpPr>
        <p:spPr>
          <a:xfrm rot="10800000">
            <a:off x="5718778" y="3121990"/>
            <a:ext cx="1103544" cy="1104173"/>
          </a:xfrm>
          <a:prstGeom prst="roundRect">
            <a:avLst>
              <a:gd name="adj" fmla="val 7602"/>
            </a:avLst>
          </a:prstGeom>
          <a:noFill/>
          <a:ln w="25400">
            <a:solidFill>
              <a:schemeClr val="accent2"/>
            </a:solidFill>
          </a:ln>
          <a:scene3d>
            <a:camera prst="isometricBottomDown"/>
            <a:lightRig rig="threePt" dir="t"/>
          </a:scene3d>
          <a:sp3d z="-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48" name="圆角矩形 47"/>
          <p:cNvSpPr/>
          <p:nvPr>
            <p:custDataLst>
              <p:tags r:id="rId15"/>
            </p:custDataLst>
          </p:nvPr>
        </p:nvSpPr>
        <p:spPr>
          <a:xfrm rot="10800000">
            <a:off x="5718778" y="2868295"/>
            <a:ext cx="1103544" cy="1104173"/>
          </a:xfrm>
          <a:prstGeom prst="roundRect">
            <a:avLst>
              <a:gd name="adj" fmla="val 7602"/>
            </a:avLst>
          </a:prstGeom>
          <a:gradFill>
            <a:gsLst>
              <a:gs pos="0">
                <a:schemeClr val="accent2">
                  <a:lumMod val="40000"/>
                  <a:lumOff val="60000"/>
                </a:schemeClr>
              </a:gs>
              <a:gs pos="70000">
                <a:schemeClr val="accent2"/>
              </a:gs>
            </a:gsLst>
            <a:lin ang="2400000" scaled="0"/>
          </a:gradFill>
          <a:ln w="25400">
            <a:solidFill>
              <a:schemeClr val="bg1"/>
            </a:solidFill>
          </a:ln>
          <a:effectLst>
            <a:outerShdw blurRad="342900" dist="203200" dir="2700000" algn="tl" rotWithShape="0">
              <a:schemeClr val="accent2">
                <a:lumMod val="60000"/>
                <a:lumOff val="40000"/>
                <a:alpha val="40000"/>
              </a:schemeClr>
            </a:outerShdw>
          </a:effectLst>
          <a:scene3d>
            <a:camera prst="isometricBottomDown"/>
            <a:lightRig rig="contrasting" dir="t">
              <a:rot lat="0" lon="0" rev="0"/>
            </a:lightRig>
          </a:scene3d>
          <a:sp3d extrusionH="127000" prstMaterial="matte">
            <a:extrusionClr>
              <a:schemeClr val="accent2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49" name="序号"/>
          <p:cNvSpPr txBox="1"/>
          <p:nvPr>
            <p:custDataLst>
              <p:tags r:id="rId16"/>
            </p:custDataLst>
          </p:nvPr>
        </p:nvSpPr>
        <p:spPr>
          <a:xfrm>
            <a:off x="5957995" y="3188719"/>
            <a:ext cx="624561" cy="4639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+mj-ea"/>
                <a:ea typeface="+mj-ea"/>
              </a:rPr>
              <a:t>02</a:t>
            </a:r>
          </a:p>
        </p:txBody>
      </p:sp>
      <p:sp>
        <p:nvSpPr>
          <p:cNvPr id="50" name="正文"/>
          <p:cNvSpPr txBox="1"/>
          <p:nvPr>
            <p:custDataLst>
              <p:tags r:id="rId17"/>
            </p:custDataLst>
          </p:nvPr>
        </p:nvSpPr>
        <p:spPr>
          <a:xfrm>
            <a:off x="5393947" y="4617093"/>
            <a:ext cx="1753836" cy="1185381"/>
          </a:xfrm>
          <a:prstGeom prst="rect">
            <a:avLst/>
          </a:prstGeom>
          <a:noFill/>
        </p:spPr>
        <p:txBody>
          <a:bodyPr wrap="square" lIns="71755" tIns="0" rIns="71755" bIns="0" rtlCol="0" anchor="t" anchorCtr="0">
            <a:normAutofit/>
          </a:bodyPr>
          <a:lstStyle/>
          <a:p>
            <a:pPr indent="0" algn="ctr" fontAlgn="auto">
              <a:lnSpc>
                <a:spcPct val="130000"/>
              </a:lnSpc>
            </a:pPr>
            <a:r>
              <a:rPr lang="zh-CN" altLang="en-US" sz="1400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选择结构</a:t>
            </a:r>
          </a:p>
        </p:txBody>
      </p:sp>
      <p:sp>
        <p:nvSpPr>
          <p:cNvPr id="51" name="圆角矩形 50"/>
          <p:cNvSpPr/>
          <p:nvPr>
            <p:custDataLst>
              <p:tags r:id="rId18"/>
            </p:custDataLst>
          </p:nvPr>
        </p:nvSpPr>
        <p:spPr>
          <a:xfrm rot="10800000">
            <a:off x="8319942" y="3121990"/>
            <a:ext cx="1103544" cy="1104173"/>
          </a:xfrm>
          <a:prstGeom prst="roundRect">
            <a:avLst>
              <a:gd name="adj" fmla="val 7602"/>
            </a:avLst>
          </a:prstGeom>
          <a:noFill/>
          <a:ln w="25400">
            <a:solidFill>
              <a:schemeClr val="accent3"/>
            </a:solidFill>
          </a:ln>
          <a:scene3d>
            <a:camera prst="isometricBottomDown"/>
            <a:lightRig rig="threePt" dir="t"/>
          </a:scene3d>
          <a:sp3d z="-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latin typeface="+mj-ea"/>
              <a:ea typeface="+mj-ea"/>
            </a:endParaRPr>
          </a:p>
        </p:txBody>
      </p:sp>
      <p:sp>
        <p:nvSpPr>
          <p:cNvPr id="52" name="圆角矩形 51"/>
          <p:cNvSpPr/>
          <p:nvPr>
            <p:custDataLst>
              <p:tags r:id="rId19"/>
            </p:custDataLst>
          </p:nvPr>
        </p:nvSpPr>
        <p:spPr>
          <a:xfrm rot="10800000">
            <a:off x="8319942" y="2868295"/>
            <a:ext cx="1103544" cy="1104173"/>
          </a:xfrm>
          <a:prstGeom prst="roundRect">
            <a:avLst>
              <a:gd name="adj" fmla="val 7602"/>
            </a:avLst>
          </a:prstGeom>
          <a:gradFill>
            <a:gsLst>
              <a:gs pos="0">
                <a:schemeClr val="accent3">
                  <a:lumMod val="40000"/>
                  <a:lumOff val="60000"/>
                </a:schemeClr>
              </a:gs>
              <a:gs pos="70000">
                <a:schemeClr val="accent3"/>
              </a:gs>
            </a:gsLst>
            <a:lin ang="2400000" scaled="0"/>
          </a:gradFill>
          <a:ln w="25400">
            <a:solidFill>
              <a:schemeClr val="bg1"/>
            </a:solidFill>
          </a:ln>
          <a:effectLst>
            <a:outerShdw blurRad="190500" dist="203200" dir="2700000" algn="tl" rotWithShape="0">
              <a:schemeClr val="accent3">
                <a:lumMod val="60000"/>
                <a:lumOff val="40000"/>
                <a:alpha val="40000"/>
              </a:schemeClr>
            </a:outerShdw>
          </a:effectLst>
          <a:scene3d>
            <a:camera prst="isometricBottomDown"/>
            <a:lightRig rig="contrasting" dir="t">
              <a:rot lat="0" lon="0" rev="0"/>
            </a:lightRig>
          </a:scene3d>
          <a:sp3d extrusionH="127000" prstMaterial="matte">
            <a:extrusionClr>
              <a:schemeClr val="accent3"/>
            </a:extrusion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/>
          </a:bodyPr>
          <a:lstStyle/>
          <a:p>
            <a:pPr algn="ctr"/>
            <a:endParaRPr lang="zh-CN" altLang="en-US">
              <a:solidFill>
                <a:schemeClr val="accent6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+mj-ea"/>
              <a:ea typeface="+mj-ea"/>
            </a:endParaRPr>
          </a:p>
        </p:txBody>
      </p:sp>
      <p:sp>
        <p:nvSpPr>
          <p:cNvPr id="53" name="序号"/>
          <p:cNvSpPr txBox="1"/>
          <p:nvPr>
            <p:custDataLst>
              <p:tags r:id="rId20"/>
            </p:custDataLst>
          </p:nvPr>
        </p:nvSpPr>
        <p:spPr>
          <a:xfrm>
            <a:off x="8559159" y="3188719"/>
            <a:ext cx="624561" cy="463959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/>
          <a:p>
            <a:pPr algn="ctr"/>
            <a:r>
              <a:rPr lang="en-US" sz="2800" b="1">
                <a:solidFill>
                  <a:srgbClr val="FFFFFF"/>
                </a:solidFill>
                <a:latin typeface="+mj-ea"/>
                <a:ea typeface="+mj-ea"/>
              </a:rPr>
              <a:t>03</a:t>
            </a:r>
          </a:p>
        </p:txBody>
      </p:sp>
      <p:sp>
        <p:nvSpPr>
          <p:cNvPr id="54" name="正文"/>
          <p:cNvSpPr txBox="1"/>
          <p:nvPr>
            <p:custDataLst>
              <p:tags r:id="rId21"/>
            </p:custDataLst>
          </p:nvPr>
        </p:nvSpPr>
        <p:spPr>
          <a:xfrm>
            <a:off x="7995111" y="4617093"/>
            <a:ext cx="1753836" cy="1185381"/>
          </a:xfrm>
          <a:prstGeom prst="rect">
            <a:avLst/>
          </a:prstGeom>
          <a:noFill/>
        </p:spPr>
        <p:txBody>
          <a:bodyPr wrap="square" lIns="71755" tIns="0" rIns="71755" bIns="0" rtlCol="0" anchor="t" anchorCtr="0">
            <a:normAutofit/>
          </a:bodyPr>
          <a:lstStyle/>
          <a:p>
            <a:pPr indent="0" algn="ctr" fontAlgn="auto">
              <a:lnSpc>
                <a:spcPct val="130000"/>
              </a:lnSpc>
            </a:pPr>
            <a:r>
              <a:rPr lang="zh-CN" altLang="en-US" sz="1400" b="1" spc="15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sym typeface="+mn-ea"/>
              </a:rPr>
              <a:t>循环结构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中的循环结构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②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for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循环结构</a:t>
            </a:r>
          </a:p>
        </p:txBody>
      </p:sp>
      <p:sp>
        <p:nvSpPr>
          <p:cNvPr id="55" name="矩形: 圆角 35"/>
          <p:cNvSpPr/>
          <p:nvPr>
            <p:custDataLst>
              <p:tags r:id="rId5"/>
            </p:custDataLst>
          </p:nvPr>
        </p:nvSpPr>
        <p:spPr>
          <a:xfrm rot="18900000">
            <a:off x="2126658" y="2996333"/>
            <a:ext cx="1256102" cy="1256102"/>
          </a:xfrm>
          <a:prstGeom prst="roundRect">
            <a:avLst>
              <a:gd name="adj" fmla="val 35535"/>
            </a:avLst>
          </a:prstGeom>
          <a:solidFill>
            <a:srgbClr val="A4E3F4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1501259" y="4507042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en-US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for</a:t>
            </a:r>
            <a:r>
              <a:rPr lang="zh-CN" altLang="en-US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循环结构</a:t>
            </a:r>
          </a:p>
        </p:txBody>
      </p:sp>
      <p:pic>
        <p:nvPicPr>
          <p:cNvPr id="57" name="图片 56" descr="343435383139363b333635383830313bcdbccae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527935" y="3408680"/>
            <a:ext cx="452755" cy="452755"/>
          </a:xfrm>
          <a:prstGeom prst="rect">
            <a:avLst/>
          </a:prstGeom>
        </p:spPr>
      </p:pic>
      <p:sp>
        <p:nvSpPr>
          <p:cNvPr id="58" name="文本框 57"/>
          <p:cNvSpPr txBox="1"/>
          <p:nvPr>
            <p:custDataLst>
              <p:tags r:id="rId8"/>
            </p:custDataLst>
          </p:nvPr>
        </p:nvSpPr>
        <p:spPr>
          <a:xfrm>
            <a:off x="4319271" y="3408902"/>
            <a:ext cx="6242050" cy="9531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/>
              <a:t>for</a:t>
            </a:r>
            <a:r>
              <a:rPr lang="zh-CN" altLang="en-US" sz="1400" dirty="0"/>
              <a:t>循环作用：让代码高效重复的执行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基本语法：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for 临时变量 in 数据容器:</a:t>
            </a:r>
          </a:p>
          <a:p>
            <a:pPr>
              <a:lnSpc>
                <a:spcPct val="10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    </a:t>
            </a:r>
            <a:r>
              <a:rPr lang="en-US" altLang="zh-CN" sz="1400" dirty="0">
                <a:solidFill>
                  <a:srgbClr val="FF0000"/>
                </a:solidFill>
              </a:rPr>
              <a:t>  </a:t>
            </a:r>
            <a:r>
              <a:rPr lang="zh-CN" altLang="en-US" sz="1400" dirty="0">
                <a:solidFill>
                  <a:srgbClr val="FF0000"/>
                </a:solidFill>
              </a:rPr>
              <a:t>循环满足条件时执行的代码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中的循环结构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③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for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循环结构</a:t>
            </a:r>
          </a:p>
        </p:txBody>
      </p:sp>
      <p:sp>
        <p:nvSpPr>
          <p:cNvPr id="55" name="矩形: 圆角 35"/>
          <p:cNvSpPr/>
          <p:nvPr>
            <p:custDataLst>
              <p:tags r:id="rId5"/>
            </p:custDataLst>
          </p:nvPr>
        </p:nvSpPr>
        <p:spPr>
          <a:xfrm rot="18900000">
            <a:off x="2126658" y="2996333"/>
            <a:ext cx="1256102" cy="1256102"/>
          </a:xfrm>
          <a:prstGeom prst="roundRect">
            <a:avLst>
              <a:gd name="adj" fmla="val 35535"/>
            </a:avLst>
          </a:prstGeom>
          <a:solidFill>
            <a:srgbClr val="A4E3F4"/>
          </a:solidFill>
          <a:ln>
            <a:noFill/>
          </a:ln>
        </p:spPr>
        <p:style>
          <a:lnRef idx="2">
            <a:srgbClr val="1F74AD">
              <a:shade val="50000"/>
            </a:srgbClr>
          </a:lnRef>
          <a:fillRef idx="1">
            <a:srgbClr val="1F74AD"/>
          </a:fillRef>
          <a:effectRef idx="0">
            <a:srgbClr val="1F74AD"/>
          </a:effectRef>
          <a:fontRef idx="minor">
            <a:sysClr val="window" lastClr="FFFFFF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56" name="文本框 55"/>
          <p:cNvSpPr txBox="1"/>
          <p:nvPr>
            <p:custDataLst>
              <p:tags r:id="rId6"/>
            </p:custDataLst>
          </p:nvPr>
        </p:nvSpPr>
        <p:spPr>
          <a:xfrm>
            <a:off x="1501259" y="4507042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en-US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for</a:t>
            </a:r>
            <a:r>
              <a:rPr lang="zh-CN" altLang="en-US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循环结构</a:t>
            </a:r>
          </a:p>
        </p:txBody>
      </p:sp>
      <p:pic>
        <p:nvPicPr>
          <p:cNvPr id="57" name="图片 56" descr="343435383139363b333635383830313bcdbccae9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2527935" y="3408680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8"/>
            </p:custDataLst>
          </p:nvPr>
        </p:nvSpPr>
        <p:spPr>
          <a:xfrm>
            <a:off x="4589780" y="3211830"/>
            <a:ext cx="3540760" cy="1383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案例：使用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for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循环实现字符串的遍历操作</a:t>
            </a:r>
            <a:endParaRPr lang="en-US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str1 = ‘itheima’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for i in str1: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print(i)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中的循环结构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④</a:t>
            </a:r>
            <a:r>
              <a:rPr lang="zh-CN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使用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range()</a:t>
            </a:r>
            <a:r>
              <a:rPr lang="zh-CN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函数生成可迭代对象</a:t>
            </a: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270635" y="2421255"/>
            <a:ext cx="9889490" cy="309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range()</a:t>
            </a:r>
            <a:r>
              <a:rPr 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：主要用于生成可迭代对象。</a:t>
            </a:r>
          </a:p>
          <a:p>
            <a:pPr>
              <a:lnSpc>
                <a:spcPct val="150000"/>
              </a:lnSpc>
            </a:pPr>
            <a:r>
              <a:rPr 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基本语法：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range(stop)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：返回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0,stop-1</a:t>
            </a:r>
            <a:r>
              <a:rPr lang="zh-CN" altLang="zh-CN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之间的数据序列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range(start, stop)</a:t>
            </a:r>
            <a:r>
              <a:rPr lang="zh-CN" altLang="zh-CN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：返回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start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stop-1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之间的数据序列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range(start, stop, step)</a:t>
            </a:r>
            <a:r>
              <a:rPr lang="zh-CN" altLang="zh-CN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：返回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start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，</a:t>
            </a:r>
            <a:r>
              <a:rPr lang="en-US" altLang="zh-CN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stop-1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之间的数据序列，每次前进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step</a:t>
            </a:r>
            <a:r>
              <a:rPr lang="zh-CN" altLang="en-US" sz="1400" dirty="0">
                <a:solidFill>
                  <a:schemeClr val="tx1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个步长</a:t>
            </a:r>
          </a:p>
        </p:txBody>
      </p:sp>
      <p:sp>
        <p:nvSpPr>
          <p:cNvPr id="6" name="椭圆 5"/>
          <p:cNvSpPr/>
          <p:nvPr>
            <p:custDataLst>
              <p:tags r:id="rId6"/>
            </p:custDataLst>
          </p:nvPr>
        </p:nvSpPr>
        <p:spPr>
          <a:xfrm>
            <a:off x="7976182" y="2721226"/>
            <a:ext cx="3098449" cy="2944623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  <a:sym typeface="+mn-ea"/>
              </a:rPr>
              <a:t>记住：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  <a:sym typeface="+mn-ea"/>
              </a:rPr>
              <a:t>range()</a:t>
            </a:r>
            <a:r>
              <a:rPr lang="zh-CN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  <a:sym typeface="+mn-ea"/>
              </a:rPr>
              <a:t>函数是只顾头来尾不管，包含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  <a:sym typeface="+mn-ea"/>
              </a:rPr>
              <a:t>start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  <a:sym typeface="+mn-ea"/>
              </a:rPr>
              <a:t>，但是不包含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  <a:sym typeface="+mn-ea"/>
              </a:rPr>
              <a:t>stop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  <a:sym typeface="+mn-ea"/>
              </a:rPr>
              <a:t>结尾元素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中的循环结构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⑤</a:t>
            </a:r>
            <a:r>
              <a:rPr 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循环中的两大关键字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break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与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continue</a:t>
            </a: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270635" y="2421255"/>
            <a:ext cx="9889490" cy="309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break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作用：立刻结束break所在的循环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continue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作用：用来结束本次循环，紧接着执行下一次的循环</a:t>
            </a:r>
          </a:p>
        </p:txBody>
      </p:sp>
      <p:sp>
        <p:nvSpPr>
          <p:cNvPr id="4" name="文本框 3"/>
          <p:cNvSpPr txBox="1"/>
          <p:nvPr>
            <p:custDataLst>
              <p:tags r:id="rId6"/>
            </p:custDataLst>
          </p:nvPr>
        </p:nvSpPr>
        <p:spPr>
          <a:xfrm>
            <a:off x="1369060" y="3279140"/>
            <a:ext cx="4602480" cy="2353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break关键字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for i in range(1, 6):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if i == 4: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print('已经吃饱了，后面的苹果不吃了！')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break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print(f'正在吃第{i}个苹果')</a:t>
            </a:r>
          </a:p>
        </p:txBody>
      </p:sp>
      <p:sp>
        <p:nvSpPr>
          <p:cNvPr id="5" name="文本框 4"/>
          <p:cNvSpPr txBox="1"/>
          <p:nvPr>
            <p:custDataLst>
              <p:tags r:id="rId7"/>
            </p:custDataLst>
          </p:nvPr>
        </p:nvSpPr>
        <p:spPr>
          <a:xfrm>
            <a:off x="6383655" y="3279140"/>
            <a:ext cx="4602480" cy="23533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continue关键字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for i in range(1, 6):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if i == 3: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print('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不好，有大虫，这个苹果不吃了！</a:t>
            </a: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')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continue</a:t>
            </a:r>
          </a:p>
          <a:p>
            <a:pPr>
              <a:lnSpc>
                <a:spcPct val="150000"/>
              </a:lnSpc>
            </a:pPr>
            <a:r>
              <a:rPr 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print(f'正在吃第{i}个苹果')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3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⑥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for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循环综合案例：猜数字游戏开发</a:t>
            </a: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169535" y="2747645"/>
            <a:ext cx="6375400" cy="309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猜数字游戏规则：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① 系统随机生成1-10之间的一个数字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② 一共3次猜数字机会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③ 输入不同的数字，然后与系统生成的数字进行判断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有三种情况：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猜对了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猜大了</a:t>
            </a:r>
          </a:p>
          <a:p>
            <a:pPr>
              <a:lnSpc>
                <a:spcPct val="150000"/>
              </a:lnSpc>
            </a:pPr>
            <a:r>
              <a:rPr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猜小了</a:t>
            </a:r>
          </a:p>
        </p:txBody>
      </p:sp>
      <p:pic>
        <p:nvPicPr>
          <p:cNvPr id="2" name="图片 1" descr="01 (127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5725" y="2333625"/>
            <a:ext cx="3504565" cy="350456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122295" y="627380"/>
            <a:ext cx="5940425" cy="5603240"/>
            <a:chOff x="5080" y="988"/>
            <a:chExt cx="9038" cy="88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组合 10"/>
            <p:cNvGrpSpPr/>
            <p:nvPr/>
          </p:nvGrpSpPr>
          <p:grpSpPr>
            <a:xfrm>
              <a:off x="5080" y="988"/>
              <a:ext cx="9039" cy="8825"/>
              <a:chOff x="5348" y="1147"/>
              <a:chExt cx="8504" cy="8506"/>
            </a:xfrm>
            <a:gradFill>
              <a:gsLst>
                <a:gs pos="0">
                  <a:schemeClr val="bg1"/>
                </a:gs>
                <a:gs pos="50000">
                  <a:schemeClr val="tx2">
                    <a:lumMod val="10000"/>
                    <a:lumOff val="9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5400000" scaled="0"/>
            </a:gradFill>
          </p:grpSpPr>
          <p:grpSp>
            <p:nvGrpSpPr>
              <p:cNvPr id="12" name="组合 11"/>
              <p:cNvGrpSpPr/>
              <p:nvPr/>
            </p:nvGrpSpPr>
            <p:grpSpPr>
              <a:xfrm>
                <a:off x="5348" y="1148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3" name="流程图: 终止 12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流程图: 终止 13"/>
                <p:cNvSpPr/>
                <p:nvPr>
                  <p:custDataLst>
                    <p:tags r:id="rId16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 rot="270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6" name="流程图: 终止 15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流程图: 终止 16"/>
                <p:cNvSpPr/>
                <p:nvPr>
                  <p:custDataLst>
                    <p:tags r:id="rId14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rot="1380000">
                <a:off x="5348" y="1147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6" name="流程图: 终止 25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流程图: 终止 26"/>
                <p:cNvSpPr/>
                <p:nvPr>
                  <p:custDataLst>
                    <p:tags r:id="rId12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 rot="2022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9" name="流程图: 终止 2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流程图: 终止 29"/>
                <p:cNvSpPr/>
                <p:nvPr>
                  <p:custDataLst>
                    <p:tags r:id="rId10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1" name="椭圆 30"/>
            <p:cNvSpPr/>
            <p:nvPr>
              <p:custDataLst>
                <p:tags r:id="rId7"/>
              </p:custDataLst>
            </p:nvPr>
          </p:nvSpPr>
          <p:spPr>
            <a:xfrm>
              <a:off x="5501" y="1400"/>
              <a:ext cx="8195" cy="799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5828" y="1633"/>
              <a:ext cx="7540" cy="754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0" name="直接连接符 39"/>
          <p:cNvCxnSpPr>
            <a:cxnSpLocks noChangeAspect="1"/>
          </p:cNvCxnSpPr>
          <p:nvPr>
            <p:custDataLst>
              <p:tags r:id="rId1"/>
            </p:custDataLst>
          </p:nvPr>
        </p:nvCxnSpPr>
        <p:spPr>
          <a:xfrm>
            <a:off x="1656080" y="911225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cxnSpLocks noChangeAspect="1"/>
          </p:cNvCxnSpPr>
          <p:nvPr>
            <p:custDataLst>
              <p:tags r:id="rId2"/>
            </p:custDataLst>
          </p:nvPr>
        </p:nvCxnSpPr>
        <p:spPr>
          <a:xfrm>
            <a:off x="1221740" y="1014095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368040" y="3105785"/>
            <a:ext cx="5448935" cy="1114425"/>
            <a:chOff x="5304" y="5005"/>
            <a:chExt cx="8581" cy="1755"/>
          </a:xfrm>
        </p:grpSpPr>
        <p:sp>
          <p:nvSpPr>
            <p:cNvPr id="44" name="文本框 43"/>
            <p:cNvSpPr txBox="1"/>
            <p:nvPr>
              <p:custDataLst>
                <p:tags r:id="rId5"/>
              </p:custDataLst>
            </p:nvPr>
          </p:nvSpPr>
          <p:spPr>
            <a:xfrm>
              <a:off x="6186" y="6326"/>
              <a:ext cx="683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200" b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站酷快乐体" panose="02010600030101010101" charset="-128"/>
                  <a:ea typeface="宋体" panose="02010600030101010101" pitchFamily="2" charset="-122"/>
                  <a:cs typeface="汉仪中黑S" panose="00020600040101010101" charset="-122"/>
                  <a:sym typeface="+mn-ea"/>
                </a:rPr>
                <a:t>List</a:t>
              </a:r>
              <a:r>
                <a:rPr lang="zh-CN" alt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站酷快乐体" panose="02010600030101010101" charset="-128"/>
                  <a:ea typeface="宋体" panose="02010600030101010101" pitchFamily="2" charset="-122"/>
                  <a:cs typeface="汉仪中黑S" panose="00020600040101010101" charset="-122"/>
                  <a:sym typeface="+mn-ea"/>
                </a:rPr>
                <a:t>，</a:t>
              </a:r>
              <a:r>
                <a:rPr lang="en-US" altLang="zh-CN" sz="1200" b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站酷快乐体" panose="02010600030101010101" charset="-128"/>
                  <a:ea typeface="宋体" panose="02010600030101010101" pitchFamily="2" charset="-122"/>
                  <a:cs typeface="汉仪中黑S" panose="00020600040101010101" charset="-122"/>
                  <a:sym typeface="+mn-ea"/>
                </a:rPr>
                <a:t>Set</a:t>
              </a:r>
              <a:r>
                <a:rPr lang="zh-CN" alt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站酷快乐体" panose="02010600030101010101" charset="-128"/>
                  <a:ea typeface="宋体" panose="02010600030101010101" pitchFamily="2" charset="-122"/>
                  <a:cs typeface="汉仪中黑S" panose="00020600040101010101" charset="-122"/>
                  <a:sym typeface="+mn-ea"/>
                </a:rPr>
                <a:t>，</a:t>
              </a:r>
              <a:r>
                <a:rPr lang="en-US" altLang="zh-CN" sz="1200" b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站酷快乐体" panose="02010600030101010101" charset="-128"/>
                  <a:ea typeface="宋体" panose="02010600030101010101" pitchFamily="2" charset="-122"/>
                  <a:cs typeface="汉仪中黑S" panose="00020600040101010101" charset="-122"/>
                  <a:sym typeface="+mn-ea"/>
                </a:rPr>
                <a:t>Dict</a:t>
              </a:r>
              <a:r>
                <a:rPr lang="zh-CN" alt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站酷快乐体" panose="02010600030101010101" charset="-128"/>
                  <a:ea typeface="宋体" panose="02010600030101010101" pitchFamily="2" charset="-122"/>
                  <a:cs typeface="汉仪中黑S" panose="00020600040101010101" charset="-122"/>
                  <a:sym typeface="+mn-ea"/>
                </a:rPr>
                <a:t>，</a:t>
              </a:r>
              <a:r>
                <a:rPr lang="en-US" altLang="zh-CN" sz="1200" b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站酷快乐体" panose="02010600030101010101" charset="-128"/>
                  <a:ea typeface="宋体" panose="02010600030101010101" pitchFamily="2" charset="-122"/>
                  <a:cs typeface="汉仪中黑S" panose="00020600040101010101" charset="-122"/>
                  <a:sym typeface="+mn-ea"/>
                </a:rPr>
                <a:t>Tuple</a:t>
              </a:r>
            </a:p>
          </p:txBody>
        </p:sp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5304" y="5005"/>
              <a:ext cx="8581" cy="101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Python</a:t>
              </a:r>
              <a:r>
                <a:rPr lang="zh-CN" altLang="en-US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中数据容器</a:t>
              </a:r>
              <a:endParaRPr lang="zh-CN" sz="36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endParaRPr>
            </a:p>
          </p:txBody>
        </p:sp>
      </p:grpSp>
      <p:cxnSp>
        <p:nvCxnSpPr>
          <p:cNvPr id="42" name="直接连接符 41"/>
          <p:cNvCxnSpPr>
            <a:cxnSpLocks noChangeAspect="1"/>
          </p:cNvCxnSpPr>
          <p:nvPr>
            <p:custDataLst>
              <p:tags r:id="rId3"/>
            </p:custDataLst>
          </p:nvPr>
        </p:nvCxnSpPr>
        <p:spPr>
          <a:xfrm>
            <a:off x="9115425" y="4871720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cxnSpLocks noChangeAspect="1"/>
          </p:cNvCxnSpPr>
          <p:nvPr>
            <p:custDataLst>
              <p:tags r:id="rId4"/>
            </p:custDataLst>
          </p:nvPr>
        </p:nvCxnSpPr>
        <p:spPr>
          <a:xfrm>
            <a:off x="10128250" y="5591810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数据结构</a:t>
            </a: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List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宋体" panose="02010600030101010101" pitchFamily="2" charset="-122"/>
              </a:rPr>
              <a:t>列表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①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List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列表增删改查</a:t>
            </a: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1285875" y="4730750"/>
            <a:ext cx="2557780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3145"/>
              </a:lnSpc>
            </a:pPr>
            <a:r>
              <a:rPr 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list</a:t>
            </a:r>
            <a:r>
              <a:rPr lang="zh-CN" alt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增删改查</a:t>
            </a:r>
          </a:p>
        </p:txBody>
      </p:sp>
      <p:sp>
        <p:nvSpPr>
          <p:cNvPr id="36" name="矩形: 圆角 35"/>
          <p:cNvSpPr/>
          <p:nvPr>
            <p:custDataLst>
              <p:tags r:id="rId8"/>
            </p:custDataLst>
          </p:nvPr>
        </p:nvSpPr>
        <p:spPr>
          <a:xfrm rot="18900000">
            <a:off x="1861863" y="2792498"/>
            <a:ext cx="1256102" cy="1256102"/>
          </a:xfrm>
          <a:prstGeom prst="roundRect">
            <a:avLst>
              <a:gd name="adj" fmla="val 35535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1236464" y="4303207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代码</a:t>
            </a: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263140" y="3204845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792980" y="2186305"/>
            <a:ext cx="5697220" cy="415226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FF0000"/>
                </a:solidFill>
              </a:rPr>
              <a:t>#创建一个列表</a:t>
            </a:r>
          </a:p>
          <a:p>
            <a:pPr>
              <a:lnSpc>
                <a:spcPct val="150000"/>
              </a:lnSpc>
            </a:pPr>
            <a:r>
              <a:rPr lang="zh-CN" altLang="en-US" sz="1400"/>
              <a:t>number_list = [1, 3, 5, 7, 9]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FF0000"/>
                </a:solidFill>
              </a:rPr>
              <a:t>#访问列表中的值</a:t>
            </a:r>
          </a:p>
          <a:p>
            <a:pPr>
              <a:lnSpc>
                <a:spcPct val="150000"/>
              </a:lnSpc>
            </a:pPr>
            <a:r>
              <a:rPr lang="zh-CN" altLang="en-US" sz="1400"/>
              <a:t>second_num = number_list[1]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FF0000"/>
                </a:solidFill>
              </a:rPr>
              <a:t>#更新列表</a:t>
            </a:r>
          </a:p>
          <a:p>
            <a:pPr>
              <a:lnSpc>
                <a:spcPct val="150000"/>
              </a:lnSpc>
            </a:pPr>
            <a:r>
              <a:rPr lang="zh-CN" altLang="en-US" sz="1400"/>
              <a:t>print("number_list before: " + str(number_list))</a:t>
            </a:r>
          </a:p>
          <a:p>
            <a:pPr>
              <a:lnSpc>
                <a:spcPct val="150000"/>
              </a:lnSpc>
            </a:pPr>
            <a:r>
              <a:rPr lang="zh-CN" altLang="en-US" sz="1400"/>
              <a:t>number_list[1] = 30</a:t>
            </a:r>
          </a:p>
          <a:p>
            <a:pPr>
              <a:lnSpc>
                <a:spcPct val="150000"/>
              </a:lnSpc>
            </a:pPr>
            <a:r>
              <a:rPr lang="zh-CN" altLang="en-US" sz="1400"/>
              <a:t>print("number_list after: " + str(number_list))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rgbClr val="FF0000"/>
                </a:solidFill>
              </a:rPr>
              <a:t>#删除列表元素</a:t>
            </a:r>
          </a:p>
          <a:p>
            <a:pPr>
              <a:lnSpc>
                <a:spcPct val="150000"/>
              </a:lnSpc>
            </a:pPr>
            <a:r>
              <a:rPr lang="zh-CN" altLang="en-US" sz="1400"/>
              <a:t>print("mixed_list before delete: " + str(mixed_list))</a:t>
            </a:r>
          </a:p>
          <a:p>
            <a:pPr>
              <a:lnSpc>
                <a:spcPct val="150000"/>
              </a:lnSpc>
            </a:pPr>
            <a:r>
              <a:rPr lang="zh-CN" altLang="en-US" sz="1400"/>
              <a:t>del mixed_list[2]</a:t>
            </a:r>
          </a:p>
          <a:p>
            <a:pPr>
              <a:lnSpc>
                <a:spcPct val="150000"/>
              </a:lnSpc>
            </a:pPr>
            <a:r>
              <a:rPr lang="zh-CN" altLang="en-US" sz="1400"/>
              <a:t>print("mixed_list after delete: " + str(mixed_list))</a:t>
            </a:r>
          </a:p>
          <a:p>
            <a:pPr>
              <a:lnSpc>
                <a:spcPct val="150000"/>
              </a:lnSpc>
            </a:pPr>
            <a:endParaRPr lang="zh-CN" altLang="en-US" sz="14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数据结构</a:t>
            </a: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List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宋体" panose="02010600030101010101" pitchFamily="2" charset="-122"/>
              </a:rPr>
              <a:t>列表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①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List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列表其他操作</a:t>
            </a: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1285875" y="4730750"/>
            <a:ext cx="2557780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3145"/>
              </a:lnSpc>
            </a:pPr>
            <a:r>
              <a:rPr 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list</a:t>
            </a:r>
            <a:r>
              <a:rPr lang="zh-CN" alt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其他操作</a:t>
            </a:r>
          </a:p>
        </p:txBody>
      </p:sp>
      <p:sp>
        <p:nvSpPr>
          <p:cNvPr id="36" name="矩形: 圆角 35"/>
          <p:cNvSpPr/>
          <p:nvPr>
            <p:custDataLst>
              <p:tags r:id="rId8"/>
            </p:custDataLst>
          </p:nvPr>
        </p:nvSpPr>
        <p:spPr>
          <a:xfrm rot="18900000">
            <a:off x="1861863" y="2792498"/>
            <a:ext cx="1256102" cy="1256102"/>
          </a:xfrm>
          <a:prstGeom prst="roundRect">
            <a:avLst>
              <a:gd name="adj" fmla="val 35535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1236464" y="4303207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代码</a:t>
            </a: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263140" y="3204845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43655" y="2421255"/>
            <a:ext cx="5697220" cy="4765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print(len([1,2,3])) #长度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print([1,2,3] + [4,5,6]) #组合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print(['Hello'] * 4) #重复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print(3 in [1,2,3]) #某元素是否在列表中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#列表的访问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abcd_list =['a', 'b', 'c', 'd']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print(abcd_list[1])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print(abcd_list[-2])</a:t>
            </a:r>
            <a:endParaRPr lang="en-US" altLang="zh-CN" sz="1400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</a:rPr>
              <a:t>#</a:t>
            </a:r>
            <a:r>
              <a:rPr lang="zh-CN" altLang="en-US" sz="1400" dirty="0">
                <a:solidFill>
                  <a:srgbClr val="FF0000"/>
                </a:solidFill>
              </a:rPr>
              <a:t>列表的切片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print(abcd_list[1:])、</a:t>
            </a:r>
            <a:r>
              <a:rPr lang="en-US" altLang="zh-CN" sz="1400" dirty="0">
                <a:solidFill>
                  <a:schemeClr val="tx1"/>
                </a:solidFill>
              </a:rPr>
              <a:t>print(</a:t>
            </a:r>
            <a:r>
              <a:rPr lang="en-US" altLang="zh-CN" sz="1400" dirty="0" err="1">
                <a:solidFill>
                  <a:schemeClr val="tx1"/>
                </a:solidFill>
              </a:rPr>
              <a:t>abcd_list</a:t>
            </a:r>
            <a:r>
              <a:rPr lang="en-US" altLang="zh-CN" sz="1400" dirty="0">
                <a:solidFill>
                  <a:schemeClr val="tx1"/>
                </a:solidFill>
              </a:rPr>
              <a:t>[:3]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print(</a:t>
            </a:r>
            <a:r>
              <a:rPr lang="en-US" altLang="zh-CN" sz="1400" dirty="0" err="1"/>
              <a:t>abcd_list</a:t>
            </a:r>
            <a:r>
              <a:rPr lang="en-US" altLang="zh-CN" sz="1400" dirty="0"/>
              <a:t>[1:3])</a:t>
            </a:r>
            <a:r>
              <a:rPr lang="zh-CN" altLang="en-US" sz="1400" dirty="0"/>
              <a:t>、</a:t>
            </a:r>
            <a:r>
              <a:rPr lang="en-US" altLang="zh-CN" sz="1400" dirty="0"/>
              <a:t>print(</a:t>
            </a:r>
            <a:r>
              <a:rPr lang="en-US" altLang="zh-CN" sz="1400" dirty="0" err="1"/>
              <a:t>abcd_list</a:t>
            </a:r>
            <a:r>
              <a:rPr lang="en-US" altLang="zh-CN" sz="1400" dirty="0"/>
              <a:t>[-4:-1:1]</a:t>
            </a:r>
          </a:p>
          <a:p>
            <a:pPr>
              <a:lnSpc>
                <a:spcPct val="150000"/>
              </a:lnSpc>
            </a:pPr>
            <a:r>
              <a:rPr lang="en-US" altLang="zh-CN" sz="1400" dirty="0"/>
              <a:t>print(</a:t>
            </a:r>
            <a:r>
              <a:rPr lang="en-US" altLang="zh-CN" sz="1400" dirty="0" err="1"/>
              <a:t>abcd_list</a:t>
            </a:r>
            <a:r>
              <a:rPr lang="en-US" altLang="zh-CN" sz="1400" dirty="0"/>
              <a:t>[:]</a:t>
            </a:r>
            <a:r>
              <a:rPr lang="zh-CN" altLang="en-US" sz="1400" dirty="0"/>
              <a:t>、</a:t>
            </a:r>
            <a:r>
              <a:rPr lang="en-US" altLang="zh-CN" sz="1400" dirty="0"/>
              <a:t>print(</a:t>
            </a:r>
            <a:r>
              <a:rPr lang="en-US" altLang="zh-CN" sz="1400" dirty="0" err="1"/>
              <a:t>abcd_list</a:t>
            </a:r>
            <a:r>
              <a:rPr lang="en-US" altLang="zh-CN" sz="1400" dirty="0"/>
              <a:t>[::-1]</a:t>
            </a:r>
            <a:r>
              <a:rPr lang="zh-CN" altLang="en-US" sz="1400" dirty="0"/>
              <a:t>、</a:t>
            </a:r>
            <a:r>
              <a:rPr lang="en-US" altLang="zh-CN" sz="1400" dirty="0"/>
              <a:t>print[::2]</a:t>
            </a:r>
          </a:p>
        </p:txBody>
      </p:sp>
      <p:sp>
        <p:nvSpPr>
          <p:cNvPr id="4" name="椭圆 3"/>
          <p:cNvSpPr/>
          <p:nvPr/>
        </p:nvSpPr>
        <p:spPr>
          <a:xfrm>
            <a:off x="7679055" y="2666365"/>
            <a:ext cx="3307080" cy="330708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altLang="en-US" sz="1400" dirty="0">
                <a:solidFill>
                  <a:schemeClr val="tx1"/>
                </a:solidFill>
              </a:rPr>
              <a:t>切片口诀：</a:t>
            </a:r>
            <a:endParaRPr lang="en-US" altLang="zh-CN" sz="1400" dirty="0">
              <a:solidFill>
                <a:schemeClr val="tx1"/>
              </a:solidFill>
            </a:endParaRPr>
          </a:p>
          <a:p>
            <a:pPr algn="l"/>
            <a:r>
              <a:rPr lang="zh-CN" altLang="en-US" sz="1400" dirty="0">
                <a:solidFill>
                  <a:srgbClr val="FF0000"/>
                </a:solidFill>
              </a:rPr>
              <a:t>切片其实很简单，只顾头来尾不管，步长为正正向移，步长为负则逆向移。</a:t>
            </a:r>
            <a:endParaRPr lang="en-US" altLang="zh-CN" sz="1400" dirty="0">
              <a:solidFill>
                <a:srgbClr val="FF0000"/>
              </a:solidFill>
            </a:endParaRPr>
          </a:p>
          <a:p>
            <a:pPr algn="l"/>
            <a:endParaRPr lang="en-US" altLang="zh-CN" sz="1400" dirty="0">
              <a:solidFill>
                <a:srgbClr val="FF0000"/>
              </a:solidFill>
            </a:endParaRPr>
          </a:p>
          <a:p>
            <a:pPr algn="l"/>
            <a:r>
              <a:rPr lang="zh-CN" altLang="en-US" sz="1400" dirty="0">
                <a:solidFill>
                  <a:schemeClr val="tx1"/>
                </a:solidFill>
              </a:rPr>
              <a:t>注意：</a:t>
            </a:r>
          </a:p>
          <a:p>
            <a:pPr algn="l"/>
            <a:r>
              <a:rPr lang="zh-CN" altLang="en-US" sz="1400" dirty="0">
                <a:solidFill>
                  <a:srgbClr val="FF0000"/>
                </a:solidFill>
              </a:rPr>
              <a:t>不仅列表支持切片，字符串、元组也支持切片操作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数据结构</a:t>
            </a: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en-US" altLang="zh-CN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List</a:t>
            </a:r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宋体" panose="02010600030101010101" pitchFamily="2" charset="-122"/>
              </a:rPr>
              <a:t>列表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①</a:t>
            </a:r>
            <a:r>
              <a:rPr lang="en-US" altLang="zh-CN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List</a:t>
            </a:r>
            <a:r>
              <a:rPr lang="zh-CN" altLang="en-US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列表其他操作</a:t>
            </a: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1285875" y="4730750"/>
            <a:ext cx="2557780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3145"/>
              </a:lnSpc>
            </a:pPr>
            <a:r>
              <a:rPr 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list</a:t>
            </a:r>
            <a:r>
              <a:rPr lang="zh-CN" alt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其他操作</a:t>
            </a:r>
          </a:p>
        </p:txBody>
      </p:sp>
      <p:sp>
        <p:nvSpPr>
          <p:cNvPr id="36" name="矩形: 圆角 35"/>
          <p:cNvSpPr/>
          <p:nvPr>
            <p:custDataLst>
              <p:tags r:id="rId8"/>
            </p:custDataLst>
          </p:nvPr>
        </p:nvSpPr>
        <p:spPr>
          <a:xfrm rot="18900000">
            <a:off x="1861863" y="2792498"/>
            <a:ext cx="1256102" cy="1256102"/>
          </a:xfrm>
          <a:prstGeom prst="roundRect">
            <a:avLst>
              <a:gd name="adj" fmla="val 35535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1236464" y="4303207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代码</a:t>
            </a: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263140" y="3204845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665855" y="2186305"/>
            <a:ext cx="7904480" cy="4765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# 列表操作包含以下函数: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# </a:t>
            </a:r>
            <a:r>
              <a:rPr lang="en-US" altLang="zh-CN" sz="1400" dirty="0"/>
              <a:t>1</a:t>
            </a:r>
            <a:r>
              <a:rPr lang="zh-CN" altLang="en-US" sz="1400" dirty="0">
                <a:solidFill>
                  <a:schemeClr val="tx1"/>
                </a:solidFill>
              </a:rPr>
              <a:t>、len(list)：列表元素个数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# </a:t>
            </a:r>
            <a:r>
              <a:rPr lang="en-US" altLang="zh-CN" sz="1400" dirty="0">
                <a:solidFill>
                  <a:schemeClr val="tx1"/>
                </a:solidFill>
              </a:rPr>
              <a:t>2</a:t>
            </a:r>
            <a:r>
              <a:rPr lang="zh-CN" altLang="en-US" sz="1400" dirty="0">
                <a:solidFill>
                  <a:schemeClr val="tx1"/>
                </a:solidFill>
              </a:rPr>
              <a:t>、max(list)：返回列表元素最大值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# </a:t>
            </a:r>
            <a:r>
              <a:rPr lang="en-US" altLang="zh-CN" sz="1400" dirty="0">
                <a:solidFill>
                  <a:schemeClr val="tx1"/>
                </a:solidFill>
              </a:rPr>
              <a:t>3</a:t>
            </a:r>
            <a:r>
              <a:rPr lang="zh-CN" altLang="en-US" sz="1400" dirty="0">
                <a:solidFill>
                  <a:schemeClr val="tx1"/>
                </a:solidFill>
              </a:rPr>
              <a:t>、min(list)：返回列表元素最小值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# </a:t>
            </a:r>
            <a:r>
              <a:rPr lang="en-US" altLang="zh-CN" sz="1400" dirty="0">
                <a:solidFill>
                  <a:schemeClr val="tx1"/>
                </a:solidFill>
              </a:rPr>
              <a:t>4</a:t>
            </a:r>
            <a:r>
              <a:rPr lang="zh-CN" altLang="en-US" sz="1400" dirty="0">
                <a:solidFill>
                  <a:schemeClr val="tx1"/>
                </a:solidFill>
              </a:rPr>
              <a:t>、list(seq)：将元组转换为列表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</a:rPr>
              <a:t># 列表操作包含以下方法: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# 1、list.append(obj)：在列表末尾添加新的对象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# 2、list.count(obj)：统计某个元素在列表中出现的次数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# 3、list.extend(seq)：在列表末尾一次性追加另一个序列中的多个值（用新列表扩展原来的列表）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# </a:t>
            </a:r>
            <a:r>
              <a:rPr lang="en-US" altLang="zh-CN" sz="1400" dirty="0">
                <a:solidFill>
                  <a:schemeClr val="tx1"/>
                </a:solidFill>
              </a:rPr>
              <a:t>4</a:t>
            </a:r>
            <a:r>
              <a:rPr lang="zh-CN" altLang="en-US" sz="1400" dirty="0">
                <a:solidFill>
                  <a:schemeClr val="tx1"/>
                </a:solidFill>
              </a:rPr>
              <a:t>、list.remove(obj)：移除列表中某个值的第一个匹配项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# </a:t>
            </a:r>
            <a:r>
              <a:rPr lang="en-US" altLang="zh-CN" sz="1400" dirty="0">
                <a:solidFill>
                  <a:schemeClr val="tx1"/>
                </a:solidFill>
              </a:rPr>
              <a:t>5</a:t>
            </a:r>
            <a:r>
              <a:rPr lang="zh-CN" altLang="en-US" sz="1400" dirty="0">
                <a:solidFill>
                  <a:schemeClr val="tx1"/>
                </a:solidFill>
              </a:rPr>
              <a:t>、list.reverse()：反向列表中元素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/>
                </a:solidFill>
              </a:rPr>
              <a:t># </a:t>
            </a:r>
            <a:r>
              <a:rPr lang="en-US" altLang="zh-CN" sz="1400" dirty="0">
                <a:solidFill>
                  <a:schemeClr val="tx1"/>
                </a:solidFill>
              </a:rPr>
              <a:t>6</a:t>
            </a:r>
            <a:r>
              <a:rPr lang="zh-CN" altLang="en-US" sz="1400" dirty="0">
                <a:solidFill>
                  <a:schemeClr val="tx1"/>
                </a:solidFill>
              </a:rPr>
              <a:t>、list.sort([func])：对原列表进行排序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数据结构</a:t>
            </a:r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②</a:t>
            </a:r>
            <a:r>
              <a:rPr lang="en-US" altLang="zh-CN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T</a:t>
            </a:r>
            <a:r>
              <a:rPr lang="zh-CN" altLang="en-US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uple</a:t>
            </a: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1285875" y="4730750"/>
            <a:ext cx="2557780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3145"/>
              </a:lnSpc>
            </a:pPr>
            <a:r>
              <a:rPr lang="zh-CN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不可变数据类型</a:t>
            </a:r>
          </a:p>
        </p:txBody>
      </p:sp>
      <p:sp>
        <p:nvSpPr>
          <p:cNvPr id="36" name="矩形: 圆角 35"/>
          <p:cNvSpPr/>
          <p:nvPr>
            <p:custDataLst>
              <p:tags r:id="rId8"/>
            </p:custDataLst>
          </p:nvPr>
        </p:nvSpPr>
        <p:spPr>
          <a:xfrm rot="18900000">
            <a:off x="1861863" y="2792498"/>
            <a:ext cx="1256102" cy="1256102"/>
          </a:xfrm>
          <a:prstGeom prst="roundRect">
            <a:avLst>
              <a:gd name="adj" fmla="val 35535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1236464" y="4303207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sz="2000" b="1" spc="300" dirty="0"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元组</a:t>
            </a:r>
            <a:endParaRPr lang="zh-CN" altLang="en-US" sz="2000" b="1" spc="300" noProof="0" dirty="0">
              <a:ln>
                <a:noFill/>
              </a:ln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263140" y="3204845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11"/>
            </p:custDataLst>
          </p:nvPr>
        </p:nvSpPr>
        <p:spPr>
          <a:xfrm>
            <a:off x="3598545" y="2461260"/>
            <a:ext cx="7904480" cy="4765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</a:rPr>
              <a:t>#创建只有一个元素的 tuple，需要用逗号结尾消除歧义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</a:rPr>
              <a:t>a_tuple = (2,)</a:t>
            </a:r>
          </a:p>
          <a:p>
            <a:pPr>
              <a:lnSpc>
                <a:spcPct val="150000"/>
              </a:lnSpc>
            </a:pPr>
            <a:endParaRPr lang="zh-CN" altLang="en-US" sz="140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tx1"/>
                </a:solidFill>
              </a:rPr>
              <a:t>Tuple 是不可变 list。 一旦创建了一个 tuple 就不能以任何方式改变它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数据结构</a:t>
            </a:r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③</a:t>
            </a:r>
            <a:r>
              <a:rPr lang="en-US" altLang="zh-CN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Dict</a:t>
            </a: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1285875" y="4730750"/>
            <a:ext cx="2557780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3145"/>
              </a:lnSpc>
            </a:pPr>
            <a:r>
              <a:rPr lang="en-US" altLang="zh-CN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key-value</a:t>
            </a:r>
            <a:r>
              <a:rPr lang="zh-CN" alt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类型</a:t>
            </a:r>
          </a:p>
        </p:txBody>
      </p:sp>
      <p:sp>
        <p:nvSpPr>
          <p:cNvPr id="36" name="矩形: 圆角 35"/>
          <p:cNvSpPr/>
          <p:nvPr>
            <p:custDataLst>
              <p:tags r:id="rId8"/>
            </p:custDataLst>
          </p:nvPr>
        </p:nvSpPr>
        <p:spPr>
          <a:xfrm rot="18900000">
            <a:off x="1861863" y="2792498"/>
            <a:ext cx="1256102" cy="1256102"/>
          </a:xfrm>
          <a:prstGeom prst="roundRect">
            <a:avLst>
              <a:gd name="adj" fmla="val 35535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1236464" y="4303207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字典</a:t>
            </a: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263140" y="3204845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11"/>
            </p:custDataLst>
          </p:nvPr>
        </p:nvSpPr>
        <p:spPr>
          <a:xfrm>
            <a:off x="3598545" y="2287270"/>
            <a:ext cx="7904480" cy="476504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rgbClr val="FF0000"/>
                </a:solidFill>
              </a:rPr>
              <a:t>#创建一个词典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rgbClr val="FF0000"/>
                </a:solidFill>
              </a:rPr>
              <a:t>phone_book = {'Tom': 123, "Jerry": 456, 'Kim': 789}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rgbClr val="FF0000"/>
                </a:solidFill>
              </a:rPr>
              <a:t>#访问词典里的值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</a:rPr>
              <a:t>print("Tom's number is " + str(phone_book['Tom']))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rgbClr val="FF0000"/>
                </a:solidFill>
              </a:rPr>
              <a:t>#修改词典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</a:rPr>
              <a:t>phone_book['Tom'] = 999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</a:rPr>
              <a:t>phone_book['Heath'] = 888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</a:rPr>
              <a:t>print("phone_book: " + str(phone_book))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rgbClr val="FF0000"/>
                </a:solidFill>
              </a:rPr>
              <a:t>#删除词典元素以及词典本身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</a:rPr>
              <a:t>del phone_book['Tom']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</a:rPr>
              <a:t>print("phone_book after deleting Tom: " + str(phone_book))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rgbClr val="FF0000"/>
                </a:solidFill>
              </a:rPr>
              <a:t>#清空词典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</a:rPr>
              <a:t>phone_book.clear()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</a:rPr>
              <a:t>print("after clear: " + str(phone_book))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rgbClr val="FF0000"/>
                </a:solidFill>
              </a:rPr>
              <a:t>#删除词典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</a:rPr>
              <a:t>del phone_book</a:t>
            </a:r>
          </a:p>
          <a:p>
            <a:pPr>
              <a:lnSpc>
                <a:spcPct val="150000"/>
              </a:lnSpc>
            </a:pPr>
            <a:r>
              <a:rPr lang="zh-CN" altLang="en-US" sz="1000">
                <a:solidFill>
                  <a:schemeClr val="tx1"/>
                </a:solidFill>
              </a:rPr>
              <a:t># print("after del: " + str(phone_book))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数据结构</a:t>
            </a:r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④</a:t>
            </a:r>
            <a:r>
              <a:rPr lang="en-US" altLang="zh-CN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Set</a:t>
            </a: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1285875" y="4730750"/>
            <a:ext cx="2254250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3145"/>
              </a:lnSpc>
            </a:pPr>
            <a:r>
              <a:rPr lang="en-US" altLang="zh-CN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set</a:t>
            </a:r>
            <a:r>
              <a:rPr lang="zh-CN" alt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类型</a:t>
            </a:r>
          </a:p>
        </p:txBody>
      </p:sp>
      <p:sp>
        <p:nvSpPr>
          <p:cNvPr id="36" name="矩形: 圆角 35"/>
          <p:cNvSpPr/>
          <p:nvPr>
            <p:custDataLst>
              <p:tags r:id="rId8"/>
            </p:custDataLst>
          </p:nvPr>
        </p:nvSpPr>
        <p:spPr>
          <a:xfrm rot="18900000">
            <a:off x="1861863" y="2792498"/>
            <a:ext cx="1256102" cy="1256102"/>
          </a:xfrm>
          <a:prstGeom prst="roundRect">
            <a:avLst>
              <a:gd name="adj" fmla="val 35535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1236464" y="4303207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集合</a:t>
            </a: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263140" y="3204845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11"/>
            </p:custDataLst>
          </p:nvPr>
        </p:nvSpPr>
        <p:spPr>
          <a:xfrm>
            <a:off x="3598545" y="2287270"/>
            <a:ext cx="7904480" cy="40259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rgbClr val="FF0000"/>
                </a:solidFill>
              </a:rPr>
              <a:t>#集合的定义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a={3,5} </a:t>
            </a:r>
            <a:r>
              <a:rPr lang="zh-CN" altLang="en-US" sz="1000" dirty="0">
                <a:solidFill>
                  <a:srgbClr val="FF0000"/>
                </a:solidFill>
              </a:rPr>
              <a:t>#定义</a:t>
            </a:r>
            <a:r>
              <a:rPr lang="zh-CN" altLang="en-US" sz="1000">
                <a:solidFill>
                  <a:srgbClr val="FF0000"/>
                </a:solidFill>
              </a:rPr>
              <a:t>一个集合</a:t>
            </a:r>
            <a:endParaRPr lang="zh-CN" altLang="en-US" sz="1000" dirty="0">
              <a:solidFill>
                <a:srgbClr val="FF0000"/>
              </a:solidFill>
            </a:endParaRP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type(a)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a_set=set(range(8,14))</a:t>
            </a:r>
            <a:r>
              <a:rPr lang="zh-CN" altLang="en-US" sz="1000" dirty="0">
                <a:solidFill>
                  <a:srgbClr val="FF0000"/>
                </a:solidFill>
              </a:rPr>
              <a:t>#将 range 对象转化为集合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b_set=set([0,1,2,3,0,1,2,3,7,8])</a:t>
            </a:r>
            <a:r>
              <a:rPr lang="zh-CN" altLang="en-US" sz="1000" dirty="0">
                <a:solidFill>
                  <a:srgbClr val="FF0000"/>
                </a:solidFill>
              </a:rPr>
              <a:t>#转化时自动去掉重复元素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c_set=set((1,2,3))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d_set=set({1:'a',2:'b'}.items())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f_set=set() </a:t>
            </a:r>
            <a:r>
              <a:rPr lang="zh-CN" altLang="en-US" sz="1000" dirty="0">
                <a:solidFill>
                  <a:srgbClr val="FF0000"/>
                </a:solidFill>
              </a:rPr>
              <a:t>#空集合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d_set=set([8,9,10,11,12,13])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f_set={0,1,2,3,7,8}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d_set | f_set </a:t>
            </a:r>
            <a:r>
              <a:rPr lang="zh-CN" altLang="en-US" sz="1000" dirty="0">
                <a:solidFill>
                  <a:srgbClr val="FF0000"/>
                </a:solidFill>
              </a:rPr>
              <a:t>#并集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d_set.union(f_set) </a:t>
            </a:r>
            <a:r>
              <a:rPr lang="zh-CN" altLang="en-US" sz="1000" dirty="0">
                <a:solidFill>
                  <a:srgbClr val="FF0000"/>
                </a:solidFill>
              </a:rPr>
              <a:t>#并集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d_set &amp; f_set </a:t>
            </a:r>
            <a:r>
              <a:rPr lang="zh-CN" altLang="en-US" sz="1000" dirty="0">
                <a:solidFill>
                  <a:srgbClr val="FF0000"/>
                </a:solidFill>
              </a:rPr>
              <a:t>#交集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d_set.intersection(f_set) </a:t>
            </a:r>
            <a:r>
              <a:rPr lang="zh-CN" altLang="en-US" sz="1000" dirty="0">
                <a:solidFill>
                  <a:srgbClr val="FF0000"/>
                </a:solidFill>
              </a:rPr>
              <a:t>#交集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d_set.difference(f_set) </a:t>
            </a:r>
            <a:r>
              <a:rPr lang="zh-CN" altLang="en-US" sz="1000" dirty="0">
                <a:solidFill>
                  <a:srgbClr val="FF0000"/>
                </a:solidFill>
              </a:rPr>
              <a:t>#差集</a:t>
            </a:r>
          </a:p>
          <a:p>
            <a:pPr>
              <a:lnSpc>
                <a:spcPct val="150000"/>
              </a:lnSpc>
            </a:pPr>
            <a:r>
              <a:rPr lang="zh-CN" altLang="en-US" sz="1000" dirty="0">
                <a:solidFill>
                  <a:schemeClr val="tx1"/>
                </a:solidFill>
              </a:rPr>
              <a:t>d_set-f_set </a:t>
            </a:r>
            <a:r>
              <a:rPr lang="zh-CN" altLang="en-US" sz="1000" dirty="0">
                <a:solidFill>
                  <a:srgbClr val="FF0000"/>
                </a:solidFill>
              </a:rPr>
              <a:t>#差集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122295" y="627380"/>
            <a:ext cx="5940425" cy="5603240"/>
            <a:chOff x="5080" y="988"/>
            <a:chExt cx="9038" cy="88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组合 10"/>
            <p:cNvGrpSpPr/>
            <p:nvPr/>
          </p:nvGrpSpPr>
          <p:grpSpPr>
            <a:xfrm>
              <a:off x="5080" y="988"/>
              <a:ext cx="9039" cy="8825"/>
              <a:chOff x="5348" y="1147"/>
              <a:chExt cx="8504" cy="8506"/>
            </a:xfrm>
            <a:gradFill>
              <a:gsLst>
                <a:gs pos="0">
                  <a:schemeClr val="bg1"/>
                </a:gs>
                <a:gs pos="50000">
                  <a:schemeClr val="tx2">
                    <a:lumMod val="10000"/>
                    <a:lumOff val="9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5400000" scaled="0"/>
            </a:gradFill>
          </p:grpSpPr>
          <p:grpSp>
            <p:nvGrpSpPr>
              <p:cNvPr id="12" name="组合 11"/>
              <p:cNvGrpSpPr/>
              <p:nvPr/>
            </p:nvGrpSpPr>
            <p:grpSpPr>
              <a:xfrm>
                <a:off x="5348" y="1148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3" name="流程图: 终止 12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流程图: 终止 13"/>
                <p:cNvSpPr/>
                <p:nvPr>
                  <p:custDataLst>
                    <p:tags r:id="rId16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 rot="270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6" name="流程图: 终止 15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流程图: 终止 16"/>
                <p:cNvSpPr/>
                <p:nvPr>
                  <p:custDataLst>
                    <p:tags r:id="rId14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rot="1380000">
                <a:off x="5348" y="1147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6" name="流程图: 终止 25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流程图: 终止 26"/>
                <p:cNvSpPr/>
                <p:nvPr>
                  <p:custDataLst>
                    <p:tags r:id="rId12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 rot="2022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9" name="流程图: 终止 2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流程图: 终止 29"/>
                <p:cNvSpPr/>
                <p:nvPr>
                  <p:custDataLst>
                    <p:tags r:id="rId10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1" name="椭圆 30"/>
            <p:cNvSpPr/>
            <p:nvPr>
              <p:custDataLst>
                <p:tags r:id="rId7"/>
              </p:custDataLst>
            </p:nvPr>
          </p:nvSpPr>
          <p:spPr>
            <a:xfrm>
              <a:off x="5501" y="1400"/>
              <a:ext cx="8195" cy="799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5828" y="1633"/>
              <a:ext cx="7540" cy="754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0" name="直接连接符 39"/>
          <p:cNvCxnSpPr>
            <a:cxnSpLocks noChangeAspect="1"/>
          </p:cNvCxnSpPr>
          <p:nvPr>
            <p:custDataLst>
              <p:tags r:id="rId1"/>
            </p:custDataLst>
          </p:nvPr>
        </p:nvCxnSpPr>
        <p:spPr>
          <a:xfrm>
            <a:off x="1656080" y="911225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cxnSpLocks noChangeAspect="1"/>
          </p:cNvCxnSpPr>
          <p:nvPr>
            <p:custDataLst>
              <p:tags r:id="rId2"/>
            </p:custDataLst>
          </p:nvPr>
        </p:nvCxnSpPr>
        <p:spPr>
          <a:xfrm>
            <a:off x="1221740" y="1014095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368040" y="3105785"/>
            <a:ext cx="5448935" cy="1198880"/>
            <a:chOff x="5304" y="5005"/>
            <a:chExt cx="8581" cy="1888"/>
          </a:xfrm>
        </p:grpSpPr>
        <p:sp>
          <p:nvSpPr>
            <p:cNvPr id="44" name="文本框 43"/>
            <p:cNvSpPr txBox="1"/>
            <p:nvPr>
              <p:custDataLst>
                <p:tags r:id="rId5"/>
              </p:custDataLst>
            </p:nvPr>
          </p:nvSpPr>
          <p:spPr>
            <a:xfrm>
              <a:off x="6186" y="6326"/>
              <a:ext cx="683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站酷快乐体" panose="02010600030101010101" charset="-128"/>
                  <a:ea typeface="宋体" panose="02010600030101010101" pitchFamily="2" charset="-122"/>
                  <a:cs typeface="汉仪中黑S" panose="00020600040101010101" charset="-122"/>
                  <a:sym typeface="+mn-ea"/>
                </a:rPr>
                <a:t>核心步骤</a:t>
              </a:r>
            </a:p>
          </p:txBody>
        </p:sp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5304" y="5005"/>
              <a:ext cx="8581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Python的函数</a:t>
              </a:r>
            </a:p>
            <a:p>
              <a:pPr algn="ctr"/>
              <a:endParaRPr lang="zh-CN" sz="36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endParaRPr>
            </a:p>
          </p:txBody>
        </p:sp>
      </p:grpSp>
      <p:cxnSp>
        <p:nvCxnSpPr>
          <p:cNvPr id="42" name="直接连接符 41"/>
          <p:cNvCxnSpPr>
            <a:cxnSpLocks noChangeAspect="1"/>
          </p:cNvCxnSpPr>
          <p:nvPr>
            <p:custDataLst>
              <p:tags r:id="rId3"/>
            </p:custDataLst>
          </p:nvPr>
        </p:nvCxnSpPr>
        <p:spPr>
          <a:xfrm>
            <a:off x="9115425" y="4871720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cxnSpLocks noChangeAspect="1"/>
          </p:cNvCxnSpPr>
          <p:nvPr>
            <p:custDataLst>
              <p:tags r:id="rId4"/>
            </p:custDataLst>
          </p:nvPr>
        </p:nvCxnSpPr>
        <p:spPr>
          <a:xfrm>
            <a:off x="10128250" y="5591810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Python的函数</a:t>
            </a:r>
          </a:p>
          <a:p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定义如下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①函数的定义</a:t>
            </a: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881380" y="4730750"/>
            <a:ext cx="3756025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3145"/>
              </a:lnSpc>
            </a:pPr>
            <a:r>
              <a:rPr 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def</a:t>
            </a:r>
            <a:r>
              <a:rPr lang="zh-CN" alt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定义，有参数，有返回值</a:t>
            </a:r>
          </a:p>
        </p:txBody>
      </p:sp>
      <p:sp>
        <p:nvSpPr>
          <p:cNvPr id="36" name="矩形: 圆角 35"/>
          <p:cNvSpPr/>
          <p:nvPr>
            <p:custDataLst>
              <p:tags r:id="rId8"/>
            </p:custDataLst>
          </p:nvPr>
        </p:nvSpPr>
        <p:spPr>
          <a:xfrm rot="18900000">
            <a:off x="1861863" y="2792498"/>
            <a:ext cx="1256102" cy="1256102"/>
          </a:xfrm>
          <a:prstGeom prst="roundRect">
            <a:avLst>
              <a:gd name="adj" fmla="val 3553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1236464" y="4303207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函数定义</a:t>
            </a: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263140" y="3204845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860925" y="2666365"/>
            <a:ext cx="6125845" cy="2994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latin typeface="汉仪粗简黑简" panose="00020600040101010101" charset="-122"/>
                <a:cs typeface="汉仪粗简黑简" panose="00020600040101010101" charset="-122"/>
              </a:rPr>
              <a:t>函数：程序是一个</a:t>
            </a:r>
            <a:r>
              <a:rPr lang="zh-CN" altLang="en-US" sz="1200" b="1" dirty="0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</a:rPr>
              <a:t>被命名的</a:t>
            </a:r>
            <a:r>
              <a:rPr lang="zh-CN" altLang="en-US" sz="1200" b="1" dirty="0">
                <a:latin typeface="汉仪粗简黑简" panose="00020600040101010101" charset="-122"/>
                <a:cs typeface="汉仪粗简黑简" panose="00020600040101010101" charset="-122"/>
              </a:rPr>
              <a:t>、</a:t>
            </a:r>
            <a:r>
              <a:rPr lang="zh-CN" altLang="en-US" sz="1200" b="1" dirty="0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</a:rPr>
              <a:t>独立的，完成特定功能的一段代码</a:t>
            </a:r>
            <a:r>
              <a:rPr lang="zh-CN" altLang="en-US" sz="1200" b="1" dirty="0">
                <a:latin typeface="汉仪粗简黑简" panose="00020600040101010101" charset="-122"/>
                <a:cs typeface="汉仪粗简黑简" panose="00020600040101010101" charset="-122"/>
              </a:rPr>
              <a:t>，并</a:t>
            </a:r>
            <a:r>
              <a:rPr lang="zh-CN" altLang="en-US" sz="1200" b="1" dirty="0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</a:rPr>
              <a:t>可能</a:t>
            </a:r>
            <a:r>
              <a:rPr lang="zh-CN" altLang="en-US" sz="1200" b="1" dirty="0">
                <a:latin typeface="汉仪粗简黑简" panose="00020600040101010101" charset="-122"/>
                <a:cs typeface="汉仪粗简黑简" panose="00020600040101010101" charset="-122"/>
              </a:rPr>
              <a:t>给调用它的程序</a:t>
            </a:r>
            <a:r>
              <a:rPr lang="zh-CN" altLang="en-US" sz="1200" b="1" dirty="0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</a:rPr>
              <a:t>一个返回值</a:t>
            </a:r>
            <a:r>
              <a:rPr lang="zh-CN" altLang="en-US" sz="1200" b="1" dirty="0">
                <a:latin typeface="汉仪粗简黑简" panose="00020600040101010101" charset="-122"/>
                <a:cs typeface="汉仪粗简黑简" panose="00020600040101010101" charset="-122"/>
              </a:rPr>
              <a:t>。</a:t>
            </a:r>
            <a:endParaRPr lang="en-US" altLang="zh-CN" sz="1200" b="1" dirty="0">
              <a:latin typeface="汉仪粗简黑简" panose="00020600040101010101" charset="-122"/>
              <a:cs typeface="汉仪粗简黑简" panose="00020600040101010101" charset="-122"/>
            </a:endParaRPr>
          </a:p>
          <a:p>
            <a:pPr>
              <a:lnSpc>
                <a:spcPct val="150000"/>
              </a:lnSpc>
            </a:pPr>
            <a:endParaRPr lang="en-US" altLang="zh-CN" sz="1200" b="1" dirty="0">
              <a:latin typeface="汉仪粗简黑简" panose="00020600040101010101" charset="-122"/>
              <a:cs typeface="汉仪粗简黑简" panose="0002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latin typeface="汉仪粗简黑简" panose="00020600040101010101" charset="-122"/>
                <a:cs typeface="汉仪粗简黑简" panose="00020600040101010101" charset="-122"/>
              </a:rPr>
              <a:t>基本语法：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latin typeface="汉仪粗简黑简" panose="00020600040101010101" charset="-122"/>
                <a:cs typeface="汉仪粗简黑简" panose="00020600040101010101" charset="-122"/>
              </a:rPr>
              <a:t>def </a:t>
            </a:r>
            <a:r>
              <a:rPr lang="zh-CN" altLang="en-US" sz="1200" b="1" dirty="0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</a:rPr>
              <a:t>函数名称</a:t>
            </a:r>
            <a:r>
              <a:rPr lang="zh-CN" altLang="en-US" sz="1200" b="1" dirty="0">
                <a:latin typeface="汉仪粗简黑简" panose="00020600040101010101" charset="-122"/>
                <a:cs typeface="汉仪粗简黑简" panose="00020600040101010101" charset="-122"/>
              </a:rPr>
              <a:t>([</a:t>
            </a:r>
            <a:r>
              <a:rPr lang="zh-CN" altLang="en-US" sz="1200" b="1" dirty="0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</a:rPr>
              <a:t>参数1, 参数2, ...</a:t>
            </a:r>
            <a:r>
              <a:rPr lang="zh-CN" altLang="en-US" sz="1200" b="1" dirty="0">
                <a:latin typeface="汉仪粗简黑简" panose="00020600040101010101" charset="-122"/>
                <a:cs typeface="汉仪粗简黑简" panose="00020600040101010101" charset="-122"/>
              </a:rPr>
              <a:t>]):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latin typeface="汉仪粗简黑简" panose="00020600040101010101" charset="-122"/>
                <a:cs typeface="汉仪粗简黑简" panose="00020600040101010101" charset="-122"/>
              </a:rPr>
              <a:t>    函数体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latin typeface="汉仪粗简黑简" panose="00020600040101010101" charset="-122"/>
                <a:cs typeface="汉仪粗简黑简" panose="00020600040101010101" charset="-122"/>
              </a:rPr>
              <a:t>    ...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latin typeface="汉仪粗简黑简" panose="00020600040101010101" charset="-122"/>
                <a:cs typeface="汉仪粗简黑简" panose="00020600040101010101" charset="-122"/>
              </a:rPr>
              <a:t>    [</a:t>
            </a:r>
            <a:r>
              <a:rPr lang="zh-CN" altLang="en-US" sz="1200" b="1" dirty="0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</a:rPr>
              <a:t>return 返回值</a:t>
            </a:r>
            <a:r>
              <a:rPr lang="zh-CN" altLang="en-US" sz="1200" b="1" dirty="0">
                <a:latin typeface="汉仪粗简黑简" panose="00020600040101010101" charset="-122"/>
                <a:cs typeface="汉仪粗简黑简" panose="00020600040101010101" charset="-122"/>
              </a:rPr>
              <a:t>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Python的函数</a:t>
            </a: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  <a:sym typeface="+mn-ea"/>
              </a:rPr>
              <a:t>定义如下</a:t>
            </a:r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effectLst/>
              <a:latin typeface="站酷快乐体" panose="02010600030101010101" charset="-128"/>
              <a:ea typeface="站酷快乐体" panose="02010600030101010101" charset="-128"/>
            </a:endParaRP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②函数的参数与返回值</a:t>
            </a: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881380" y="4730750"/>
            <a:ext cx="2748915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3145"/>
              </a:lnSpc>
            </a:pPr>
            <a:r>
              <a:rPr lang="zh-CN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参数、返回值分类</a:t>
            </a:r>
          </a:p>
        </p:txBody>
      </p:sp>
      <p:sp>
        <p:nvSpPr>
          <p:cNvPr id="36" name="矩形: 圆角 35"/>
          <p:cNvSpPr/>
          <p:nvPr>
            <p:custDataLst>
              <p:tags r:id="rId8"/>
            </p:custDataLst>
          </p:nvPr>
        </p:nvSpPr>
        <p:spPr>
          <a:xfrm rot="18900000">
            <a:off x="1861863" y="2792498"/>
            <a:ext cx="1256102" cy="1256102"/>
          </a:xfrm>
          <a:prstGeom prst="roundRect">
            <a:avLst>
              <a:gd name="adj" fmla="val 3553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1236464" y="4303207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 fontScale="90000"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参数和返回值分类</a:t>
            </a: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263140" y="3204845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951605" y="2952115"/>
            <a:ext cx="2432685" cy="28301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</a:rPr>
              <a:t>#没有参数和没有返回值的函数</a:t>
            </a:r>
          </a:p>
          <a:p>
            <a:pPr>
              <a:lnSpc>
                <a:spcPct val="150000"/>
              </a:lnSpc>
            </a:pP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</a:rPr>
              <a:t>def </a:t>
            </a:r>
            <a:r>
              <a:rPr lang="en-US" altLang="zh-CN" sz="1200" b="1">
                <a:latin typeface="汉仪粗简黑简" panose="00020600040101010101" charset="-122"/>
                <a:cs typeface="汉仪粗简黑简" panose="00020600040101010101" charset="-122"/>
              </a:rPr>
              <a:t>greet</a:t>
            </a: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</a:rPr>
              <a:t>():</a:t>
            </a:r>
          </a:p>
          <a:p>
            <a:pPr>
              <a:lnSpc>
                <a:spcPct val="150000"/>
              </a:lnSpc>
            </a:pPr>
            <a:r>
              <a:rPr lang="en-US" altLang="zh-CN" sz="1200" b="1">
                <a:latin typeface="汉仪粗简黑简" panose="00020600040101010101" charset="-122"/>
                <a:cs typeface="汉仪粗简黑简" panose="00020600040101010101" charset="-122"/>
              </a:rPr>
              <a:t>  </a:t>
            </a: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</a:rPr>
              <a:t>print("您好")</a:t>
            </a:r>
          </a:p>
          <a:p>
            <a:pPr>
              <a:lnSpc>
                <a:spcPct val="150000"/>
              </a:lnSpc>
            </a:pPr>
            <a:r>
              <a:rPr lang="en-US" altLang="zh-CN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greet</a:t>
            </a: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en-US" altLang="zh-CN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greet</a:t>
            </a: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</a:rPr>
              <a:t>()</a:t>
            </a:r>
            <a:endParaRPr lang="zh-CN" altLang="en-US" sz="1200" b="1">
              <a:solidFill>
                <a:srgbClr val="FF0000"/>
              </a:solidFill>
              <a:latin typeface="汉仪粗简黑简" panose="00020600040101010101" charset="-122"/>
              <a:cs typeface="汉仪粗简黑简" panose="00020600040101010101" charset="-122"/>
            </a:endParaRPr>
          </a:p>
          <a:p>
            <a:pPr>
              <a:lnSpc>
                <a:spcPct val="150000"/>
              </a:lnSpc>
            </a:pPr>
            <a:endParaRPr lang="zh-CN" altLang="en-US" sz="1200" b="1">
              <a:latin typeface="汉仪粗简黑简" panose="00020600040101010101" charset="-122"/>
              <a:cs typeface="汉仪粗简黑简" panose="00020600040101010101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1"/>
            </p:custDataLst>
          </p:nvPr>
        </p:nvSpPr>
        <p:spPr>
          <a:xfrm>
            <a:off x="8830945" y="2952115"/>
            <a:ext cx="2262505" cy="2994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#有参数，有返回值</a:t>
            </a:r>
          </a:p>
          <a:p>
            <a:pPr>
              <a:lnSpc>
                <a:spcPct val="150000"/>
              </a:lnSpc>
            </a:pPr>
            <a:r>
              <a:rPr 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def greet(name):</a:t>
            </a:r>
          </a:p>
          <a:p>
            <a:pPr>
              <a:lnSpc>
                <a:spcPct val="150000"/>
              </a:lnSpc>
            </a:pPr>
            <a:r>
              <a:rPr 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  return </a:t>
            </a:r>
            <a:r>
              <a:rPr lang="en-US" altLang="zh-CN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name + </a:t>
            </a: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"，您好"</a:t>
            </a:r>
            <a:endParaRPr lang="zh-CN" altLang="en-US" sz="1200" b="1">
              <a:solidFill>
                <a:srgbClr val="FF0000"/>
              </a:solidFill>
              <a:latin typeface="汉仪粗简黑简" panose="00020600040101010101" charset="-122"/>
              <a:cs typeface="汉仪粗简黑简" panose="00020600040101010101" charset="-122"/>
            </a:endParaRPr>
          </a:p>
          <a:p>
            <a:pPr>
              <a:lnSpc>
                <a:spcPct val="150000"/>
              </a:lnSpc>
            </a:pPr>
            <a:endParaRPr lang="zh-CN" altLang="en-US" sz="1200" b="1">
              <a:solidFill>
                <a:srgbClr val="FF0000"/>
              </a:solidFill>
              <a:latin typeface="汉仪粗简黑简" panose="00020600040101010101" charset="-122"/>
              <a:cs typeface="汉仪粗简黑简" panose="00020600040101010101" charset="-122"/>
            </a:endParaRPr>
          </a:p>
          <a:p>
            <a:pPr>
              <a:lnSpc>
                <a:spcPct val="150000"/>
              </a:lnSpc>
            </a:pPr>
            <a:r>
              <a:rPr 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</a:rPr>
              <a:t>result = greet(</a:t>
            </a:r>
            <a:r>
              <a:rPr lang="zh-CN" alt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"张老师"</a:t>
            </a:r>
            <a:r>
              <a:rPr lang="en-US" altLang="zh-CN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print(result)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6584950" y="2952115"/>
            <a:ext cx="2209800" cy="30657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#有参数，无返回值</a:t>
            </a:r>
          </a:p>
          <a:p>
            <a:pPr>
              <a:lnSpc>
                <a:spcPct val="150000"/>
              </a:lnSpc>
            </a:pPr>
            <a:r>
              <a:rPr 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def greet(name):</a:t>
            </a:r>
          </a:p>
          <a:p>
            <a:pPr>
              <a:lnSpc>
                <a:spcPct val="150000"/>
              </a:lnSpc>
            </a:pPr>
            <a:r>
              <a:rPr 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  </a:t>
            </a: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print(</a:t>
            </a:r>
            <a:r>
              <a:rPr lang="en-US" altLang="zh-CN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name + </a:t>
            </a: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"，您好")</a:t>
            </a:r>
          </a:p>
          <a:p>
            <a:pPr>
              <a:lnSpc>
                <a:spcPct val="150000"/>
              </a:lnSpc>
            </a:pPr>
            <a:endParaRPr lang="zh-CN" altLang="en-US" sz="1200" b="1">
              <a:solidFill>
                <a:srgbClr val="FF0000"/>
              </a:solidFill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greet(</a:t>
            </a: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"张老师"</a:t>
            </a:r>
            <a:r>
              <a:rPr lang="en-US" altLang="zh-CN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greet(</a:t>
            </a: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"赵老师"</a:t>
            </a:r>
            <a:r>
              <a:rPr lang="en-US" altLang="zh-CN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en-US" altLang="zh-CN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greet(</a:t>
            </a: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"李老师"</a:t>
            </a:r>
            <a:r>
              <a:rPr lang="en-US" altLang="zh-CN" sz="12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)</a:t>
            </a:r>
            <a:endParaRPr lang="zh-CN" altLang="en-US" sz="1200" b="1">
              <a:latin typeface="汉仪粗简黑简" panose="00020600040101010101" charset="-122"/>
              <a:cs typeface="汉仪粗简黑简" panose="00020600040101010101" charset="-122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Python的函数</a:t>
            </a:r>
          </a:p>
          <a:p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③变量的作用域</a:t>
            </a: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821055" y="4722495"/>
            <a:ext cx="3094355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3145"/>
              </a:lnSpc>
            </a:pPr>
            <a:r>
              <a:rPr lang="zh-CN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全局</a:t>
            </a:r>
            <a:r>
              <a:rPr lang="en-US" altLang="zh-CN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/</a:t>
            </a:r>
            <a:r>
              <a:rPr lang="zh-CN" alt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局部变量举例</a:t>
            </a:r>
          </a:p>
        </p:txBody>
      </p:sp>
      <p:sp>
        <p:nvSpPr>
          <p:cNvPr id="36" name="矩形: 圆角 35"/>
          <p:cNvSpPr/>
          <p:nvPr>
            <p:custDataLst>
              <p:tags r:id="rId8"/>
            </p:custDataLst>
          </p:nvPr>
        </p:nvSpPr>
        <p:spPr>
          <a:xfrm rot="18900000">
            <a:off x="1861863" y="2792498"/>
            <a:ext cx="1256102" cy="1256102"/>
          </a:xfrm>
          <a:prstGeom prst="roundRect">
            <a:avLst>
              <a:gd name="adj" fmla="val 3553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1236464" y="4303207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 fontScale="80000" lnSpcReduction="10000"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全局变量和局部变量</a:t>
            </a: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263140" y="3204845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328160" y="2532380"/>
            <a:ext cx="6657340" cy="340868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变量作用域指的是变量的作用范围（变量在哪里可用，在哪里不可用），主要分为两类：全局作用域与局部作用域。在函数内部定义范围就称之为局部作用域，在函数外部（全局）定义范围就是全局作用域</a:t>
            </a:r>
            <a:r>
              <a:rPr lang="en-US" altLang="zh-CN" sz="1200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.</a:t>
            </a:r>
          </a:p>
          <a:p>
            <a:pPr>
              <a:lnSpc>
                <a:spcPct val="150000"/>
              </a:lnSpc>
            </a:pPr>
            <a:endParaRPr lang="en-US" altLang="zh-CN" sz="1200" dirty="0">
              <a:solidFill>
                <a:schemeClr val="tx1"/>
              </a:solidFill>
              <a:latin typeface="汉仪粗简黑简" charset="0"/>
              <a:cs typeface="汉仪粗简黑简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在</a:t>
            </a:r>
            <a:r>
              <a:rPr lang="en-US" altLang="zh-CN" sz="1200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Python</a:t>
            </a:r>
            <a:r>
              <a:rPr lang="zh-CN" altLang="en-US" sz="1200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中，定义在函数外部的变量就称之为全局变量；定义在函数内部变量就称之为局部变量。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FF0000"/>
                </a:solidFill>
                <a:latin typeface="汉仪粗简黑简" charset="0"/>
                <a:cs typeface="汉仪粗简黑简" charset="0"/>
              </a:rPr>
              <a:t># 定义在函数外部的变量（全局变量）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FF0000"/>
                </a:solidFill>
                <a:latin typeface="汉仪粗简黑简" charset="0"/>
                <a:cs typeface="汉仪粗简黑简" charset="0"/>
              </a:rPr>
              <a:t>num = 10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FF0000"/>
                </a:solidFill>
                <a:latin typeface="汉仪粗简黑简" charset="0"/>
                <a:cs typeface="汉仪粗简黑简" charset="0"/>
              </a:rPr>
              <a:t># 定义一个函数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FF0000"/>
                </a:solidFill>
                <a:latin typeface="汉仪粗简黑简" charset="0"/>
                <a:cs typeface="汉仪粗简黑简" charset="0"/>
              </a:rPr>
              <a:t>def func():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FF0000"/>
                </a:solidFill>
                <a:latin typeface="汉仪粗简黑简" charset="0"/>
                <a:cs typeface="汉仪粗简黑简" charset="0"/>
              </a:rPr>
              <a:t>    # 函数体代码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FF0000"/>
                </a:solidFill>
                <a:latin typeface="汉仪粗简黑简" charset="0"/>
                <a:cs typeface="汉仪粗简黑简" charset="0"/>
              </a:rPr>
              <a:t>    # 定义在函数内部的变量（局部变量）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FF0000"/>
                </a:solidFill>
                <a:latin typeface="汉仪粗简黑简" charset="0"/>
                <a:cs typeface="汉仪粗简黑简" charset="0"/>
              </a:rPr>
              <a:t>    num = 100</a:t>
            </a:r>
          </a:p>
          <a:p>
            <a:pPr>
              <a:lnSpc>
                <a:spcPct val="150000"/>
              </a:lnSpc>
            </a:pPr>
            <a:endParaRPr lang="zh-CN" altLang="en-US" sz="1200" dirty="0">
              <a:solidFill>
                <a:srgbClr val="FF0000"/>
              </a:solidFill>
              <a:latin typeface="汉仪粗简黑简" charset="0"/>
              <a:cs typeface="汉仪粗简黑简" charset="0"/>
            </a:endParaRPr>
          </a:p>
        </p:txBody>
      </p:sp>
      <p:pic>
        <p:nvPicPr>
          <p:cNvPr id="6" name="图片 5" descr="3b31393936363136303bcbbcbfbc"/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540625" y="4438650"/>
            <a:ext cx="914400" cy="9144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8595360" y="4524375"/>
            <a:ext cx="239077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全量变量和局部变量访问范围是</a:t>
            </a:r>
          </a:p>
          <a:p>
            <a:pPr>
              <a:lnSpc>
                <a:spcPct val="150000"/>
              </a:lnSpc>
            </a:pPr>
            <a:r>
              <a:rPr lang="zh-CN" altLang="en-US" sz="1200" dirty="0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什么样的？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Python的函数</a:t>
            </a:r>
          </a:p>
          <a:p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④函数参数的两种传递方式</a:t>
            </a:r>
            <a:endParaRPr lang="en-US" altLang="zh-CN" sz="2000" b="1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6" name="矩形: 圆角 35"/>
          <p:cNvSpPr/>
          <p:nvPr>
            <p:custDataLst>
              <p:tags r:id="rId7"/>
            </p:custDataLst>
          </p:nvPr>
        </p:nvSpPr>
        <p:spPr>
          <a:xfrm rot="18900000">
            <a:off x="1861863" y="3023638"/>
            <a:ext cx="1256102" cy="1256102"/>
          </a:xfrm>
          <a:prstGeom prst="roundRect">
            <a:avLst>
              <a:gd name="adj" fmla="val 3553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263140" y="3435985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3808730" y="3097530"/>
            <a:ext cx="3502660" cy="1925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sz="1200" b="1" dirty="0">
                <a:solidFill>
                  <a:srgbClr val="FF0000"/>
                </a:solidFill>
                <a:latin typeface="汉仪粗简黑简" charset="0"/>
                <a:cs typeface="汉仪粗简黑简" charset="0"/>
              </a:rPr>
              <a:t>位置传参</a:t>
            </a:r>
            <a:endParaRPr sz="1200" b="1" dirty="0">
              <a:solidFill>
                <a:srgbClr val="FF0000"/>
              </a:solidFill>
              <a:latin typeface="汉仪粗简黑简" charset="0"/>
              <a:cs typeface="汉仪粗简黑简" charset="0"/>
            </a:endParaRP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def user_info(name, age, address):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    print(f'我的名字{name}，今年{age}岁了，家里住在{address}')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    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# 调用函数</a:t>
            </a:r>
            <a:r>
              <a:rPr lang="zh-CN" sz="1200" b="1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（使用位置参数）</a:t>
            </a:r>
            <a:endParaRPr sz="1200" b="1" dirty="0">
              <a:solidFill>
                <a:schemeClr val="tx1"/>
              </a:solidFill>
              <a:latin typeface="汉仪粗简黑简" charset="0"/>
              <a:cs typeface="汉仪粗简黑简" charset="0"/>
            </a:endParaRP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user_info('Tom', 23, '美国纽约')</a:t>
            </a:r>
          </a:p>
        </p:txBody>
      </p:sp>
      <p:sp>
        <p:nvSpPr>
          <p:cNvPr id="4" name="文本框 3"/>
          <p:cNvSpPr txBox="1"/>
          <p:nvPr/>
        </p:nvSpPr>
        <p:spPr>
          <a:xfrm>
            <a:off x="7483475" y="3097530"/>
            <a:ext cx="3502660" cy="19253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sz="1200" b="1" dirty="0">
                <a:solidFill>
                  <a:srgbClr val="FF0000"/>
                </a:solidFill>
                <a:latin typeface="汉仪粗简黑简" charset="0"/>
                <a:cs typeface="汉仪粗简黑简" charset="0"/>
              </a:rPr>
              <a:t>关键词传参</a:t>
            </a:r>
            <a:endParaRPr sz="1200" b="1" dirty="0">
              <a:solidFill>
                <a:srgbClr val="FF0000"/>
              </a:solidFill>
              <a:latin typeface="汉仪粗简黑简" charset="0"/>
              <a:cs typeface="汉仪粗简黑简" charset="0"/>
            </a:endParaRP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def user_info(name, age, address):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    print(f'我的名字{name}，今年{age}岁了，家里住在{address}')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    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# 调用函数（使用关键词参数）</a:t>
            </a:r>
          </a:p>
          <a:p>
            <a:pPr>
              <a:lnSpc>
                <a:spcPct val="150000"/>
              </a:lnSpc>
            </a:pPr>
            <a:r>
              <a:rPr sz="1200" b="1" dirty="0">
                <a:solidFill>
                  <a:schemeClr val="tx1"/>
                </a:solidFill>
                <a:latin typeface="汉仪粗简黑简" charset="0"/>
                <a:cs typeface="汉仪粗简黑简" charset="0"/>
              </a:rPr>
              <a:t>user_info(name='Tom', age=23, address='美国纽约')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7BCBFE91-4282-BD05-CDCF-B752A6756B9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103314" y="4510478"/>
            <a:ext cx="2772405" cy="602391"/>
          </a:xfrm>
          <a:prstGeom prst="rect">
            <a:avLst/>
          </a:prstGeom>
          <a:noFill/>
        </p:spPr>
        <p:txBody>
          <a:bodyPr wrap="square" rtlCol="0" anchor="ctr" anchorCtr="0">
            <a:normAutofit fontScale="85000" lnSpcReduction="10000"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altLang="en-US" sz="2000" b="1" spc="300" noProof="0" dirty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位置传参与关键词传参</a:t>
            </a:r>
            <a:endParaRPr lang="zh-CN" sz="2000" b="1" spc="300" noProof="0" dirty="0">
              <a:ln>
                <a:noFill/>
              </a:ln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Python的函数</a:t>
            </a:r>
          </a:p>
          <a:p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④默认值参数</a:t>
            </a:r>
          </a:p>
        </p:txBody>
      </p:sp>
      <p:sp>
        <p:nvSpPr>
          <p:cNvPr id="36" name="矩形: 圆角 35"/>
          <p:cNvSpPr/>
          <p:nvPr>
            <p:custDataLst>
              <p:tags r:id="rId7"/>
            </p:custDataLst>
          </p:nvPr>
        </p:nvSpPr>
        <p:spPr>
          <a:xfrm rot="18900000">
            <a:off x="1861863" y="2966488"/>
            <a:ext cx="1256102" cy="1256102"/>
          </a:xfrm>
          <a:prstGeom prst="roundRect">
            <a:avLst>
              <a:gd name="adj" fmla="val 3553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1236464" y="4477197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函数参数类型</a:t>
            </a: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2263140" y="3378835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058920" y="2666365"/>
            <a:ext cx="4015740" cy="299402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</a:rPr>
              <a:t># 1.默认参数（缺省参数）</a:t>
            </a:r>
          </a:p>
          <a:p>
            <a:pPr>
              <a:lnSpc>
                <a:spcPct val="150000"/>
              </a:lnSpc>
            </a:pP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</a:rPr>
              <a:t>def user_info(name, age, gender='男'):</a:t>
            </a:r>
          </a:p>
          <a:p>
            <a:pPr>
              <a:lnSpc>
                <a:spcPct val="150000"/>
              </a:lnSpc>
            </a:pP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</a:rPr>
              <a:t>    print(f'我的名字{name}，今年{age}岁了，</a:t>
            </a:r>
          </a:p>
          <a:p>
            <a:pPr>
              <a:lnSpc>
                <a:spcPct val="150000"/>
              </a:lnSpc>
            </a:pP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</a:rPr>
              <a:t>我的性别为{gender}')</a:t>
            </a:r>
          </a:p>
          <a:p>
            <a:pPr>
              <a:lnSpc>
                <a:spcPct val="150000"/>
              </a:lnSpc>
            </a:pPr>
            <a:endParaRPr lang="zh-CN" altLang="en-US" sz="1200" b="1">
              <a:latin typeface="汉仪粗简黑简" panose="00020600040101010101" charset="-122"/>
              <a:cs typeface="汉仪粗简黑简" panose="00020600040101010101" charset="-122"/>
            </a:endParaRPr>
          </a:p>
          <a:p>
            <a:pPr>
              <a:lnSpc>
                <a:spcPct val="150000"/>
              </a:lnSpc>
            </a:pPr>
            <a:endParaRPr lang="zh-CN" altLang="en-US" sz="1200" b="1">
              <a:latin typeface="汉仪粗简黑简" panose="00020600040101010101" charset="-122"/>
              <a:cs typeface="汉仪粗简黑简" panose="0002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</a:rPr>
              <a:t>user_info('李林', 25)</a:t>
            </a:r>
          </a:p>
          <a:p>
            <a:pPr>
              <a:lnSpc>
                <a:spcPct val="150000"/>
              </a:lnSpc>
            </a:pP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</a:rPr>
              <a:t>user_info('振华', 28)</a:t>
            </a:r>
          </a:p>
          <a:p>
            <a:pPr>
              <a:lnSpc>
                <a:spcPct val="150000"/>
              </a:lnSpc>
            </a:pPr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</a:rPr>
              <a:t>user_info('婉儿', 18, '女')</a:t>
            </a:r>
          </a:p>
        </p:txBody>
      </p:sp>
      <p:sp>
        <p:nvSpPr>
          <p:cNvPr id="6" name="椭圆 5"/>
          <p:cNvSpPr/>
          <p:nvPr>
            <p:custDataLst>
              <p:tags r:id="rId10"/>
            </p:custDataLst>
          </p:nvPr>
        </p:nvSpPr>
        <p:spPr>
          <a:xfrm>
            <a:off x="7679055" y="2666365"/>
            <a:ext cx="3307080" cy="3307080"/>
          </a:xfrm>
          <a:prstGeom prst="ellipse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5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zh-CN" sz="1400" dirty="0">
                <a:solidFill>
                  <a:schemeClr val="tx1"/>
                </a:solidFill>
              </a:rPr>
              <a:t>注意：</a:t>
            </a:r>
          </a:p>
          <a:p>
            <a:pPr algn="l"/>
            <a:r>
              <a:rPr lang="zh-CN" altLang="en-US" sz="1400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默认值参数一定要在普通参数右端</a:t>
            </a:r>
          </a:p>
          <a:p>
            <a:pPr algn="l"/>
            <a:endParaRPr lang="zh-CN" altLang="en-US" sz="1400" dirty="0">
              <a:solidFill>
                <a:srgbClr val="FF0000"/>
              </a:solidFill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/>
              <a:t>def user_info(*args):</a:t>
            </a:r>
          </a:p>
          <a:p>
            <a:pPr algn="ctr"/>
            <a:r>
              <a:rPr lang="zh-CN" altLang="en-US"/>
              <a:t>    # print(args)  # 元组类型数据，对传递参数有顺序要求</a:t>
            </a:r>
          </a:p>
          <a:p>
            <a:pPr algn="ctr"/>
            <a:r>
              <a:rPr lang="zh-CN" altLang="en-US"/>
              <a:t>    print(f'我的名字{args[0]}，今年{args[1]}岁了，住在{args[2]}')</a:t>
            </a:r>
          </a:p>
          <a:p>
            <a:pPr algn="ctr"/>
            <a:endParaRPr lang="zh-CN" altLang="en-US"/>
          </a:p>
          <a:p>
            <a:pPr algn="ctr"/>
            <a:r>
              <a:rPr lang="zh-CN" altLang="en-US"/>
              <a:t># 调用函数，传递参数</a:t>
            </a:r>
          </a:p>
          <a:p>
            <a:pPr algn="ctr"/>
            <a:r>
              <a:rPr lang="zh-CN" altLang="en-US"/>
              <a:t>user_info('Tom', 23, '美国纽约')</a:t>
            </a:r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Python的函数</a:t>
            </a:r>
          </a:p>
          <a:p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⑤不定长参数</a:t>
            </a:r>
          </a:p>
        </p:txBody>
      </p:sp>
      <p:sp>
        <p:nvSpPr>
          <p:cNvPr id="31" name="文本框 30"/>
          <p:cNvSpPr txBox="1"/>
          <p:nvPr>
            <p:custDataLst>
              <p:tags r:id="rId7"/>
            </p:custDataLst>
          </p:nvPr>
        </p:nvSpPr>
        <p:spPr>
          <a:xfrm>
            <a:off x="572135" y="4730750"/>
            <a:ext cx="3756025" cy="160718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>
              <a:lnSpc>
                <a:spcPts val="3145"/>
              </a:lnSpc>
            </a:pPr>
            <a:r>
              <a:rPr lang="zh-CN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包裹位置参数与包裹关键词参数</a:t>
            </a:r>
          </a:p>
        </p:txBody>
      </p:sp>
      <p:sp>
        <p:nvSpPr>
          <p:cNvPr id="36" name="矩形: 圆角 35"/>
          <p:cNvSpPr/>
          <p:nvPr>
            <p:custDataLst>
              <p:tags r:id="rId8"/>
            </p:custDataLst>
          </p:nvPr>
        </p:nvSpPr>
        <p:spPr>
          <a:xfrm rot="18900000">
            <a:off x="1861863" y="2792498"/>
            <a:ext cx="1256102" cy="1256102"/>
          </a:xfrm>
          <a:prstGeom prst="roundRect">
            <a:avLst>
              <a:gd name="adj" fmla="val 3553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9"/>
            </p:custDataLst>
          </p:nvPr>
        </p:nvSpPr>
        <p:spPr>
          <a:xfrm>
            <a:off x="1236464" y="4303207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zh-CN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函数参数类型</a:t>
            </a: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263140" y="3204845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328160" y="2532380"/>
            <a:ext cx="6657340" cy="755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rgbClr val="FF0000"/>
                </a:solidFill>
                <a:latin typeface="汉仪中黑S"/>
                <a:cs typeface="汉仪粗简黑简" panose="00020600040101010101" charset="-122"/>
              </a:rPr>
              <a:t>不定长参数也叫可变参数。用于不确定调用的时候会传递多少个参数(不传参也可以)的场景。此时，可用包裹(packing)位置参数，或者包裹关键字参数，来进行参数传递，会显得非常方便。</a:t>
            </a:r>
            <a:endParaRPr lang="zh-CN" altLang="en-US" sz="1200" b="1">
              <a:latin typeface="汉仪中黑S"/>
              <a:cs typeface="汉仪粗简黑简" panose="0002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17695" y="3820160"/>
            <a:ext cx="2828290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汉仪中黑S"/>
              </a:rPr>
              <a:t>包裹位置参数：</a:t>
            </a:r>
          </a:p>
          <a:p>
            <a:r>
              <a:rPr lang="zh-CN" altLang="en-US" sz="1200" dirty="0">
                <a:latin typeface="汉仪中黑S"/>
              </a:rPr>
              <a:t>def user_info(*args):</a:t>
            </a:r>
          </a:p>
          <a:p>
            <a:r>
              <a:rPr lang="zh-CN" altLang="en-US" sz="1200" dirty="0">
                <a:latin typeface="汉仪中黑S"/>
              </a:rPr>
              <a:t>    # print(args)  # 元组类型数据，对传递参数有顺序要求</a:t>
            </a:r>
          </a:p>
          <a:p>
            <a:r>
              <a:rPr lang="zh-CN" altLang="en-US" sz="1200" dirty="0">
                <a:latin typeface="汉仪中黑S"/>
              </a:rPr>
              <a:t>    print(f'我的名字{args[0]}，今年{args[1]}岁了，住在{args[2]}')</a:t>
            </a:r>
          </a:p>
          <a:p>
            <a:endParaRPr lang="zh-CN" altLang="en-US" sz="1200" dirty="0">
              <a:latin typeface="汉仪中黑S"/>
            </a:endParaRPr>
          </a:p>
          <a:p>
            <a:r>
              <a:rPr lang="zh-CN" altLang="en-US" sz="1200" dirty="0">
                <a:latin typeface="汉仪中黑S"/>
              </a:rPr>
              <a:t># 调用函数，传递参数</a:t>
            </a:r>
          </a:p>
          <a:p>
            <a:r>
              <a:rPr lang="zh-CN" altLang="en-US" sz="1200" dirty="0">
                <a:latin typeface="汉仪中黑S"/>
              </a:rPr>
              <a:t>user_info('Tom', 23, '美国纽约')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421245" y="3820160"/>
            <a:ext cx="3564255" cy="19389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 dirty="0">
                <a:solidFill>
                  <a:srgbClr val="FF0000"/>
                </a:solidFill>
                <a:latin typeface="汉仪中黑S"/>
              </a:rPr>
              <a:t>包裹关键词参数：</a:t>
            </a:r>
          </a:p>
          <a:p>
            <a:r>
              <a:rPr lang="zh-CN" altLang="en-US" sz="1200" dirty="0">
                <a:latin typeface="汉仪中黑S"/>
              </a:rPr>
              <a:t>def user_info(kwargs):</a:t>
            </a:r>
          </a:p>
          <a:p>
            <a:r>
              <a:rPr lang="zh-CN" altLang="en-US" sz="1200" dirty="0">
                <a:latin typeface="汉仪中黑S"/>
              </a:rPr>
              <a:t>    # print(kwargs)  # 字典类型数据，对传递参数没有顺序要求，格式要求key = value值</a:t>
            </a:r>
          </a:p>
          <a:p>
            <a:r>
              <a:rPr lang="zh-CN" altLang="en-US" sz="1200" dirty="0">
                <a:latin typeface="汉仪中黑S"/>
              </a:rPr>
              <a:t>    print(f'我的名字{kwargs["name"]}，今年{kwargs["age"]}岁了，住在{kwargs["address"]}')</a:t>
            </a:r>
          </a:p>
          <a:p>
            <a:endParaRPr lang="zh-CN" altLang="en-US" sz="1200" dirty="0">
              <a:latin typeface="汉仪中黑S"/>
            </a:endParaRPr>
          </a:p>
          <a:p>
            <a:r>
              <a:rPr lang="zh-CN" altLang="en-US" sz="1200" dirty="0">
                <a:latin typeface="汉仪中黑S"/>
              </a:rPr>
              <a:t># 调用函数，传递参数</a:t>
            </a:r>
          </a:p>
          <a:p>
            <a:r>
              <a:rPr lang="zh-CN" altLang="en-US" sz="1200" dirty="0">
                <a:latin typeface="汉仪中黑S"/>
              </a:rPr>
              <a:t>user_info(name='Tom', address='美国纽约', age=23)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Python的函数</a:t>
            </a:r>
          </a:p>
          <a:p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⑥</a:t>
            </a:r>
            <a:r>
              <a:rPr lang="en-US" altLang="zh-CN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lambda</a:t>
            </a:r>
            <a:r>
              <a:rPr lang="zh-CN" altLang="en-US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表达式（匿名函数）</a:t>
            </a:r>
            <a:endParaRPr lang="zh-CN" sz="2000" b="1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6" name="矩形: 圆角 35"/>
          <p:cNvSpPr/>
          <p:nvPr>
            <p:custDataLst>
              <p:tags r:id="rId7"/>
            </p:custDataLst>
          </p:nvPr>
        </p:nvSpPr>
        <p:spPr>
          <a:xfrm rot="18900000">
            <a:off x="1861863" y="2792498"/>
            <a:ext cx="1256102" cy="1256102"/>
          </a:xfrm>
          <a:prstGeom prst="roundRect">
            <a:avLst>
              <a:gd name="adj" fmla="val 3553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1236464" y="4303207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lambda</a:t>
            </a:r>
            <a:r>
              <a:rPr lang="zh-CN" altLang="en-US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函数</a:t>
            </a: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263140" y="3204845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328160" y="2706370"/>
            <a:ext cx="6658610" cy="3638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rgbClr val="FF0000"/>
                </a:solidFill>
                <a:latin typeface="汉仪中黑S"/>
                <a:cs typeface="汉仪粗简黑简" panose="00020600040101010101" charset="-122"/>
              </a:rPr>
              <a:t>如果一个函数有一个返回值，并且只有一句代码，可以使用 lambda简化。</a:t>
            </a:r>
          </a:p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汉仪中黑S"/>
                <a:cs typeface="汉仪粗简黑简" panose="00020600040101010101" charset="-122"/>
              </a:rPr>
              <a:t>基本语法：</a:t>
            </a:r>
          </a:p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rgbClr val="FF0000"/>
                </a:solidFill>
                <a:latin typeface="汉仪中黑S"/>
                <a:cs typeface="汉仪粗简黑简" panose="00020600040101010101" charset="-122"/>
              </a:rPr>
              <a:t>lambda 参数列表 ： 表达式</a:t>
            </a:r>
          </a:p>
          <a:p>
            <a:pPr>
              <a:lnSpc>
                <a:spcPct val="150000"/>
              </a:lnSpc>
            </a:pPr>
            <a:endParaRPr lang="zh-CN" altLang="en-US" sz="1200" b="1">
              <a:solidFill>
                <a:srgbClr val="FF0000"/>
              </a:solidFill>
              <a:latin typeface="汉仪中黑S"/>
              <a:cs typeface="汉仪粗简黑简" panose="00020600040101010101" charset="-122"/>
            </a:endParaRPr>
          </a:p>
          <a:p>
            <a:pPr>
              <a:lnSpc>
                <a:spcPct val="150000"/>
              </a:lnSpc>
            </a:pPr>
            <a:endParaRPr lang="zh-CN" altLang="en-US" sz="1200" b="1">
              <a:solidFill>
                <a:srgbClr val="FF0000"/>
              </a:solidFill>
              <a:latin typeface="汉仪中黑S"/>
              <a:cs typeface="汉仪粗简黑简" panose="0002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94200" y="3787140"/>
            <a:ext cx="2006600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汉仪中黑S"/>
                <a:cs typeface="汉仪粗简黑简" panose="00020600040101010101" charset="-122"/>
                <a:sym typeface="+mn-ea"/>
              </a:rPr>
              <a:t># 普通函数</a:t>
            </a:r>
            <a:endParaRPr lang="zh-CN" altLang="en-US" sz="1200" b="1" dirty="0">
              <a:solidFill>
                <a:schemeClr val="tx1"/>
              </a:solidFill>
              <a:latin typeface="汉仪中黑S"/>
              <a:cs typeface="汉仪粗简黑简" panose="0002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汉仪中黑S"/>
                <a:cs typeface="汉仪粗简黑简" panose="00020600040101010101" charset="-122"/>
                <a:sym typeface="+mn-ea"/>
              </a:rPr>
              <a:t>def fn1():</a:t>
            </a:r>
            <a:endParaRPr lang="zh-CN" altLang="en-US" sz="1200" b="1" dirty="0">
              <a:solidFill>
                <a:schemeClr val="tx1"/>
              </a:solidFill>
              <a:latin typeface="汉仪中黑S"/>
              <a:cs typeface="汉仪粗简黑简" panose="0002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汉仪中黑S"/>
                <a:cs typeface="汉仪粗简黑简" panose="00020600040101010101" charset="-122"/>
                <a:sym typeface="+mn-ea"/>
              </a:rPr>
              <a:t>    return 100</a:t>
            </a:r>
            <a:endParaRPr lang="zh-CN" altLang="en-US" sz="1200" b="1" dirty="0">
              <a:solidFill>
                <a:schemeClr val="tx1"/>
              </a:solidFill>
              <a:latin typeface="汉仪中黑S"/>
              <a:cs typeface="汉仪粗简黑简" panose="0002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汉仪中黑S"/>
                <a:cs typeface="汉仪粗简黑简" panose="00020600040101010101" charset="-122"/>
                <a:sym typeface="+mn-ea"/>
              </a:rPr>
              <a:t>print(fn1)</a:t>
            </a:r>
            <a:endParaRPr lang="zh-CN" altLang="en-US" sz="1200" b="1" dirty="0">
              <a:solidFill>
                <a:schemeClr val="tx1"/>
              </a:solidFill>
              <a:latin typeface="汉仪中黑S"/>
              <a:cs typeface="汉仪粗简黑简" panose="00020600040101010101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汉仪中黑S"/>
                <a:cs typeface="汉仪粗简黑简" panose="00020600040101010101" charset="-122"/>
                <a:sym typeface="+mn-ea"/>
              </a:rPr>
              <a:t>print(fn1())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7828915" y="4110990"/>
            <a:ext cx="21424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latin typeface="汉仪中黑S"/>
                <a:cs typeface="汉仪粗简黑简" panose="00020600040101010101" charset="-122"/>
              </a:rPr>
              <a:t># lambda表达式</a:t>
            </a:r>
          </a:p>
          <a:p>
            <a:r>
              <a:rPr lang="zh-CN" altLang="en-US" sz="1200" b="1">
                <a:latin typeface="汉仪中黑S"/>
                <a:cs typeface="汉仪粗简黑简" panose="00020600040101010101" charset="-122"/>
              </a:rPr>
              <a:t>fn2 = lambda: 100</a:t>
            </a:r>
          </a:p>
          <a:p>
            <a:r>
              <a:rPr lang="zh-CN" altLang="en-US" sz="1200" b="1">
                <a:latin typeface="汉仪中黑S"/>
                <a:cs typeface="汉仪粗简黑简" panose="00020600040101010101" charset="-122"/>
              </a:rPr>
              <a:t>print(fn2)</a:t>
            </a:r>
          </a:p>
          <a:p>
            <a:r>
              <a:rPr lang="zh-CN" altLang="en-US" sz="1200" b="1">
                <a:latin typeface="汉仪中黑S"/>
                <a:cs typeface="汉仪粗简黑简" panose="00020600040101010101" charset="-122"/>
              </a:rPr>
              <a:t>print(fn2())</a:t>
            </a:r>
          </a:p>
        </p:txBody>
      </p:sp>
      <p:pic>
        <p:nvPicPr>
          <p:cNvPr id="6" name="图片 5" descr="3b333635353832343bcff2d3d2bcfdcdb7"/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00800" y="4026535"/>
            <a:ext cx="914400" cy="9144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4394200" y="5400040"/>
            <a:ext cx="609600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olidFill>
                  <a:srgbClr val="FF0000"/>
                </a:solidFill>
              </a:rPr>
              <a:t>注意：直接打印lambda表达式，输出的是此lambda的内存地址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Python的函数</a:t>
            </a:r>
          </a:p>
          <a:p>
            <a:endParaRPr lang="zh-CN" sz="18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3"/>
            </p:custDataLst>
          </p:nvPr>
        </p:nvSpPr>
        <p:spPr>
          <a:xfrm>
            <a:off x="3665855" y="986155"/>
            <a:ext cx="1926590" cy="368300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l"/>
            <a:r>
              <a:rPr lang="zh-CN" altLang="en-US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站酷快乐体" panose="02010600030101010101" charset="-128"/>
                <a:ea typeface="站酷快乐体" panose="02010600030101010101" charset="-128"/>
              </a:rPr>
              <a:t>步骤如下</a:t>
            </a:r>
          </a:p>
        </p:txBody>
      </p:sp>
      <p:sp>
        <p:nvSpPr>
          <p:cNvPr id="22" name="椭圆 21"/>
          <p:cNvSpPr/>
          <p:nvPr>
            <p:custDataLst>
              <p:tags r:id="rId4"/>
            </p:custDataLst>
          </p:nvPr>
        </p:nvSpPr>
        <p:spPr>
          <a:xfrm>
            <a:off x="3377565" y="1026160"/>
            <a:ext cx="288290" cy="288290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矩形 9"/>
          <p:cNvSpPr/>
          <p:nvPr>
            <p:custDataLst>
              <p:tags r:id="rId5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⑥</a:t>
            </a:r>
            <a:r>
              <a:rPr lang="en-US" altLang="zh-CN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lambda</a:t>
            </a:r>
            <a:r>
              <a:rPr lang="zh-CN" altLang="en-US" sz="2000" b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表达式（匿名函数）</a:t>
            </a:r>
            <a:endParaRPr lang="zh-CN" sz="2000" b="1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6" name="矩形: 圆角 35"/>
          <p:cNvSpPr/>
          <p:nvPr>
            <p:custDataLst>
              <p:tags r:id="rId7"/>
            </p:custDataLst>
          </p:nvPr>
        </p:nvSpPr>
        <p:spPr>
          <a:xfrm rot="18900000">
            <a:off x="1862498" y="3133493"/>
            <a:ext cx="1256102" cy="1256102"/>
          </a:xfrm>
          <a:prstGeom prst="roundRect">
            <a:avLst>
              <a:gd name="adj" fmla="val 35535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汉仪粗简黑简" panose="00020600040101010101" charset="-122"/>
              <a:ea typeface="汉仪粗简黑简" panose="00020600040101010101" charset="-122"/>
              <a:cs typeface="汉仪粗简黑简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1237099" y="4644202"/>
            <a:ext cx="2506902" cy="602391"/>
          </a:xfrm>
          <a:prstGeom prst="rect">
            <a:avLst/>
          </a:prstGeom>
          <a:noFill/>
        </p:spPr>
        <p:txBody>
          <a:bodyPr wrap="square" rtlCol="0" anchor="ctr" anchorCtr="0">
            <a:normAutofit/>
          </a:bodyPr>
          <a:lstStyle/>
          <a:p>
            <a:pPr lvl="0" algn="ctr">
              <a:lnSpc>
                <a:spcPct val="120000"/>
              </a:lnSpc>
              <a:buClrTx/>
              <a:buSzTx/>
              <a:buFontTx/>
              <a:defRPr/>
            </a:pPr>
            <a:r>
              <a:rPr lang="en-US" altLang="zh-CN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lambda</a:t>
            </a:r>
            <a:r>
              <a:rPr lang="zh-CN" altLang="en-US" sz="2000" b="1" spc="300" noProof="0">
                <a:ln>
                  <a:noFill/>
                </a:ln>
                <a:effectLst/>
                <a:uLnTx/>
                <a:uFillTx/>
                <a:latin typeface="汉仪粗简黑简" panose="00020600040101010101" charset="-122"/>
                <a:ea typeface="汉仪粗简黑简" panose="00020600040101010101" charset="-122"/>
                <a:cs typeface="汉仪粗简黑简" panose="00020600040101010101" charset="-122"/>
                <a:sym typeface="Arial" panose="020B0604020202020204" pitchFamily="34" charset="0"/>
              </a:rPr>
              <a:t>函数</a:t>
            </a:r>
          </a:p>
        </p:txBody>
      </p:sp>
      <p:pic>
        <p:nvPicPr>
          <p:cNvPr id="16" name="图片 15" descr="343435383139363b333635383830313bcdbccae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1"/>
          <a:stretch>
            <a:fillRect/>
          </a:stretch>
        </p:blipFill>
        <p:spPr>
          <a:xfrm>
            <a:off x="2263775" y="3545840"/>
            <a:ext cx="452755" cy="45275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4328160" y="2706370"/>
            <a:ext cx="6658610" cy="36385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</a:rPr>
              <a:t>带参数的</a:t>
            </a:r>
            <a:r>
              <a:rPr lang="en-US" altLang="zh-CN" sz="1200" b="1" dirty="0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</a:rPr>
              <a:t>lambda</a:t>
            </a:r>
            <a:r>
              <a:rPr lang="zh-CN" altLang="en-US" sz="1200" b="1" dirty="0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</a:rPr>
              <a:t>表达式</a:t>
            </a:r>
          </a:p>
          <a:p>
            <a:pPr>
              <a:lnSpc>
                <a:spcPct val="150000"/>
              </a:lnSpc>
            </a:pPr>
            <a:endParaRPr lang="zh-CN" altLang="en-US" sz="1200" b="1" dirty="0">
              <a:solidFill>
                <a:schemeClr val="tx1"/>
              </a:solidFill>
              <a:latin typeface="汉仪粗简黑简" panose="00020600040101010101" charset="-122"/>
              <a:cs typeface="汉仪粗简黑简" panose="00020600040101010101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394200" y="3381375"/>
            <a:ext cx="221361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带普通参数的</a:t>
            </a:r>
            <a:r>
              <a:rPr lang="en-US" altLang="zh-CN" sz="1200" b="1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lambda</a:t>
            </a:r>
            <a:r>
              <a:rPr lang="zh-CN" altLang="en-US" sz="1200" b="1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表达式</a:t>
            </a:r>
          </a:p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fn1 = lambda a, b: a + b</a:t>
            </a:r>
          </a:p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print(fn1(1, 2))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4367530" y="4741545"/>
            <a:ext cx="232219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sz="1200" b="1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</a:rPr>
              <a:t>带默认值参数的</a:t>
            </a:r>
            <a:r>
              <a:rPr lang="en-US" altLang="zh-CN" sz="1200" b="1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</a:rPr>
              <a:t>lambda</a:t>
            </a:r>
            <a:r>
              <a:rPr lang="zh-CN" altLang="en-US" sz="1200" b="1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</a:rPr>
              <a:t>表达式</a:t>
            </a:r>
          </a:p>
          <a:p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</a:rPr>
              <a:t>fn1 = lambda a, b, c=100: a + b + c</a:t>
            </a:r>
          </a:p>
          <a:p>
            <a:r>
              <a:rPr lang="zh-CN" altLang="en-US" sz="1200" b="1">
                <a:latin typeface="汉仪粗简黑简" panose="00020600040101010101" charset="-122"/>
                <a:cs typeface="汉仪粗简黑简" panose="00020600040101010101" charset="-122"/>
              </a:rPr>
              <a:t>print(fn1(10, 20))</a:t>
            </a:r>
          </a:p>
        </p:txBody>
      </p:sp>
      <p:sp>
        <p:nvSpPr>
          <p:cNvPr id="9" name="文本框 8"/>
          <p:cNvSpPr txBox="1"/>
          <p:nvPr/>
        </p:nvSpPr>
        <p:spPr>
          <a:xfrm>
            <a:off x="7152640" y="3386455"/>
            <a:ext cx="2560320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带包裹位置参数的</a:t>
            </a:r>
            <a:r>
              <a:rPr lang="en-US" altLang="zh-CN" sz="1200" b="1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lambda</a:t>
            </a:r>
            <a:r>
              <a:rPr lang="zh-CN" altLang="en-US" sz="1200" b="1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表达式</a:t>
            </a:r>
          </a:p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fn1 = lambda *args: args</a:t>
            </a:r>
          </a:p>
          <a:p>
            <a:pPr>
              <a:lnSpc>
                <a:spcPct val="150000"/>
              </a:lnSpc>
            </a:pPr>
            <a:r>
              <a:rPr lang="zh-CN" altLang="en-US" sz="1200" b="1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print(fn1(10, 20, 30))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7152640" y="4649470"/>
            <a:ext cx="2711450" cy="116769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带包裹关键词的</a:t>
            </a:r>
            <a:r>
              <a:rPr lang="en-US" altLang="zh-CN" sz="1200" b="1" dirty="0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lambda</a:t>
            </a:r>
            <a:r>
              <a:rPr lang="zh-CN" altLang="en-US" sz="1200" b="1" dirty="0">
                <a:solidFill>
                  <a:srgbClr val="FF0000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表达式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fn1 = lambda kwargs: kwargs</a:t>
            </a:r>
          </a:p>
          <a:p>
            <a:pPr>
              <a:lnSpc>
                <a:spcPct val="150000"/>
              </a:lnSpc>
            </a:pPr>
            <a:r>
              <a:rPr lang="zh-CN" altLang="en-US" sz="1200" b="1" dirty="0">
                <a:solidFill>
                  <a:schemeClr val="tx1"/>
                </a:solidFill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print(fn1(name='python', age=20))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122295" y="627380"/>
            <a:ext cx="5940425" cy="5603240"/>
            <a:chOff x="5080" y="988"/>
            <a:chExt cx="9038" cy="88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组合 10"/>
            <p:cNvGrpSpPr/>
            <p:nvPr/>
          </p:nvGrpSpPr>
          <p:grpSpPr>
            <a:xfrm>
              <a:off x="5080" y="988"/>
              <a:ext cx="9039" cy="8825"/>
              <a:chOff x="5348" y="1147"/>
              <a:chExt cx="8504" cy="8506"/>
            </a:xfrm>
            <a:gradFill>
              <a:gsLst>
                <a:gs pos="0">
                  <a:schemeClr val="bg1"/>
                </a:gs>
                <a:gs pos="50000">
                  <a:schemeClr val="tx2">
                    <a:lumMod val="10000"/>
                    <a:lumOff val="9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5400000" scaled="0"/>
            </a:gradFill>
          </p:grpSpPr>
          <p:grpSp>
            <p:nvGrpSpPr>
              <p:cNvPr id="12" name="组合 11"/>
              <p:cNvGrpSpPr/>
              <p:nvPr/>
            </p:nvGrpSpPr>
            <p:grpSpPr>
              <a:xfrm>
                <a:off x="5348" y="1148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3" name="流程图: 终止 12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流程图: 终止 13"/>
                <p:cNvSpPr/>
                <p:nvPr>
                  <p:custDataLst>
                    <p:tags r:id="rId16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 rot="270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6" name="流程图: 终止 15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流程图: 终止 16"/>
                <p:cNvSpPr/>
                <p:nvPr>
                  <p:custDataLst>
                    <p:tags r:id="rId14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rot="1380000">
                <a:off x="5348" y="1147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6" name="流程图: 终止 25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流程图: 终止 26"/>
                <p:cNvSpPr/>
                <p:nvPr>
                  <p:custDataLst>
                    <p:tags r:id="rId12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 rot="2022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9" name="流程图: 终止 2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流程图: 终止 29"/>
                <p:cNvSpPr/>
                <p:nvPr>
                  <p:custDataLst>
                    <p:tags r:id="rId10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1" name="椭圆 30"/>
            <p:cNvSpPr/>
            <p:nvPr>
              <p:custDataLst>
                <p:tags r:id="rId7"/>
              </p:custDataLst>
            </p:nvPr>
          </p:nvSpPr>
          <p:spPr>
            <a:xfrm>
              <a:off x="5501" y="1400"/>
              <a:ext cx="8195" cy="799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5828" y="1633"/>
              <a:ext cx="7540" cy="754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0" name="直接连接符 39"/>
          <p:cNvCxnSpPr>
            <a:cxnSpLocks noChangeAspect="1"/>
          </p:cNvCxnSpPr>
          <p:nvPr>
            <p:custDataLst>
              <p:tags r:id="rId1"/>
            </p:custDataLst>
          </p:nvPr>
        </p:nvCxnSpPr>
        <p:spPr>
          <a:xfrm>
            <a:off x="1656080" y="911225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cxnSpLocks noChangeAspect="1"/>
          </p:cNvCxnSpPr>
          <p:nvPr>
            <p:custDataLst>
              <p:tags r:id="rId2"/>
            </p:custDataLst>
          </p:nvPr>
        </p:nvCxnSpPr>
        <p:spPr>
          <a:xfrm>
            <a:off x="1221740" y="1014095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368040" y="3105785"/>
            <a:ext cx="5448935" cy="1198880"/>
            <a:chOff x="5304" y="5005"/>
            <a:chExt cx="8581" cy="1888"/>
          </a:xfrm>
        </p:grpSpPr>
        <p:sp>
          <p:nvSpPr>
            <p:cNvPr id="44" name="文本框 43"/>
            <p:cNvSpPr txBox="1"/>
            <p:nvPr>
              <p:custDataLst>
                <p:tags r:id="rId5"/>
              </p:custDataLst>
            </p:nvPr>
          </p:nvSpPr>
          <p:spPr>
            <a:xfrm>
              <a:off x="6186" y="6326"/>
              <a:ext cx="683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站酷快乐体" panose="02010600030101010101" charset="-128"/>
                  <a:ea typeface="宋体" panose="02010600030101010101" pitchFamily="2" charset="-122"/>
                  <a:cs typeface="汉仪中黑S" panose="00020600040101010101" charset="-122"/>
                  <a:sym typeface="+mn-ea"/>
                </a:rPr>
                <a:t>核心步骤</a:t>
              </a:r>
            </a:p>
          </p:txBody>
        </p:sp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5304" y="5005"/>
              <a:ext cx="8581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Python</a:t>
              </a:r>
              <a:r>
                <a:rPr lang="zh-CN" altLang="en-US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面向对象基础</a:t>
              </a:r>
              <a:endParaRPr lang="zh-CN" sz="36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endParaRPr>
            </a:p>
            <a:p>
              <a:pPr algn="ctr"/>
              <a:endParaRPr lang="zh-CN" sz="36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endParaRPr>
            </a:p>
          </p:txBody>
        </p:sp>
      </p:grpSp>
      <p:cxnSp>
        <p:nvCxnSpPr>
          <p:cNvPr id="42" name="直接连接符 41"/>
          <p:cNvCxnSpPr>
            <a:cxnSpLocks noChangeAspect="1"/>
          </p:cNvCxnSpPr>
          <p:nvPr>
            <p:custDataLst>
              <p:tags r:id="rId3"/>
            </p:custDataLst>
          </p:nvPr>
        </p:nvCxnSpPr>
        <p:spPr>
          <a:xfrm>
            <a:off x="9115425" y="4871720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cxnSpLocks noChangeAspect="1"/>
          </p:cNvCxnSpPr>
          <p:nvPr>
            <p:custDataLst>
              <p:tags r:id="rId4"/>
            </p:custDataLst>
          </p:nvPr>
        </p:nvCxnSpPr>
        <p:spPr>
          <a:xfrm>
            <a:off x="10128250" y="5591810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60267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①面向过程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270635" y="2421255"/>
            <a:ext cx="9889490" cy="309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传统的面向过程的编程思想总结起来就八个字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——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自顶向下，逐步细化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！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→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将要实现的功能描述为一个从开始到结束按部就班的连续的“步骤”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→ 依次逐步完成这些步骤，如果某一个步骤的难度较大，又可以将该步骤再次细化为若干个子步骤，以此类推，一直到结尾并得到我们想要的结果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举个例子：以大家来传智教育报名学习这件事情，可以分成哪些步骤？开始 → 学员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提出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报名 → 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提供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相关材料 → 向机构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缴纳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学费，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获得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缴费凭证 → 老师凭借学生缴费凭证进行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分配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班级 → 班级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增加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学生信息 → 结束所谓的面向过程，就是将上面分析好了的步骤，依次执行就行了！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265781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②面向对象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270635" y="2421255"/>
            <a:ext cx="9889490" cy="309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思考：上面的整个报名过程，都有哪些动词？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答：</a:t>
            </a:r>
            <a:r>
              <a:rPr lang="zh-CN" altLang="en-US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提出、提供、缴纳、获得、分配、增加</a:t>
            </a:r>
            <a:endParaRPr lang="en-US" altLang="zh-CN" sz="1400" dirty="0">
              <a:solidFill>
                <a:srgbClr val="FF0000"/>
              </a:solidFill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有动词就一定有实现这个动作的实体，这个实体就是对象！</a:t>
            </a:r>
          </a:p>
        </p:txBody>
      </p:sp>
    </p:spTree>
    <p:extLst>
      <p:ext uri="{BB962C8B-B14F-4D97-AF65-F5344CB8AC3E}">
        <p14:creationId xmlns:p14="http://schemas.microsoft.com/office/powerpoint/2010/main" val="241744502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③面向对象三步走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270635" y="2421255"/>
            <a:ext cx="9889490" cy="309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☆ 第一步：分析哪些动作是由哪些实体发出的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☆ 第二步：定义这些实体，为其增加相应的属性和功能</a:t>
            </a:r>
            <a:endParaRPr lang="en-US" altLang="zh-CN" sz="1400" dirty="0"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☆ 第三步：让实体去执行相应的功能或动作</a:t>
            </a:r>
          </a:p>
        </p:txBody>
      </p:sp>
    </p:spTree>
    <p:extLst>
      <p:ext uri="{BB962C8B-B14F-4D97-AF65-F5344CB8AC3E}">
        <p14:creationId xmlns:p14="http://schemas.microsoft.com/office/powerpoint/2010/main" val="361105682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③面向对象三步走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270635" y="2421255"/>
            <a:ext cx="9889490" cy="309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☆ 第一步：分析哪些动作是由哪些实体发出的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学生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提出报名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学生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提供相关材料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学生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缴费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机构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收费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老师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分配教室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班级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增加学生信息 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于是，在整个过程中，一共有四个实体：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学生、机构、老师、班级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！在现实中的一个具体的实体，就是计算机编程中的一个对象！</a:t>
            </a:r>
            <a:endParaRPr lang="zh-CN" altLang="en-US" sz="1400" dirty="0"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0633503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③面向对象三步走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270635" y="2421255"/>
            <a:ext cx="9889490" cy="309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☆ 第二步：定义这些实体，为其增加相应的属性和功能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属性就是实体固有的某些特征特性信息，在面向对象的术语</a:t>
            </a:r>
            <a:endParaRPr lang="en-US" altLang="zh-CN" sz="1400" dirty="0">
              <a:solidFill>
                <a:srgbClr val="FF0000"/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中，属性就是以前的变量。</a:t>
            </a:r>
            <a:endParaRPr lang="en-US" altLang="zh-CN" sz="1400" dirty="0">
              <a:solidFill>
                <a:srgbClr val="FF0000"/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比如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一个人的属性有：身高、体重、姓名、年龄、学历、电话、</a:t>
            </a:r>
            <a:endParaRPr lang="en-US" altLang="zh-CN" sz="1400" dirty="0"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籍贯、毕业院校等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一个手机的属性有：价格、品牌、操作系统、颜色、尺寸等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760F7D99-F663-BDC2-EE23-E692AC2AA89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2284095"/>
            <a:ext cx="5051006" cy="3703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50537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③面向对象三步走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270635" y="2421255"/>
            <a:ext cx="9889490" cy="309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☆ 第三步：让实体去执行相应的功能或动作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学生提出报名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学生提供相关资料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教师登记学生信息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学生缴费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机构收费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教师分配教室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班级增加学生信息</a:t>
            </a:r>
          </a:p>
        </p:txBody>
      </p:sp>
    </p:spTree>
    <p:extLst>
      <p:ext uri="{BB962C8B-B14F-4D97-AF65-F5344CB8AC3E}">
        <p14:creationId xmlns:p14="http://schemas.microsoft.com/office/powerpoint/2010/main" val="98506908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④面向对象基本概念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270635" y="2421255"/>
            <a:ext cx="9889490" cy="309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对象，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object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，现实业务逻辑的一个动作实体就对应着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OOP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编程中的一个对象！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对象如何产生？又是如何规定对象的属性和方法呢？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答：在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Python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中，采用类（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class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）来生产对象，用类来规定对象的属性和方法！也就是说，在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Python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中，要想得到对象，必须先有类！</a:t>
            </a:r>
            <a:endParaRPr lang="en-US" altLang="zh-CN" sz="1400" dirty="0">
              <a:solidFill>
                <a:srgbClr val="FF0000"/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357265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⑤类的定义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270635" y="2421255"/>
            <a:ext cx="9889490" cy="309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class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类名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(object):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属性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方法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这就是一个类，只不过里面什么都没有！其中，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类名采用大驼峰的命名方法，遵守标识符的命名规则（以字母、数字和下划线构成，并且不能以数字开头，严格区分大小写，不能使用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Python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内置关键字）</a:t>
            </a:r>
          </a:p>
        </p:txBody>
      </p:sp>
    </p:spTree>
    <p:extLst>
      <p:ext uri="{BB962C8B-B14F-4D97-AF65-F5344CB8AC3E}">
        <p14:creationId xmlns:p14="http://schemas.microsoft.com/office/powerpoint/2010/main" val="288221647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⑥实例化对象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270635" y="2421255"/>
            <a:ext cx="9889490" cy="309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class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类名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(object):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属性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#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方法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对象 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=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类名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()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对象</a:t>
            </a: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.</a:t>
            </a:r>
            <a:r>
              <a:rPr lang="zh-CN" altLang="en-US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属性</a:t>
            </a:r>
            <a:endParaRPr lang="en-US" altLang="zh-CN" sz="1400" dirty="0">
              <a:solidFill>
                <a:srgbClr val="FF0000"/>
              </a:solidFill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对象</a:t>
            </a: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.</a:t>
            </a:r>
            <a:r>
              <a:rPr lang="zh-CN" altLang="en-US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方法</a:t>
            </a: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3979617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⑦类中的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self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关键字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270635" y="2421255"/>
            <a:ext cx="9889490" cy="309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self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也是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Python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内置的关键字之一，其指向了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类实例对象本身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。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# 1</a:t>
            </a:r>
            <a:r>
              <a:rPr lang="zh-CN" altLang="en-US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、定义一个类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class Person():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# </a:t>
            </a:r>
            <a:r>
              <a:rPr lang="zh-CN" altLang="en-US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定义一个方法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</a:t>
            </a: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def speak(self):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print(self)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print('Nice to meet you!')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AC71F15-BBF4-2767-12FE-58C0876F8F60}"/>
              </a:ext>
            </a:extLst>
          </p:cNvPr>
          <p:cNvSpPr txBox="1"/>
          <p:nvPr/>
        </p:nvSpPr>
        <p:spPr>
          <a:xfrm>
            <a:off x="6946344" y="3005581"/>
            <a:ext cx="3470274" cy="26395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# 2</a:t>
            </a:r>
            <a:r>
              <a:rPr lang="zh-CN" altLang="en-US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、类的实例化（生成对象）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p1 = Person()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print(p1)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p1.speak()</a:t>
            </a: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FF0000"/>
              </a:solidFill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p2 = Person()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print(p2)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p2.speak()</a:t>
            </a: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855C2080-17CB-6D2C-7E1C-A791FB5D6A33}"/>
              </a:ext>
            </a:extLst>
          </p:cNvPr>
          <p:cNvSpPr/>
          <p:nvPr/>
        </p:nvSpPr>
        <p:spPr>
          <a:xfrm>
            <a:off x="4904475" y="3874417"/>
            <a:ext cx="673656" cy="67872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070210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/>
        </p:nvGrpSpPr>
        <p:grpSpPr>
          <a:xfrm>
            <a:off x="3122295" y="627380"/>
            <a:ext cx="5940425" cy="5603240"/>
            <a:chOff x="5080" y="988"/>
            <a:chExt cx="9038" cy="882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1" name="组合 10"/>
            <p:cNvGrpSpPr/>
            <p:nvPr/>
          </p:nvGrpSpPr>
          <p:grpSpPr>
            <a:xfrm>
              <a:off x="5080" y="988"/>
              <a:ext cx="9039" cy="8825"/>
              <a:chOff x="5348" y="1147"/>
              <a:chExt cx="8504" cy="8506"/>
            </a:xfrm>
            <a:gradFill>
              <a:gsLst>
                <a:gs pos="0">
                  <a:schemeClr val="bg1"/>
                </a:gs>
                <a:gs pos="50000">
                  <a:schemeClr val="tx2">
                    <a:lumMod val="10000"/>
                    <a:lumOff val="9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5400000" scaled="0"/>
            </a:gradFill>
          </p:grpSpPr>
          <p:grpSp>
            <p:nvGrpSpPr>
              <p:cNvPr id="12" name="组合 11"/>
              <p:cNvGrpSpPr/>
              <p:nvPr/>
            </p:nvGrpSpPr>
            <p:grpSpPr>
              <a:xfrm>
                <a:off x="5348" y="1148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3" name="流程图: 终止 12"/>
                <p:cNvSpPr/>
                <p:nvPr>
                  <p:custDataLst>
                    <p:tags r:id="rId15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4" name="流程图: 终止 13"/>
                <p:cNvSpPr/>
                <p:nvPr>
                  <p:custDataLst>
                    <p:tags r:id="rId16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5" name="组合 14"/>
              <p:cNvGrpSpPr/>
              <p:nvPr/>
            </p:nvGrpSpPr>
            <p:grpSpPr>
              <a:xfrm rot="270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16" name="流程图: 终止 15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17" name="流程图: 终止 16"/>
                <p:cNvSpPr/>
                <p:nvPr>
                  <p:custDataLst>
                    <p:tags r:id="rId14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18" name="组合 17"/>
              <p:cNvGrpSpPr/>
              <p:nvPr/>
            </p:nvGrpSpPr>
            <p:grpSpPr>
              <a:xfrm rot="1380000">
                <a:off x="5348" y="1147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6" name="流程图: 终止 25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流程图: 终止 26"/>
                <p:cNvSpPr/>
                <p:nvPr>
                  <p:custDataLst>
                    <p:tags r:id="rId12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28" name="组合 27"/>
              <p:cNvGrpSpPr/>
              <p:nvPr/>
            </p:nvGrpSpPr>
            <p:grpSpPr>
              <a:xfrm rot="20220000">
                <a:off x="5348" y="1149"/>
                <a:ext cx="8504" cy="8504"/>
                <a:chOff x="5348" y="1148"/>
                <a:chExt cx="8504" cy="8504"/>
              </a:xfrm>
              <a:grpFill/>
            </p:grpSpPr>
            <p:sp>
              <p:nvSpPr>
                <p:cNvPr id="29" name="流程图: 终止 28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5348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流程图: 终止 29"/>
                <p:cNvSpPr/>
                <p:nvPr>
                  <p:custDataLst>
                    <p:tags r:id="rId10"/>
                  </p:custDataLst>
                </p:nvPr>
              </p:nvSpPr>
              <p:spPr>
                <a:xfrm rot="16200000" flipH="1">
                  <a:off x="5347" y="5202"/>
                  <a:ext cx="8504" cy="397"/>
                </a:xfrm>
                <a:prstGeom prst="flowChartTerminator">
                  <a:avLst/>
                </a:prstGeom>
              </p:spPr>
              <p:style>
                <a:lnRef idx="2">
                  <a:schemeClr val="dk1"/>
                </a:lnRef>
                <a:fillRef idx="1">
                  <a:schemeClr val="lt1"/>
                </a:fillRef>
                <a:effectRef idx="0">
                  <a:schemeClr val="dk1"/>
                </a:effectRef>
                <a:fontRef idx="minor">
                  <a:schemeClr val="dk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31" name="椭圆 30"/>
            <p:cNvSpPr/>
            <p:nvPr>
              <p:custDataLst>
                <p:tags r:id="rId7"/>
              </p:custDataLst>
            </p:nvPr>
          </p:nvSpPr>
          <p:spPr>
            <a:xfrm>
              <a:off x="5501" y="1400"/>
              <a:ext cx="8195" cy="7999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>
              <a:spLocks noChangeAspect="1"/>
            </p:cNvSpPr>
            <p:nvPr>
              <p:custDataLst>
                <p:tags r:id="rId8"/>
              </p:custDataLst>
            </p:nvPr>
          </p:nvSpPr>
          <p:spPr>
            <a:xfrm>
              <a:off x="5828" y="1633"/>
              <a:ext cx="7540" cy="7540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40" name="直接连接符 39"/>
          <p:cNvCxnSpPr>
            <a:cxnSpLocks noChangeAspect="1"/>
          </p:cNvCxnSpPr>
          <p:nvPr>
            <p:custDataLst>
              <p:tags r:id="rId1"/>
            </p:custDataLst>
          </p:nvPr>
        </p:nvCxnSpPr>
        <p:spPr>
          <a:xfrm>
            <a:off x="1656080" y="911225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cxnSpLocks noChangeAspect="1"/>
          </p:cNvCxnSpPr>
          <p:nvPr>
            <p:custDataLst>
              <p:tags r:id="rId2"/>
            </p:custDataLst>
          </p:nvPr>
        </p:nvCxnSpPr>
        <p:spPr>
          <a:xfrm>
            <a:off x="1221740" y="1014095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368040" y="3105785"/>
            <a:ext cx="5448935" cy="1198880"/>
            <a:chOff x="5304" y="5005"/>
            <a:chExt cx="8581" cy="1888"/>
          </a:xfrm>
        </p:grpSpPr>
        <p:sp>
          <p:nvSpPr>
            <p:cNvPr id="44" name="文本框 43"/>
            <p:cNvSpPr txBox="1"/>
            <p:nvPr>
              <p:custDataLst>
                <p:tags r:id="rId5"/>
              </p:custDataLst>
            </p:nvPr>
          </p:nvSpPr>
          <p:spPr>
            <a:xfrm>
              <a:off x="6186" y="6326"/>
              <a:ext cx="6838" cy="43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200" b="1">
                  <a:solidFill>
                    <a:schemeClr val="tx1">
                      <a:lumMod val="75000"/>
                      <a:lumOff val="25000"/>
                    </a:schemeClr>
                  </a:solidFill>
                  <a:effectLst/>
                  <a:latin typeface="站酷快乐体" panose="02010600030101010101" charset="-128"/>
                  <a:ea typeface="宋体" panose="02010600030101010101" pitchFamily="2" charset="-122"/>
                  <a:cs typeface="汉仪中黑S" panose="00020600040101010101" charset="-122"/>
                  <a:sym typeface="+mn-ea"/>
                </a:rPr>
                <a:t>核心步骤</a:t>
              </a:r>
            </a:p>
          </p:txBody>
        </p:sp>
        <p:sp>
          <p:nvSpPr>
            <p:cNvPr id="20" name="文本框 19"/>
            <p:cNvSpPr txBox="1"/>
            <p:nvPr>
              <p:custDataLst>
                <p:tags r:id="rId6"/>
              </p:custDataLst>
            </p:nvPr>
          </p:nvSpPr>
          <p:spPr>
            <a:xfrm>
              <a:off x="5304" y="5005"/>
              <a:ext cx="8581" cy="188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Python</a:t>
              </a:r>
              <a:r>
                <a:rPr lang="zh-CN" altLang="en-US" sz="3600" dirty="0">
                  <a:solidFill>
                    <a:srgbClr val="C00000"/>
                  </a:solidFill>
                  <a:latin typeface="阿里巴巴普惠体 2.0 45 Light" panose="00020600040101010101" pitchFamily="18" charset="-122"/>
                  <a:ea typeface="阿里巴巴普惠体 2.0 45 Light" panose="00020600040101010101" pitchFamily="18" charset="-122"/>
                  <a:cs typeface="阿里巴巴普惠体 2.0 45 Light" panose="00020600040101010101" pitchFamily="18" charset="-122"/>
                  <a:sym typeface="+mn-ea"/>
                </a:rPr>
                <a:t>面向对象高级</a:t>
              </a:r>
              <a:endParaRPr lang="zh-CN" sz="36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endParaRPr>
            </a:p>
            <a:p>
              <a:pPr algn="ctr"/>
              <a:endParaRPr lang="zh-CN" sz="36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endParaRPr>
            </a:p>
          </p:txBody>
        </p:sp>
      </p:grpSp>
      <p:cxnSp>
        <p:nvCxnSpPr>
          <p:cNvPr id="42" name="直接连接符 41"/>
          <p:cNvCxnSpPr>
            <a:cxnSpLocks noChangeAspect="1"/>
          </p:cNvCxnSpPr>
          <p:nvPr>
            <p:custDataLst>
              <p:tags r:id="rId3"/>
            </p:custDataLst>
          </p:nvPr>
        </p:nvCxnSpPr>
        <p:spPr>
          <a:xfrm>
            <a:off x="9115425" y="4871720"/>
            <a:ext cx="1696085" cy="720090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>
            <a:cxnSpLocks noChangeAspect="1"/>
          </p:cNvCxnSpPr>
          <p:nvPr>
            <p:custDataLst>
              <p:tags r:id="rId4"/>
            </p:custDataLst>
          </p:nvPr>
        </p:nvCxnSpPr>
        <p:spPr>
          <a:xfrm>
            <a:off x="10128250" y="5591810"/>
            <a:ext cx="848360" cy="360045"/>
          </a:xfrm>
          <a:prstGeom prst="line">
            <a:avLst/>
          </a:prstGeom>
          <a:ln w="44450">
            <a:gradFill>
              <a:gsLst>
                <a:gs pos="0">
                  <a:schemeClr val="bg1"/>
                </a:gs>
                <a:gs pos="51000">
                  <a:schemeClr val="accent1">
                    <a:lumMod val="20000"/>
                    <a:lumOff val="80000"/>
                  </a:schemeClr>
                </a:gs>
                <a:gs pos="100000">
                  <a:schemeClr val="tx2">
                    <a:lumMod val="25000"/>
                    <a:lumOff val="75000"/>
                  </a:schemeClr>
                </a:gs>
              </a:gsLst>
              <a:lin ang="2700000" scaled="1"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2050861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①对象属性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1270635" y="2421255"/>
            <a:ext cx="9889490" cy="309054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在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Python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中，任何一个对象都应该由两部分组成：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属性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+ 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方法</a:t>
            </a:r>
          </a:p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属性即是特征</a:t>
            </a:r>
            <a:endParaRPr lang="en-US" altLang="zh-CN" sz="1400" dirty="0">
              <a:solidFill>
                <a:srgbClr val="FF0000"/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比如：人的姓名、年龄、身高、体重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…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都是对象的属性。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      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车的品牌、型号、颜色、载重量</a:t>
            </a:r>
            <a:r>
              <a:rPr lang="en-US" altLang="zh-CN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...</a:t>
            </a: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都是对象的属性。</a:t>
            </a:r>
            <a:endParaRPr lang="zh-CN" altLang="en-US" sz="1400" dirty="0"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881929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②对象属性添加与获取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5"/>
            </p:custDataLst>
          </p:nvPr>
        </p:nvSpPr>
        <p:spPr>
          <a:xfrm>
            <a:off x="2128474" y="3779855"/>
            <a:ext cx="1906198" cy="744522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基本语法：</a:t>
            </a:r>
            <a:endParaRPr lang="en-US" altLang="zh-CN" sz="1400" dirty="0">
              <a:solidFill>
                <a:schemeClr val="tx1">
                  <a:lumMod val="75000"/>
                  <a:lumOff val="25000"/>
                </a:schemeClr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对象名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.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属性 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= 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属性值</a:t>
            </a:r>
            <a:endParaRPr lang="en-US" altLang="zh-CN" sz="1400" dirty="0">
              <a:solidFill>
                <a:srgbClr val="FF0000"/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E20D12-C988-D48D-6137-7B8A19282FB5}"/>
              </a:ext>
            </a:extLst>
          </p:cNvPr>
          <p:cNvSpPr txBox="1"/>
          <p:nvPr/>
        </p:nvSpPr>
        <p:spPr>
          <a:xfrm>
            <a:off x="5093619" y="2454701"/>
            <a:ext cx="6127422" cy="32895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# 1</a:t>
            </a: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、定义一个</a:t>
            </a:r>
            <a:r>
              <a:rPr lang="en-US" altLang="zh-CN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Person</a:t>
            </a: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类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class Person(object):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    pass</a:t>
            </a:r>
          </a:p>
          <a:p>
            <a:pPr>
              <a:lnSpc>
                <a:spcPct val="150000"/>
              </a:lnSpc>
            </a:pPr>
            <a:endParaRPr lang="en-US" altLang="zh-CN" sz="1400" dirty="0"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# 2</a:t>
            </a: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、实例化</a:t>
            </a:r>
            <a:r>
              <a:rPr lang="en-US" altLang="zh-CN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Person</a:t>
            </a: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类，生成</a:t>
            </a:r>
            <a:r>
              <a:rPr lang="en-US" altLang="zh-CN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p1</a:t>
            </a: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对象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p1 = Person()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# 3</a:t>
            </a: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、为</a:t>
            </a:r>
            <a:r>
              <a:rPr lang="en-US" altLang="zh-CN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p1</a:t>
            </a: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对象添加属性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p1.name = '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老王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'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p1.age = </a:t>
            </a:r>
            <a:r>
              <a:rPr lang="en-US" altLang="zh-CN" sz="1400" dirty="0">
                <a:solidFill>
                  <a:srgbClr val="FF0000"/>
                </a:solidFill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23</a:t>
            </a:r>
            <a:endParaRPr lang="en-US" altLang="zh-CN" sz="1400" dirty="0">
              <a:solidFill>
                <a:srgbClr val="FF0000"/>
              </a:solidFill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p1.address = '</a:t>
            </a:r>
            <a:r>
              <a:rPr lang="zh-CN" altLang="en-US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北京市昌平区</a:t>
            </a:r>
            <a:r>
              <a:rPr lang="en-US" altLang="zh-CN" sz="1400" dirty="0">
                <a:solidFill>
                  <a:srgbClr val="FF0000"/>
                </a:solidFill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'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6" name="箭头: 右 5">
            <a:extLst>
              <a:ext uri="{FF2B5EF4-FFF2-40B4-BE49-F238E27FC236}">
                <a16:creationId xmlns:a16="http://schemas.microsoft.com/office/drawing/2014/main" id="{D105A9FD-3EF0-95F7-BE2F-727709E33735}"/>
              </a:ext>
            </a:extLst>
          </p:cNvPr>
          <p:cNvSpPr/>
          <p:nvPr/>
        </p:nvSpPr>
        <p:spPr>
          <a:xfrm>
            <a:off x="4227317" y="3897355"/>
            <a:ext cx="673656" cy="67872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89479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③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__</a:t>
            </a:r>
            <a:r>
              <a:rPr lang="en-US" altLang="zh-CN" sz="2000" b="1" dirty="0" err="1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init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__()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魔术方法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E20D12-C988-D48D-6137-7B8A19282FB5}"/>
              </a:ext>
            </a:extLst>
          </p:cNvPr>
          <p:cNvSpPr txBox="1"/>
          <p:nvPr/>
        </p:nvSpPr>
        <p:spPr>
          <a:xfrm>
            <a:off x="1270635" y="2454701"/>
            <a:ext cx="9715500" cy="3613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dirty="0">
                <a:effectLst/>
                <a:latin typeface="汉仪中黑S" panose="00020600040101010101" charset="-122"/>
                <a:ea typeface="汉仪中黑S" panose="00020600040101010101" charset="-122"/>
                <a:cs typeface="汉仪君黑-45简" panose="020B0604020202020204" charset="-122"/>
              </a:rPr>
              <a:t>思考：人的姓名、年龄等信息都是与生俱来的属性，可不可以在生产过程中就赋予这些属性呢？</a:t>
            </a:r>
            <a:endParaRPr lang="en-US" altLang="zh-CN" sz="1400" dirty="0">
              <a:effectLst/>
              <a:latin typeface="汉仪中黑S" panose="00020600040101010101" charset="-122"/>
              <a:ea typeface="汉仪中黑S" panose="00020600040101010101" charset="-122"/>
              <a:cs typeface="汉仪君黑-45简" panose="020B0604020202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400" dirty="0">
                <a:ea typeface="汉仪中黑S" panose="00020600040101010101" charset="-122"/>
              </a:rPr>
              <a:t>答：可以，使用</a:t>
            </a: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__</a:t>
            </a:r>
            <a:r>
              <a:rPr lang="en-US" altLang="zh-CN" sz="1400" dirty="0" err="1">
                <a:solidFill>
                  <a:srgbClr val="FF0000"/>
                </a:solidFill>
                <a:ea typeface="汉仪中黑S" panose="00020600040101010101" charset="-122"/>
              </a:rPr>
              <a:t>init</a:t>
            </a: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__()</a:t>
            </a:r>
            <a:r>
              <a:rPr lang="zh-CN" altLang="en-US" sz="1400" dirty="0">
                <a:ea typeface="汉仪中黑S" panose="00020600040101010101" charset="-122"/>
              </a:rPr>
              <a:t>方法，其作用：实例化对象时，连带其中的参数，会一并传给</a:t>
            </a: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__</a:t>
            </a:r>
            <a:r>
              <a:rPr lang="en-US" altLang="zh-CN" sz="1400" dirty="0" err="1">
                <a:solidFill>
                  <a:srgbClr val="FF0000"/>
                </a:solidFill>
                <a:ea typeface="汉仪中黑S" panose="00020600040101010101" charset="-122"/>
              </a:rPr>
              <a:t>init</a:t>
            </a: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__</a:t>
            </a:r>
            <a:r>
              <a:rPr lang="zh-CN" altLang="en-US" sz="1400" dirty="0">
                <a:ea typeface="汉仪中黑S" panose="00020600040101010101" charset="-122"/>
              </a:rPr>
              <a:t>函数自动并执行它。</a:t>
            </a:r>
            <a:endParaRPr lang="en-US" altLang="zh-CN" sz="1400" dirty="0">
              <a:ea typeface="汉仪中黑S" panose="00020600040101010101" charset="-122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ea typeface="汉仪中黑S" panose="00020600040101010101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# 1</a:t>
            </a:r>
            <a:r>
              <a:rPr lang="zh-CN" altLang="en-US" sz="1400" dirty="0">
                <a:ea typeface="汉仪中黑S" panose="00020600040101010101" charset="-122"/>
              </a:rPr>
              <a:t>、定义一个类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class Person():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    # </a:t>
            </a:r>
            <a:r>
              <a:rPr lang="zh-CN" altLang="en-US" sz="1400" dirty="0">
                <a:ea typeface="汉仪中黑S" panose="00020600040101010101" charset="-122"/>
              </a:rPr>
              <a:t>初始化实例对象属性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a typeface="汉仪中黑S" panose="00020600040101010101" charset="-122"/>
              </a:rPr>
              <a:t>    </a:t>
            </a: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def __</a:t>
            </a:r>
            <a:r>
              <a:rPr lang="en-US" altLang="zh-CN" sz="1400" dirty="0" err="1">
                <a:solidFill>
                  <a:srgbClr val="FF0000"/>
                </a:solidFill>
                <a:ea typeface="汉仪中黑S" panose="00020600040101010101" charset="-122"/>
              </a:rPr>
              <a:t>init</a:t>
            </a: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__(self, name, age):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        # </a:t>
            </a:r>
            <a:r>
              <a:rPr lang="zh-CN" altLang="en-US" sz="1400" dirty="0">
                <a:solidFill>
                  <a:srgbClr val="FF0000"/>
                </a:solidFill>
                <a:ea typeface="汉仪中黑S" panose="00020600040101010101" charset="-122"/>
              </a:rPr>
              <a:t>赋予</a:t>
            </a: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name</a:t>
            </a:r>
            <a:r>
              <a:rPr lang="zh-CN" altLang="en-US" sz="1400" dirty="0">
                <a:solidFill>
                  <a:srgbClr val="FF0000"/>
                </a:solidFill>
                <a:ea typeface="汉仪中黑S" panose="00020600040101010101" charset="-122"/>
              </a:rPr>
              <a:t>属性、</a:t>
            </a: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age</a:t>
            </a:r>
            <a:r>
              <a:rPr lang="zh-CN" altLang="en-US" sz="1400" dirty="0">
                <a:solidFill>
                  <a:srgbClr val="FF0000"/>
                </a:solidFill>
                <a:ea typeface="汉仪中黑S" panose="00020600040101010101" charset="-122"/>
              </a:rPr>
              <a:t>属性给实例化对象本身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a typeface="汉仪中黑S" panose="00020600040101010101" charset="-122"/>
              </a:rPr>
              <a:t>        </a:t>
            </a: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# self.</a:t>
            </a:r>
            <a:r>
              <a:rPr lang="zh-CN" altLang="en-US" sz="1400" dirty="0">
                <a:solidFill>
                  <a:srgbClr val="FF0000"/>
                </a:solidFill>
                <a:ea typeface="汉仪中黑S" panose="00020600040101010101" charset="-122"/>
              </a:rPr>
              <a:t>实例化对象属性 </a:t>
            </a: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= </a:t>
            </a:r>
            <a:r>
              <a:rPr lang="zh-CN" altLang="en-US" sz="1400" dirty="0">
                <a:solidFill>
                  <a:srgbClr val="FF0000"/>
                </a:solidFill>
                <a:ea typeface="汉仪中黑S" panose="00020600040101010101" charset="-122"/>
              </a:rPr>
              <a:t>参数</a:t>
            </a:r>
          </a:p>
          <a:p>
            <a:pPr>
              <a:lnSpc>
                <a:spcPct val="150000"/>
              </a:lnSpc>
            </a:pPr>
            <a:r>
              <a:rPr lang="zh-CN" altLang="en-US" sz="1400" dirty="0">
                <a:solidFill>
                  <a:srgbClr val="FF0000"/>
                </a:solidFill>
                <a:ea typeface="汉仪中黑S" panose="00020600040101010101" charset="-122"/>
              </a:rPr>
              <a:t>        </a:t>
            </a: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self.name = name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        </a:t>
            </a:r>
            <a:r>
              <a:rPr lang="en-US" altLang="zh-CN" sz="1400" dirty="0" err="1">
                <a:solidFill>
                  <a:srgbClr val="FF0000"/>
                </a:solidFill>
                <a:ea typeface="汉仪中黑S" panose="00020600040101010101" charset="-122"/>
              </a:rPr>
              <a:t>self.age</a:t>
            </a: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 = age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D9DE3CB-5B4E-CF64-6B2D-0D5EBFE10C6F}"/>
              </a:ext>
            </a:extLst>
          </p:cNvPr>
          <p:cNvSpPr txBox="1"/>
          <p:nvPr/>
        </p:nvSpPr>
        <p:spPr>
          <a:xfrm>
            <a:off x="6897858" y="3834318"/>
            <a:ext cx="4088277" cy="167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# 2</a:t>
            </a:r>
            <a:r>
              <a:rPr lang="zh-CN" altLang="en-US" sz="1400" dirty="0">
                <a:ea typeface="汉仪中黑S" panose="00020600040101010101" charset="-122"/>
              </a:rPr>
              <a:t>、实例化对象并传入初始化属性值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p1 = Person('</a:t>
            </a:r>
            <a:r>
              <a:rPr lang="zh-CN" altLang="en-US" sz="1400" dirty="0">
                <a:ea typeface="汉仪中黑S" panose="00020600040101010101" charset="-122"/>
              </a:rPr>
              <a:t>孙悟空</a:t>
            </a:r>
            <a:r>
              <a:rPr lang="en-US" altLang="zh-CN" sz="1400" dirty="0">
                <a:ea typeface="汉仪中黑S" panose="00020600040101010101" charset="-122"/>
              </a:rPr>
              <a:t>', 500)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# 3</a:t>
            </a:r>
            <a:r>
              <a:rPr lang="zh-CN" altLang="en-US" sz="1400" dirty="0">
                <a:ea typeface="汉仪中黑S" panose="00020600040101010101" charset="-122"/>
              </a:rPr>
              <a:t>、调用</a:t>
            </a:r>
            <a:r>
              <a:rPr lang="en-US" altLang="zh-CN" sz="1400" dirty="0">
                <a:ea typeface="汉仪中黑S" panose="00020600040101010101" charset="-122"/>
              </a:rPr>
              <a:t>p1</a:t>
            </a:r>
            <a:r>
              <a:rPr lang="zh-CN" altLang="en-US" sz="1400" dirty="0">
                <a:ea typeface="汉仪中黑S" panose="00020600040101010101" charset="-122"/>
              </a:rPr>
              <a:t>对象自身属性</a:t>
            </a:r>
            <a:r>
              <a:rPr lang="en-US" altLang="zh-CN" sz="1400" dirty="0">
                <a:ea typeface="汉仪中黑S" panose="00020600040101010101" charset="-122"/>
              </a:rPr>
              <a:t>name</a:t>
            </a:r>
            <a:r>
              <a:rPr lang="zh-CN" altLang="en-US" sz="1400" dirty="0">
                <a:ea typeface="汉仪中黑S" panose="00020600040101010101" charset="-122"/>
              </a:rPr>
              <a:t>与</a:t>
            </a:r>
            <a:r>
              <a:rPr lang="en-US" altLang="zh-CN" sz="1400" dirty="0">
                <a:ea typeface="汉仪中黑S" panose="00020600040101010101" charset="-122"/>
              </a:rPr>
              <a:t>age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print(p1.name)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print(p1.age)</a:t>
            </a:r>
            <a:endParaRPr lang="zh-CN" altLang="en-US" sz="1400" dirty="0">
              <a:ea typeface="汉仪中黑S" panose="00020600040101010101" charset="-122"/>
            </a:endParaRP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93A0B1B1-2571-9BFF-386D-1728F6ACD565}"/>
              </a:ext>
            </a:extLst>
          </p:cNvPr>
          <p:cNvSpPr/>
          <p:nvPr/>
        </p:nvSpPr>
        <p:spPr>
          <a:xfrm>
            <a:off x="5575112" y="4332330"/>
            <a:ext cx="673656" cy="67872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618512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④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__call__()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魔术方法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E20D12-C988-D48D-6137-7B8A19282FB5}"/>
              </a:ext>
            </a:extLst>
          </p:cNvPr>
          <p:cNvSpPr txBox="1"/>
          <p:nvPr/>
        </p:nvSpPr>
        <p:spPr>
          <a:xfrm>
            <a:off x="1270635" y="2454701"/>
            <a:ext cx="9715500" cy="3613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当一个类的实例被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"</a:t>
            </a:r>
            <a:r>
              <a:rPr lang="zh-CN" altLang="en-US" sz="1400" b="0" i="0" dirty="0">
                <a:solidFill>
                  <a:srgbClr val="FF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调用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"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时，就会自动触发这个方法。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 " </a:t>
            </a:r>
            <a:r>
              <a:rPr lang="zh-CN" altLang="en-US" sz="1400" b="0" i="0" dirty="0">
                <a:solidFill>
                  <a:srgbClr val="FF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调用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" 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一个类的实例就是使用小括号 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() 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操作符</a:t>
            </a:r>
            <a:endParaRPr lang="en-US" altLang="zh-CN" sz="1400" b="0" i="0" dirty="0">
              <a:solidFill>
                <a:srgbClr val="000000"/>
              </a:solidFill>
              <a:effectLst/>
              <a:latin typeface="PingFang SC" panose="02000000000000000000" pitchFamily="2" charset="-120"/>
              <a:ea typeface="PingFang SC" panose="02000000000000000000" pitchFamily="2" charset="-120"/>
            </a:endParaRPr>
          </a:p>
          <a:p>
            <a:pPr>
              <a:lnSpc>
                <a:spcPct val="150000"/>
              </a:lnSpc>
            </a:pPr>
            <a:endParaRPr lang="en-US" altLang="zh-CN" sz="1400" dirty="0">
              <a:solidFill>
                <a:srgbClr val="000000"/>
              </a:solidFill>
              <a:latin typeface="PingFang SC" panose="02000000000000000000" pitchFamily="2" charset="-120"/>
              <a:ea typeface="PingFang SC" panose="02000000000000000000" pitchFamily="2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class Adder(object):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    def __</a:t>
            </a:r>
            <a:r>
              <a:rPr lang="en-US" altLang="zh-CN" sz="1400" dirty="0" err="1">
                <a:ea typeface="汉仪中黑S" panose="00020600040101010101" charset="-122"/>
              </a:rPr>
              <a:t>init</a:t>
            </a:r>
            <a:r>
              <a:rPr lang="en-US" altLang="zh-CN" sz="1400" dirty="0">
                <a:ea typeface="汉仪中黑S" panose="00020600040101010101" charset="-122"/>
              </a:rPr>
              <a:t>__(self, value=0):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        </a:t>
            </a:r>
            <a:r>
              <a:rPr lang="en-US" altLang="zh-CN" sz="1400" dirty="0" err="1">
                <a:ea typeface="汉仪中黑S" panose="00020600040101010101" charset="-122"/>
              </a:rPr>
              <a:t>self.data</a:t>
            </a:r>
            <a:r>
              <a:rPr lang="en-US" altLang="zh-CN" sz="1400" dirty="0">
                <a:ea typeface="汉仪中黑S" panose="00020600040101010101" charset="-122"/>
              </a:rPr>
              <a:t> = value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    </a:t>
            </a: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def __call__(self, x):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        return </a:t>
            </a:r>
            <a:r>
              <a:rPr lang="en-US" altLang="zh-CN" sz="1400" dirty="0" err="1">
                <a:solidFill>
                  <a:srgbClr val="FF0000"/>
                </a:solidFill>
                <a:ea typeface="汉仪中黑S" panose="00020600040101010101" charset="-122"/>
              </a:rPr>
              <a:t>self.data</a:t>
            </a:r>
            <a:r>
              <a:rPr lang="en-US" altLang="zh-CN" sz="1400" dirty="0">
                <a:solidFill>
                  <a:srgbClr val="FF0000"/>
                </a:solidFill>
                <a:ea typeface="汉仪中黑S" panose="00020600040101010101" charset="-122"/>
              </a:rPr>
              <a:t> + x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add = Adder()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print(add(1)) # 1</a:t>
            </a:r>
          </a:p>
          <a:p>
            <a:pPr>
              <a:lnSpc>
                <a:spcPct val="150000"/>
              </a:lnSpc>
            </a:pPr>
            <a:r>
              <a:rPr lang="en-US" altLang="zh-CN" sz="1400" dirty="0">
                <a:ea typeface="汉仪中黑S" panose="00020600040101010101" charset="-122"/>
              </a:rPr>
              <a:t>print(add(2)) # 2</a:t>
            </a:r>
          </a:p>
        </p:txBody>
      </p:sp>
    </p:spTree>
    <p:extLst>
      <p:ext uri="{BB962C8B-B14F-4D97-AF65-F5344CB8AC3E}">
        <p14:creationId xmlns:p14="http://schemas.microsoft.com/office/powerpoint/2010/main" val="6262718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⑤ 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Python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中类的继承 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E20D12-C988-D48D-6137-7B8A19282FB5}"/>
              </a:ext>
            </a:extLst>
          </p:cNvPr>
          <p:cNvSpPr txBox="1"/>
          <p:nvPr/>
        </p:nvSpPr>
        <p:spPr>
          <a:xfrm>
            <a:off x="1270635" y="2454701"/>
            <a:ext cx="9715500" cy="20017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我们接下来来聊聊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Python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代码中的“继承”：类是用来描述现实世界中同一组事务的共有特性的抽象模型，但是类也有上下级和范围之分，比如：</a:t>
            </a:r>
            <a:r>
              <a:rPr lang="zh-CN" altLang="en-US" sz="1400" b="0" i="0" dirty="0">
                <a:solidFill>
                  <a:srgbClr val="FF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生物 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=&gt; </a:t>
            </a:r>
            <a:r>
              <a:rPr lang="zh-CN" altLang="en-US" sz="1400" b="0" i="0" dirty="0">
                <a:solidFill>
                  <a:srgbClr val="FF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动物 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=&gt; </a:t>
            </a:r>
            <a:r>
              <a:rPr lang="zh-CN" altLang="en-US" sz="1400" b="0" i="0" dirty="0">
                <a:solidFill>
                  <a:srgbClr val="FF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哺乳动物 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=&gt; </a:t>
            </a:r>
            <a:r>
              <a:rPr lang="zh-CN" altLang="en-US" sz="1400" b="0" i="0" dirty="0">
                <a:solidFill>
                  <a:srgbClr val="FF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灵长型动物 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=&gt; </a:t>
            </a:r>
            <a:r>
              <a:rPr lang="zh-CN" altLang="en-US" sz="1400" b="0" i="0" dirty="0">
                <a:solidFill>
                  <a:srgbClr val="FF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人类 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=&gt; </a:t>
            </a:r>
            <a:r>
              <a:rPr lang="zh-CN" altLang="en-US" sz="1400" b="0" i="0" dirty="0">
                <a:solidFill>
                  <a:srgbClr val="FF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黄种人</a:t>
            </a:r>
          </a:p>
          <a:p>
            <a:pPr>
              <a:lnSpc>
                <a:spcPct val="150000"/>
              </a:lnSpc>
            </a:pPr>
            <a:endParaRPr lang="zh-CN" altLang="en-US" sz="1400" b="0" i="0" dirty="0">
              <a:solidFill>
                <a:srgbClr val="000000"/>
              </a:solidFill>
              <a:effectLst/>
              <a:latin typeface="PingFang SC" panose="02000000000000000000" pitchFamily="2" charset="-120"/>
              <a:ea typeface="PingFang SC" panose="02000000000000000000" pitchFamily="2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从哲学上说，就是共性与个性之间的关系，比如：白马和马！所以，我们在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OOP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代码中，也一样要体现出类与类之间的共性与个性关系，这里就需要通过类的继承来体现。简单来说，如果一个类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A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使用了另一个类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B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的成员（属性和方法），我们就可以说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A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类继承了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B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类，同时这也体现了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OOP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中代码重用的特性！</a:t>
            </a:r>
            <a:endParaRPr lang="en-US" altLang="zh-CN" sz="1400" dirty="0">
              <a:ea typeface="汉仪中黑S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05418002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⑥继承的基本语法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E20D12-C988-D48D-6137-7B8A19282FB5}"/>
              </a:ext>
            </a:extLst>
          </p:cNvPr>
          <p:cNvSpPr txBox="1"/>
          <p:nvPr/>
        </p:nvSpPr>
        <p:spPr>
          <a:xfrm>
            <a:off x="1270635" y="2454701"/>
            <a:ext cx="9715500" cy="29711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class B(object):</a:t>
            </a:r>
          </a:p>
          <a:p>
            <a:pPr>
              <a:lnSpc>
                <a:spcPct val="150000"/>
              </a:lnSpc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    pass</a:t>
            </a:r>
          </a:p>
          <a:p>
            <a:pPr>
              <a:lnSpc>
                <a:spcPct val="150000"/>
              </a:lnSpc>
            </a:pPr>
            <a:endParaRPr lang="en-US" altLang="zh-CN" sz="1400" b="0" i="0" dirty="0">
              <a:solidFill>
                <a:srgbClr val="000000"/>
              </a:solidFill>
              <a:effectLst/>
              <a:latin typeface="PingFang SC" panose="02000000000000000000" pitchFamily="2" charset="-120"/>
              <a:ea typeface="PingFang SC" panose="02000000000000000000" pitchFamily="2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class A(</a:t>
            </a:r>
            <a:r>
              <a:rPr lang="en-US" altLang="zh-CN" sz="1400" b="0" i="0" dirty="0">
                <a:solidFill>
                  <a:srgbClr val="FF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B</a:t>
            </a: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):</a:t>
            </a:r>
          </a:p>
          <a:p>
            <a:pPr>
              <a:lnSpc>
                <a:spcPct val="150000"/>
              </a:lnSpc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    pass</a:t>
            </a:r>
          </a:p>
          <a:p>
            <a:pPr>
              <a:lnSpc>
                <a:spcPct val="150000"/>
              </a:lnSpc>
            </a:pPr>
            <a:endParaRPr lang="en-US" altLang="zh-CN" sz="1400" b="0" i="0" dirty="0">
              <a:solidFill>
                <a:srgbClr val="000000"/>
              </a:solidFill>
              <a:effectLst/>
              <a:latin typeface="PingFang SC" panose="02000000000000000000" pitchFamily="2" charset="-120"/>
              <a:ea typeface="PingFang SC" panose="02000000000000000000" pitchFamily="2" charset="-120"/>
            </a:endParaRPr>
          </a:p>
          <a:p>
            <a:pPr>
              <a:lnSpc>
                <a:spcPct val="150000"/>
              </a:lnSpc>
            </a:pPr>
            <a:r>
              <a:rPr lang="en-US" altLang="zh-CN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a = A()</a:t>
            </a:r>
          </a:p>
          <a:p>
            <a:pPr>
              <a:lnSpc>
                <a:spcPct val="150000"/>
              </a:lnSpc>
            </a:pP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a.B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中的所有公共属性</a:t>
            </a:r>
          </a:p>
          <a:p>
            <a:pPr>
              <a:lnSpc>
                <a:spcPct val="150000"/>
              </a:lnSpc>
            </a:pPr>
            <a:r>
              <a:rPr lang="en-US" altLang="zh-CN" sz="1400" b="0" i="0" dirty="0" err="1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a.B</a:t>
            </a: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中的所有公共方法</a:t>
            </a:r>
            <a:endParaRPr lang="en-US" altLang="zh-CN" sz="1400" dirty="0">
              <a:ea typeface="汉仪中黑S" panose="00020600040101010101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2245563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⑦重写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D4E20D12-C988-D48D-6137-7B8A19282FB5}"/>
              </a:ext>
            </a:extLst>
          </p:cNvPr>
          <p:cNvSpPr txBox="1"/>
          <p:nvPr/>
        </p:nvSpPr>
        <p:spPr>
          <a:xfrm>
            <a:off x="1270635" y="2825787"/>
            <a:ext cx="3876400" cy="26480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扩展特性：继承让子类继承父类的所有公共属性和方法，但是如果仅仅是为了继承公共属性和方法，继承就没有实际的意义了，应该是在继承以后，子类应该有一些自己的属性和方法。</a:t>
            </a:r>
          </a:p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什么是重写？</a:t>
            </a:r>
          </a:p>
          <a:p>
            <a:pPr>
              <a:lnSpc>
                <a:spcPct val="150000"/>
              </a:lnSpc>
            </a:pPr>
            <a:r>
              <a:rPr lang="zh-CN" altLang="en-US" sz="1400" b="0" i="0" dirty="0">
                <a:solidFill>
                  <a:srgbClr val="000000"/>
                </a:solidFill>
                <a:effectLst/>
                <a:latin typeface="PingFang SC" panose="02000000000000000000" pitchFamily="2" charset="-120"/>
                <a:ea typeface="PingFang SC" panose="02000000000000000000" pitchFamily="2" charset="-120"/>
              </a:rPr>
              <a:t>重写也叫作覆盖，就是当子类成员与父类成员名字相同的时候，从父类继承下来的成员会重新定义！</a:t>
            </a:r>
            <a:endParaRPr lang="en-US" altLang="zh-CN" sz="1400" dirty="0">
              <a:ea typeface="汉仪中黑S" panose="00020600040101010101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90359F41-D014-1CF3-4D17-CA8C44C17915}"/>
              </a:ext>
            </a:extLst>
          </p:cNvPr>
          <p:cNvSpPr txBox="1"/>
          <p:nvPr/>
        </p:nvSpPr>
        <p:spPr>
          <a:xfrm>
            <a:off x="5343218" y="2419734"/>
            <a:ext cx="3078264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class Animal(object):</a:t>
            </a:r>
          </a:p>
          <a:p>
            <a:r>
              <a:rPr lang="zh-CN" altLang="en-US" dirty="0"/>
              <a:t>    def eat(self):</a:t>
            </a:r>
          </a:p>
          <a:p>
            <a:r>
              <a:rPr lang="zh-CN" altLang="en-US" dirty="0"/>
              <a:t>        print('i can eat')</a:t>
            </a:r>
          </a:p>
          <a:p>
            <a:r>
              <a:rPr lang="zh-CN" altLang="en-US" dirty="0"/>
              <a:t>    </a:t>
            </a:r>
          </a:p>
          <a:p>
            <a:r>
              <a:rPr lang="zh-CN" altLang="en-US" dirty="0"/>
              <a:t>    def </a:t>
            </a:r>
            <a:r>
              <a:rPr lang="en-US" altLang="zh-CN" dirty="0"/>
              <a:t>sound</a:t>
            </a:r>
            <a:r>
              <a:rPr lang="zh-CN" altLang="en-US" dirty="0"/>
              <a:t>(self):</a:t>
            </a:r>
          </a:p>
          <a:p>
            <a:r>
              <a:rPr lang="zh-CN" altLang="en-US" dirty="0"/>
              <a:t>        print('i can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a sound!</a:t>
            </a:r>
            <a:r>
              <a:rPr lang="zh-CN" altLang="en-US" dirty="0"/>
              <a:t>')</a:t>
            </a:r>
          </a:p>
          <a:p>
            <a:r>
              <a:rPr lang="zh-CN" altLang="en-US" dirty="0"/>
              <a:t>        </a:t>
            </a:r>
          </a:p>
          <a:p>
            <a:r>
              <a:rPr lang="zh-CN" altLang="en-US" dirty="0"/>
              <a:t>class Dog(Animal):</a:t>
            </a:r>
          </a:p>
          <a:p>
            <a:r>
              <a:rPr lang="zh-CN" altLang="en-US" dirty="0"/>
              <a:t>    pass</a:t>
            </a:r>
          </a:p>
          <a:p>
            <a:endParaRPr lang="zh-CN" altLang="en-US" dirty="0"/>
          </a:p>
          <a:p>
            <a:r>
              <a:rPr lang="zh-CN" altLang="en-US" dirty="0"/>
              <a:t>class Cat(Animal):</a:t>
            </a:r>
          </a:p>
          <a:p>
            <a:r>
              <a:rPr lang="zh-CN" altLang="en-US" dirty="0"/>
              <a:t>    pass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D29C945-42A7-1E92-24B3-9478BF2A87EF}"/>
              </a:ext>
            </a:extLst>
          </p:cNvPr>
          <p:cNvSpPr txBox="1"/>
          <p:nvPr/>
        </p:nvSpPr>
        <p:spPr>
          <a:xfrm>
            <a:off x="8834482" y="3134140"/>
            <a:ext cx="249988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dog</a:t>
            </a:r>
            <a:r>
              <a:rPr lang="zh-CN" altLang="en-US" dirty="0"/>
              <a:t> = Dog()</a:t>
            </a:r>
          </a:p>
          <a:p>
            <a:r>
              <a:rPr lang="en-US" altLang="zh-CN" dirty="0"/>
              <a:t>dog</a:t>
            </a:r>
            <a:r>
              <a:rPr lang="zh-CN" altLang="en-US" dirty="0"/>
              <a:t>.eat()</a:t>
            </a:r>
          </a:p>
          <a:p>
            <a:r>
              <a:rPr lang="en-US" altLang="zh-CN" dirty="0"/>
              <a:t>dog</a:t>
            </a:r>
            <a:r>
              <a:rPr lang="zh-CN" altLang="en-US" dirty="0"/>
              <a:t>.</a:t>
            </a:r>
            <a:r>
              <a:rPr lang="en-US" altLang="zh-CN" dirty="0"/>
              <a:t>sound</a:t>
            </a:r>
            <a:r>
              <a:rPr lang="zh-CN" altLang="en-US" dirty="0"/>
              <a:t>()</a:t>
            </a:r>
          </a:p>
          <a:p>
            <a:endParaRPr lang="zh-CN" altLang="en-US" dirty="0"/>
          </a:p>
          <a:p>
            <a:r>
              <a:rPr lang="en-US" altLang="zh-CN" dirty="0"/>
              <a:t>cat</a:t>
            </a:r>
            <a:r>
              <a:rPr lang="zh-CN" altLang="en-US" dirty="0"/>
              <a:t> = Cat()</a:t>
            </a:r>
          </a:p>
          <a:p>
            <a:r>
              <a:rPr lang="en-US" altLang="zh-CN" dirty="0"/>
              <a:t>cat</a:t>
            </a:r>
            <a:r>
              <a:rPr lang="zh-CN" altLang="en-US" dirty="0"/>
              <a:t>.eat()</a:t>
            </a:r>
          </a:p>
          <a:p>
            <a:r>
              <a:rPr lang="en-US" altLang="zh-CN" dirty="0"/>
              <a:t>cat</a:t>
            </a:r>
            <a:r>
              <a:rPr lang="zh-CN" altLang="en-US" dirty="0"/>
              <a:t>.</a:t>
            </a:r>
            <a:r>
              <a:rPr lang="en-US" altLang="zh-CN" dirty="0"/>
              <a:t>sound</a:t>
            </a:r>
            <a:r>
              <a:rPr lang="zh-CN" altLang="en-US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74541432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21360" y="1487805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⑦重写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7CE240-7CD8-CAD5-3000-B571C79E32A1}"/>
              </a:ext>
            </a:extLst>
          </p:cNvPr>
          <p:cNvSpPr txBox="1"/>
          <p:nvPr/>
        </p:nvSpPr>
        <p:spPr>
          <a:xfrm>
            <a:off x="1805971" y="2284095"/>
            <a:ext cx="3789576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class Animal(object):</a:t>
            </a:r>
          </a:p>
          <a:p>
            <a:r>
              <a:rPr lang="zh-CN" altLang="en-US" dirty="0"/>
              <a:t>    def eat(self):</a:t>
            </a:r>
          </a:p>
          <a:p>
            <a:r>
              <a:rPr lang="zh-CN" altLang="en-US" dirty="0"/>
              <a:t>        print('i can eat')</a:t>
            </a:r>
          </a:p>
          <a:p>
            <a:r>
              <a:rPr lang="zh-CN" altLang="en-US" dirty="0"/>
              <a:t>    </a:t>
            </a:r>
          </a:p>
          <a:p>
            <a:r>
              <a:rPr lang="zh-CN" altLang="en-US" dirty="0"/>
              <a:t>    def </a:t>
            </a:r>
            <a:r>
              <a:rPr lang="en-US" altLang="zh-CN" dirty="0"/>
              <a:t>sound</a:t>
            </a:r>
            <a:r>
              <a:rPr lang="zh-CN" altLang="en-US" dirty="0"/>
              <a:t>(self):</a:t>
            </a:r>
          </a:p>
          <a:p>
            <a:r>
              <a:rPr lang="zh-CN" altLang="en-US" dirty="0"/>
              <a:t>        print('i can </a:t>
            </a:r>
            <a:r>
              <a:rPr lang="en-US" altLang="zh-CN" dirty="0"/>
              <a:t>make</a:t>
            </a:r>
            <a:r>
              <a:rPr lang="zh-CN" altLang="en-US" dirty="0"/>
              <a:t> </a:t>
            </a:r>
            <a:r>
              <a:rPr lang="en-US" altLang="zh-CN" dirty="0"/>
              <a:t>a sound!</a:t>
            </a:r>
            <a:r>
              <a:rPr lang="zh-CN" altLang="en-US" dirty="0"/>
              <a:t>')</a:t>
            </a:r>
          </a:p>
          <a:p>
            <a:r>
              <a:rPr lang="zh-CN" altLang="en-US" dirty="0"/>
              <a:t>        </a:t>
            </a:r>
          </a:p>
          <a:p>
            <a:r>
              <a:rPr lang="zh-CN" altLang="en-US" dirty="0"/>
              <a:t>class Dog(Animal):</a:t>
            </a:r>
          </a:p>
          <a:p>
            <a:r>
              <a:rPr lang="zh-CN" altLang="en-US" dirty="0"/>
              <a:t>    def </a:t>
            </a:r>
            <a:r>
              <a:rPr lang="en-US" altLang="zh-CN" dirty="0"/>
              <a:t>sound</a:t>
            </a:r>
            <a:r>
              <a:rPr lang="zh-CN" altLang="en-US" dirty="0"/>
              <a:t>(self):</a:t>
            </a:r>
          </a:p>
          <a:p>
            <a:r>
              <a:rPr lang="zh-CN" altLang="en-US" dirty="0"/>
              <a:t>        print('i can </a:t>
            </a:r>
            <a:r>
              <a:rPr lang="en-US" altLang="zh-CN" dirty="0"/>
              <a:t>wang </a:t>
            </a:r>
            <a:r>
              <a:rPr lang="en-US" altLang="zh-CN" dirty="0" err="1"/>
              <a:t>wang</a:t>
            </a:r>
            <a:r>
              <a:rPr lang="en-US" altLang="zh-CN" dirty="0"/>
              <a:t> </a:t>
            </a:r>
            <a:r>
              <a:rPr lang="en-US" altLang="zh-CN" dirty="0" err="1"/>
              <a:t>wang</a:t>
            </a:r>
            <a:r>
              <a:rPr lang="en-US" altLang="zh-CN" dirty="0"/>
              <a:t>!</a:t>
            </a:r>
            <a:r>
              <a:rPr lang="zh-CN" altLang="en-US" dirty="0"/>
              <a:t>')</a:t>
            </a:r>
          </a:p>
          <a:p>
            <a:endParaRPr lang="zh-CN" altLang="en-US" dirty="0"/>
          </a:p>
          <a:p>
            <a:r>
              <a:rPr lang="zh-CN" altLang="en-US" dirty="0"/>
              <a:t>class Cat(Animal):</a:t>
            </a:r>
          </a:p>
          <a:p>
            <a:r>
              <a:rPr lang="zh-CN" altLang="en-US" dirty="0"/>
              <a:t>    def </a:t>
            </a:r>
            <a:r>
              <a:rPr lang="en-US" altLang="zh-CN" dirty="0"/>
              <a:t>sound</a:t>
            </a:r>
            <a:r>
              <a:rPr lang="zh-CN" altLang="en-US" dirty="0"/>
              <a:t>(self):</a:t>
            </a:r>
          </a:p>
          <a:p>
            <a:r>
              <a:rPr lang="zh-CN" altLang="en-US" dirty="0"/>
              <a:t>        print('i can </a:t>
            </a:r>
            <a:r>
              <a:rPr lang="en-US" altLang="zh-CN" dirty="0" err="1"/>
              <a:t>miao</a:t>
            </a:r>
            <a:r>
              <a:rPr lang="en-US" altLang="zh-CN" dirty="0"/>
              <a:t> </a:t>
            </a:r>
            <a:r>
              <a:rPr lang="en-US" altLang="zh-CN" dirty="0" err="1"/>
              <a:t>miao</a:t>
            </a:r>
            <a:r>
              <a:rPr lang="en-US" altLang="zh-CN" dirty="0"/>
              <a:t> </a:t>
            </a:r>
            <a:r>
              <a:rPr lang="en-US" altLang="zh-CN" dirty="0" err="1"/>
              <a:t>miao</a:t>
            </a:r>
            <a:r>
              <a:rPr lang="en-US" altLang="zh-CN" dirty="0"/>
              <a:t>!</a:t>
            </a:r>
            <a:r>
              <a:rPr lang="zh-CN" altLang="en-US" dirty="0"/>
              <a:t>')</a:t>
            </a:r>
          </a:p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C302377-ADFC-A464-BAB3-F5F4A6D41C0A}"/>
              </a:ext>
            </a:extLst>
          </p:cNvPr>
          <p:cNvSpPr txBox="1"/>
          <p:nvPr/>
        </p:nvSpPr>
        <p:spPr>
          <a:xfrm>
            <a:off x="7627648" y="3159472"/>
            <a:ext cx="2499883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dog</a:t>
            </a:r>
            <a:r>
              <a:rPr lang="zh-CN" altLang="en-US" dirty="0"/>
              <a:t> = Dog()</a:t>
            </a:r>
          </a:p>
          <a:p>
            <a:r>
              <a:rPr lang="en-US" altLang="zh-CN" dirty="0"/>
              <a:t>dog</a:t>
            </a:r>
            <a:r>
              <a:rPr lang="zh-CN" altLang="en-US" dirty="0"/>
              <a:t>.eat()</a:t>
            </a:r>
          </a:p>
          <a:p>
            <a:r>
              <a:rPr lang="en-US" altLang="zh-CN" dirty="0"/>
              <a:t>dog</a:t>
            </a:r>
            <a:r>
              <a:rPr lang="zh-CN" altLang="en-US" dirty="0"/>
              <a:t>.</a:t>
            </a:r>
            <a:r>
              <a:rPr lang="en-US" altLang="zh-CN" dirty="0"/>
              <a:t>sound</a:t>
            </a:r>
            <a:r>
              <a:rPr lang="zh-CN" altLang="en-US" dirty="0"/>
              <a:t>()</a:t>
            </a:r>
          </a:p>
          <a:p>
            <a:endParaRPr lang="zh-CN" altLang="en-US" dirty="0"/>
          </a:p>
          <a:p>
            <a:r>
              <a:rPr lang="en-US" altLang="zh-CN" dirty="0"/>
              <a:t>cat</a:t>
            </a:r>
            <a:r>
              <a:rPr lang="zh-CN" altLang="en-US" dirty="0"/>
              <a:t> = Cat()</a:t>
            </a:r>
          </a:p>
          <a:p>
            <a:r>
              <a:rPr lang="en-US" altLang="zh-CN" dirty="0"/>
              <a:t>cat</a:t>
            </a:r>
            <a:r>
              <a:rPr lang="zh-CN" altLang="en-US" dirty="0"/>
              <a:t>.eat()</a:t>
            </a:r>
          </a:p>
          <a:p>
            <a:r>
              <a:rPr lang="en-US" altLang="zh-CN" dirty="0"/>
              <a:t>cat</a:t>
            </a:r>
            <a:r>
              <a:rPr lang="zh-CN" altLang="en-US" dirty="0"/>
              <a:t>.</a:t>
            </a:r>
            <a:r>
              <a:rPr lang="en-US" altLang="zh-CN" dirty="0"/>
              <a:t>sound</a:t>
            </a:r>
            <a:r>
              <a:rPr lang="zh-CN" altLang="en-US" dirty="0"/>
              <a:t>()</a:t>
            </a:r>
          </a:p>
        </p:txBody>
      </p:sp>
      <p:sp>
        <p:nvSpPr>
          <p:cNvPr id="9" name="箭头: 右 8">
            <a:extLst>
              <a:ext uri="{FF2B5EF4-FFF2-40B4-BE49-F238E27FC236}">
                <a16:creationId xmlns:a16="http://schemas.microsoft.com/office/drawing/2014/main" id="{F2422A8F-0B4B-1D54-A697-B297C67D037F}"/>
              </a:ext>
            </a:extLst>
          </p:cNvPr>
          <p:cNvSpPr/>
          <p:nvPr/>
        </p:nvSpPr>
        <p:spPr>
          <a:xfrm>
            <a:off x="6048362" y="3835769"/>
            <a:ext cx="673656" cy="678729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4154626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剪去单角的矩形 34"/>
          <p:cNvSpPr>
            <a:spLocks noChangeAspect="1"/>
          </p:cNvSpPr>
          <p:nvPr>
            <p:custDataLst>
              <p:tags r:id="rId1"/>
            </p:custDataLst>
          </p:nvPr>
        </p:nvSpPr>
        <p:spPr>
          <a:xfrm>
            <a:off x="749640" y="1488558"/>
            <a:ext cx="10882630" cy="4946650"/>
          </a:xfrm>
          <a:prstGeom prst="snip1Rect">
            <a:avLst/>
          </a:prstGeom>
          <a:solidFill>
            <a:schemeClr val="bg1"/>
          </a:solidFill>
          <a:ln w="34925">
            <a:solidFill>
              <a:srgbClr val="7B9FC1"/>
            </a:solidFill>
            <a:prstDash val="sysDot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正文级别 1…"/>
          <p:cNvSpPr txBox="1"/>
          <p:nvPr/>
        </p:nvSpPr>
        <p:spPr>
          <a:xfrm>
            <a:off x="881215" y="1116417"/>
            <a:ext cx="4711511" cy="372141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sz="2000" dirty="0">
              <a:solidFill>
                <a:srgbClr val="C00000"/>
              </a:solidFill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</p:txBody>
      </p:sp>
      <p:sp>
        <p:nvSpPr>
          <p:cNvPr id="7" name="正文级别 1…"/>
          <p:cNvSpPr txBox="1"/>
          <p:nvPr>
            <p:custDataLst>
              <p:tags r:id="rId2"/>
            </p:custDataLst>
          </p:nvPr>
        </p:nvSpPr>
        <p:spPr>
          <a:xfrm>
            <a:off x="457835" y="1005205"/>
            <a:ext cx="10702290" cy="349250"/>
          </a:xfrm>
          <a:prstGeom prst="rect">
            <a:avLst/>
          </a:prstGeom>
          <a:ln w="12700">
            <a:miter lim="400000"/>
          </a:ln>
        </p:spPr>
        <p:txBody>
          <a:bodyPr vert="horz" lIns="45719" tIns="45720" rIns="45719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Python</a:t>
            </a:r>
            <a:r>
              <a:rPr lang="zh-CN" altLang="en-US" sz="1800" dirty="0">
                <a:solidFill>
                  <a:srgbClr val="C00000"/>
                </a:solidFill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  <a:sym typeface="+mn-ea"/>
              </a:rPr>
              <a:t>面向对象</a:t>
            </a:r>
          </a:p>
        </p:txBody>
      </p:sp>
      <p:sp>
        <p:nvSpPr>
          <p:cNvPr id="10" name="矩形 9"/>
          <p:cNvSpPr/>
          <p:nvPr>
            <p:custDataLst>
              <p:tags r:id="rId3"/>
            </p:custDataLst>
          </p:nvPr>
        </p:nvSpPr>
        <p:spPr>
          <a:xfrm>
            <a:off x="1270635" y="1589405"/>
            <a:ext cx="9715500" cy="596900"/>
          </a:xfrm>
          <a:prstGeom prst="rect">
            <a:avLst/>
          </a:prstGeom>
          <a:solidFill>
            <a:srgbClr val="94D2E0">
              <a:alpha val="5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汉仪粗简黑简" panose="00020600040101010101" charset="-122"/>
            </a:endParaRPr>
          </a:p>
        </p:txBody>
      </p:sp>
      <p:sp>
        <p:nvSpPr>
          <p:cNvPr id="11" name="内容占位符 4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1355725" y="1687195"/>
            <a:ext cx="9480550" cy="64643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ts val="3145"/>
              </a:lnSpc>
              <a:buNone/>
            </a:pP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⑧ </a:t>
            </a:r>
            <a:r>
              <a:rPr lang="en-US" altLang="zh-CN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super()</a:t>
            </a:r>
            <a:r>
              <a:rPr lang="zh-CN" altLang="en-US" sz="2000" b="1" dirty="0">
                <a:latin typeface="汉仪粗简黑简" panose="00020600040101010101" charset="-122"/>
                <a:cs typeface="汉仪粗简黑简" panose="00020600040101010101" charset="-122"/>
                <a:sym typeface="+mn-ea"/>
              </a:rPr>
              <a:t>调用父类属性和方法</a:t>
            </a:r>
            <a:endParaRPr lang="zh-CN" altLang="zh-CN" sz="2000" b="1" dirty="0">
              <a:latin typeface="汉仪粗简黑简" panose="00020600040101010101" charset="-122"/>
              <a:cs typeface="汉仪粗简黑简" panose="00020600040101010101" charset="-122"/>
              <a:sym typeface="+mn-ea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67CE240-7CD8-CAD5-3000-B571C79E32A1}"/>
              </a:ext>
            </a:extLst>
          </p:cNvPr>
          <p:cNvSpPr txBox="1"/>
          <p:nvPr/>
        </p:nvSpPr>
        <p:spPr>
          <a:xfrm>
            <a:off x="1270635" y="2284095"/>
            <a:ext cx="98894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dirty="0"/>
              <a:t>super()</a:t>
            </a:r>
            <a:r>
              <a:rPr lang="zh-CN" altLang="en-US" dirty="0"/>
              <a:t>：调用父类属性或方法，我们只需要使用</a:t>
            </a:r>
            <a:r>
              <a:rPr lang="en-US" altLang="zh-CN" dirty="0"/>
              <a:t>super().</a:t>
            </a:r>
            <a:r>
              <a:rPr lang="zh-CN" altLang="en-US" dirty="0"/>
              <a:t>属性或</a:t>
            </a:r>
            <a:r>
              <a:rPr lang="en-US" altLang="zh-CN" dirty="0"/>
              <a:t>super().</a:t>
            </a:r>
            <a:r>
              <a:rPr lang="zh-CN" altLang="en-US" dirty="0"/>
              <a:t>方法名</a:t>
            </a:r>
            <a:r>
              <a:rPr lang="en-US" altLang="zh-CN" dirty="0"/>
              <a:t>()</a:t>
            </a:r>
            <a:r>
              <a:rPr lang="zh-CN" altLang="en-US" dirty="0"/>
              <a:t>就可以完成调用了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1D801D6-8791-B347-99C2-8D83B1550CD2}"/>
              </a:ext>
            </a:extLst>
          </p:cNvPr>
          <p:cNvSpPr txBox="1"/>
          <p:nvPr/>
        </p:nvSpPr>
        <p:spPr>
          <a:xfrm>
            <a:off x="1270635" y="3132623"/>
            <a:ext cx="389525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class Car(object):</a:t>
            </a:r>
          </a:p>
          <a:p>
            <a:r>
              <a:rPr lang="zh-CN" altLang="en-US" dirty="0"/>
              <a:t>    def __init__(self, brand, model, color):</a:t>
            </a:r>
          </a:p>
          <a:p>
            <a:r>
              <a:rPr lang="zh-CN" altLang="en-US" dirty="0"/>
              <a:t>        self.brand = brand</a:t>
            </a:r>
          </a:p>
          <a:p>
            <a:r>
              <a:rPr lang="zh-CN" altLang="en-US" dirty="0"/>
              <a:t>        self.model = model</a:t>
            </a:r>
          </a:p>
          <a:p>
            <a:r>
              <a:rPr lang="zh-CN" altLang="en-US" dirty="0"/>
              <a:t>        self.color = color</a:t>
            </a:r>
          </a:p>
          <a:p>
            <a:endParaRPr lang="zh-CN" altLang="en-US" dirty="0"/>
          </a:p>
          <a:p>
            <a:r>
              <a:rPr lang="zh-CN" altLang="en-US" dirty="0"/>
              <a:t>    def run(self):</a:t>
            </a:r>
          </a:p>
          <a:p>
            <a:r>
              <a:rPr lang="zh-CN" altLang="en-US" dirty="0"/>
              <a:t>        print('i can run')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113F910-1521-D4E9-F7BD-E40AD36E2D92}"/>
              </a:ext>
            </a:extLst>
          </p:cNvPr>
          <p:cNvSpPr txBox="1"/>
          <p:nvPr/>
        </p:nvSpPr>
        <p:spPr>
          <a:xfrm>
            <a:off x="5138767" y="2653427"/>
            <a:ext cx="7053233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class GasolineCar(Car):</a:t>
            </a:r>
          </a:p>
          <a:p>
            <a:r>
              <a:rPr lang="zh-CN" altLang="en-US" dirty="0"/>
              <a:t>    def run(self):</a:t>
            </a:r>
          </a:p>
          <a:p>
            <a:r>
              <a:rPr lang="zh-CN" altLang="en-US" dirty="0"/>
              <a:t>        print('i can run with gasoline')</a:t>
            </a:r>
          </a:p>
          <a:p>
            <a:endParaRPr lang="zh-CN" altLang="en-US" dirty="0"/>
          </a:p>
          <a:p>
            <a:r>
              <a:rPr lang="zh-CN" altLang="en-US" dirty="0"/>
              <a:t>class ElectricCar(Car):</a:t>
            </a:r>
          </a:p>
          <a:p>
            <a:r>
              <a:rPr lang="zh-CN" altLang="en-US" dirty="0"/>
              <a:t>    def __init__(self, brand, model, color, battery):</a:t>
            </a:r>
          </a:p>
          <a:p>
            <a:r>
              <a:rPr lang="zh-CN" altLang="en-US" dirty="0"/>
              <a:t>        </a:t>
            </a:r>
            <a:r>
              <a:rPr lang="zh-CN" altLang="en-US" dirty="0">
                <a:solidFill>
                  <a:srgbClr val="FF0000"/>
                </a:solidFill>
              </a:rPr>
              <a:t>super().__init__(brand, model, color)</a:t>
            </a:r>
          </a:p>
          <a:p>
            <a:r>
              <a:rPr lang="zh-CN" altLang="en-US" dirty="0"/>
              <a:t>        # 电池属性</a:t>
            </a:r>
          </a:p>
          <a:p>
            <a:r>
              <a:rPr lang="zh-CN" altLang="en-US" dirty="0"/>
              <a:t>        self.battery = battery</a:t>
            </a:r>
          </a:p>
          <a:p>
            <a:endParaRPr lang="zh-CN" altLang="en-US" dirty="0"/>
          </a:p>
          <a:p>
            <a:r>
              <a:rPr lang="zh-CN" altLang="en-US" dirty="0"/>
              <a:t>    def run(self):</a:t>
            </a:r>
          </a:p>
          <a:p>
            <a:r>
              <a:rPr lang="zh-CN" altLang="en-US" dirty="0"/>
              <a:t>        print(f'i can run with electric，i have a {self.battery} + "</a:t>
            </a:r>
            <a:r>
              <a:rPr lang="en-US" altLang="zh-CN" b="0" i="0" dirty="0">
                <a:solidFill>
                  <a:srgbClr val="24292F"/>
                </a:solidFill>
                <a:effectLst/>
                <a:latin typeface="-apple-system"/>
              </a:rPr>
              <a:t> kWh</a:t>
            </a:r>
            <a:r>
              <a:rPr lang="zh-CN" altLang="en-US" dirty="0"/>
              <a:t> battery"')</a:t>
            </a:r>
          </a:p>
        </p:txBody>
      </p:sp>
    </p:spTree>
    <p:extLst>
      <p:ext uri="{BB962C8B-B14F-4D97-AF65-F5344CB8AC3E}">
        <p14:creationId xmlns:p14="http://schemas.microsoft.com/office/powerpoint/2010/main" val="257683538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文本框 21"/>
          <p:cNvSpPr txBox="1"/>
          <p:nvPr/>
        </p:nvSpPr>
        <p:spPr>
          <a:xfrm>
            <a:off x="5639021" y="2029145"/>
            <a:ext cx="5905147" cy="29980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Python</a:t>
            </a:r>
            <a:r>
              <a:rPr lang="zh-CN" altLang="en-US" sz="2000" b="1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基础？</a:t>
            </a: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1</a:t>
            </a:r>
            <a:r>
              <a:rPr lang="zh-CN" alt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、</a:t>
            </a:r>
            <a:r>
              <a:rPr 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Python</a:t>
            </a:r>
            <a:r>
              <a:rPr lang="zh-CN" alt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基础语法</a:t>
            </a:r>
            <a:endParaRPr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2</a:t>
            </a:r>
            <a:r>
              <a:rPr lang="zh-CN" alt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、</a:t>
            </a:r>
            <a:r>
              <a:rPr 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Python</a:t>
            </a:r>
            <a:r>
              <a:rPr lang="zh-CN" alt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数据类型</a:t>
            </a:r>
            <a:endParaRPr lang="en-US" altLang="zh-CN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3</a:t>
            </a:r>
            <a:r>
              <a:rPr lang="zh-CN" alt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、</a:t>
            </a:r>
            <a:r>
              <a:rPr lang="en-US" altLang="zh-CN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Python</a:t>
            </a:r>
            <a:r>
              <a:rPr lang="zh-CN" alt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选择结构</a:t>
            </a:r>
            <a:endParaRPr lang="en-US" altLang="zh-CN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4</a:t>
            </a:r>
            <a:r>
              <a:rPr lang="zh-CN" alt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、</a:t>
            </a:r>
            <a:r>
              <a:rPr lang="en-US" altLang="zh-CN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Python</a:t>
            </a:r>
            <a:r>
              <a:rPr lang="zh-CN" alt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循环结构</a:t>
            </a:r>
            <a:endParaRPr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5</a:t>
            </a:r>
            <a:r>
              <a:rPr lang="zh-CN" alt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、</a:t>
            </a:r>
            <a:r>
              <a:rPr lang="en-US" altLang="zh-CN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Python</a:t>
            </a:r>
            <a:r>
              <a:rPr lang="zh-CN" alt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函数</a:t>
            </a:r>
            <a:endParaRPr lang="en-US" altLang="zh-CN" dirty="0">
              <a:latin typeface="阿里巴巴普惠体 2.0 45 Light" panose="00020600040101010101" pitchFamily="18" charset="-122"/>
              <a:ea typeface="阿里巴巴普惠体 2.0 45 Light" panose="00020600040101010101" pitchFamily="18" charset="-122"/>
              <a:cs typeface="阿里巴巴普惠体 2.0 45 Light" panose="00020600040101010101" pitchFamily="18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6</a:t>
            </a:r>
            <a:r>
              <a:rPr lang="zh-CN" alt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、</a:t>
            </a:r>
            <a:r>
              <a:rPr lang="en-US" altLang="zh-CN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Python</a:t>
            </a:r>
            <a:r>
              <a:rPr lang="zh-CN" altLang="en-US" dirty="0">
                <a:latin typeface="阿里巴巴普惠体 2.0 45 Light" panose="00020600040101010101" pitchFamily="18" charset="-122"/>
                <a:ea typeface="阿里巴巴普惠体 2.0 45 Light" panose="00020600040101010101" pitchFamily="18" charset="-122"/>
                <a:cs typeface="阿里巴巴普惠体 2.0 45 Light" panose="00020600040101010101" pitchFamily="18" charset="-122"/>
              </a:rPr>
              <a:t>面向对象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a42e6a9-4026-4ecb-81ee-5bbd75ddd06d"/>
  <p:tag name="RESOURCE_RECORD_KEY" val="{&quot;70&quot;:[3316232,3316136,3312233]}"/>
  <p:tag name="COMMONDATA" val="eyJoZGlkIjoiY2JmMDE5MTQzZGQ1Mzc0ZDdhNDNkNWNjY2UwNzk4OTU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1044,&quot;width&quot;:6135}"/>
  <p:tag name="KSO_WM_BEAUTIFY_FLAG" val="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0926_2*l_h_i*1_3_1"/>
  <p:tag name="KSO_WM_TEMPLATE_CATEGORY" val="diagram"/>
  <p:tag name="KSO_WM_TEMPLATE_INDEX" val="20230926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7,&quot;pos&quot;:0.10000000149011612,&quot;transparency&quot;:1},{&quot;brightness&quot;:0.6000000238418579,&quot;colorType&quot;:1,&quot;foreColorIndex&quot;:7,&quot;pos&quot;:0.740000009536743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0926_2*l_h_i*1_1_1"/>
  <p:tag name="KSO_WM_TEMPLATE_CATEGORY" val="diagram"/>
  <p:tag name="KSO_WM_TEMPLATE_INDEX" val="20230926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10000000149011612,&quot;transparency&quot;:1},{&quot;brightness&quot;:0.6000000238418579,&quot;colorType&quot;:1,&quot;foreColorIndex&quot;:5,&quot;pos&quot;:0.740000009536743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0926_2*l_h_i*1_2_1"/>
  <p:tag name="KSO_WM_TEMPLATE_CATEGORY" val="diagram"/>
  <p:tag name="KSO_WM_TEMPLATE_INDEX" val="20230926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0.10000000149011612,&quot;transparency&quot;:1},{&quot;brightness&quot;:0.6000000238418579,&quot;colorType&quot;:1,&quot;foreColorIndex&quot;:6,&quot;pos&quot;:0.740000009536743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6_2*l_h_i*1_1_3"/>
  <p:tag name="KSO_WM_TEMPLATE_CATEGORY" val="diagram"/>
  <p:tag name="KSO_WM_TEMPLATE_INDEX" val="20230926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4"/>
  <p:tag name="KSO_WM_DIAGRAM_COLOR_TEXT_CAN_REMOVE" val="n"/>
  <p:tag name="KSO_WM_UNIT_LINE_FORE_SCHEMECOLOR_INDEX" val="5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6_2*l_h_i*1_1_4"/>
  <p:tag name="KSO_WM_TEMPLATE_CATEGORY" val="diagram"/>
  <p:tag name="KSO_WM_TEMPLATE_INDEX" val="20230926"/>
  <p:tag name="KSO_WM_UNIT_LAYERLEVEL" val="1_1_1"/>
  <p:tag name="KSO_WM_TAG_VERSION" val="3.0"/>
  <p:tag name="KSO_WM_DIAGRAM_GROUP_CODE" val="l1-1"/>
  <p:tag name="KSO_WM_UNIT_TYPE" val="l_h_i"/>
  <p:tag name="KSO_WM_UNIT_INDEX" val="1_1_4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.4000000059604645,&quot;colorType&quot;:1,&quot;foreColorIndex&quot;:5,&quot;transparency&quot;:0.6000000238418579},&quot;threeD&quot;:{&quot;curvedSurface&quot;:{&quot;brightness&quot;:0,&quot;colorType&quot;:2,&quot;rgb&quot;:&quot;#000000&quot;},&quot;depth&quot;:{&quot;brightness&quot;:0,&quot;colorType&quot;:1,&quot;foreColorIndex&quot;:5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diagram20230926_2*l_h_i*1_1_2"/>
  <p:tag name="KSO_WM_TEMPLATE_CATEGORY" val="diagram"/>
  <p:tag name="KSO_WM_TEMPLATE_INDEX" val="2023092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UNIT_PRESET_TEXT" val="01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0926_2*l_h_f*1_1_1"/>
  <p:tag name="KSO_WM_TEMPLATE_CATEGORY" val="diagram"/>
  <p:tag name="KSO_WM_TEMPLATE_INDEX" val="2023092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UNIT_PRESET_TEXT" val="单击此处输入你的项正文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6_2*l_h_i*1_2_3"/>
  <p:tag name="KSO_WM_TEMPLATE_CATEGORY" val="diagram"/>
  <p:tag name="KSO_WM_TEMPLATE_INDEX" val="20230926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4"/>
  <p:tag name="KSO_WM_DIAGRAM_COLOR_TEXT_CAN_REMOVE" val="n"/>
  <p:tag name="KSO_WM_UNIT_LINE_FORE_SCHEMECOLOR_INDEX" val="6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6_2*l_h_i*1_2_4"/>
  <p:tag name="KSO_WM_TEMPLATE_CATEGORY" val="diagram"/>
  <p:tag name="KSO_WM_TEMPLATE_INDEX" val="20230926"/>
  <p:tag name="KSO_WM_UNIT_LAYERLEVEL" val="1_1_1"/>
  <p:tag name="KSO_WM_TAG_VERSION" val="3.0"/>
  <p:tag name="KSO_WM_DIAGRAM_GROUP_CODE" val="l1-1"/>
  <p:tag name="KSO_WM_UNIT_TYPE" val="l_h_i"/>
  <p:tag name="KSO_WM_UNIT_INDEX" val="1_2_4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gradient&quot;:[{&quot;brightness&quot;:0.6000000238418579,&quot;colorType&quot;:1,&quot;foreColorIndex&quot;:6,&quot;pos&quot;:0,&quot;transparency&quot;:0},{&quot;brightness&quot;:0,&quot;colorType&quot;:1,&quot;foreColorIndex&quot;:6,&quot;pos&quot;:0.699999988079071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.4000000059604645,&quot;colorType&quot;:1,&quot;foreColorIndex&quot;:6,&quot;transparency&quot;:0.6000000238418579},&quot;threeD&quot;:{&quot;curvedSurface&quot;:{&quot;brightness&quot;:0,&quot;colorType&quot;:2,&quot;rgb&quot;:&quot;#000000&quot;},&quot;depth&quot;:{&quot;brightness&quot;:0,&quot;colorType&quot;:1,&quot;foreColorIndex&quot;:6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30926_2*l_h_i*1_2_2"/>
  <p:tag name="KSO_WM_TEMPLATE_CATEGORY" val="diagram"/>
  <p:tag name="KSO_WM_TEMPLATE_INDEX" val="2023092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UNIT_PRESET_TEXT" val="02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0926_2*l_h_f*1_2_1"/>
  <p:tag name="KSO_WM_TEMPLATE_CATEGORY" val="diagram"/>
  <p:tag name="KSO_WM_TEMPLATE_INDEX" val="2023092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UNIT_PRESET_TEXT" val="单击此处输入你的项正文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6_2*l_h_i*1_3_3"/>
  <p:tag name="KSO_WM_TEMPLATE_CATEGORY" val="diagram"/>
  <p:tag name="KSO_WM_TEMPLATE_INDEX" val="20230926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4"/>
  <p:tag name="KSO_WM_DIAGRAM_COLOR_TEXT_CAN_REMOVE" val="n"/>
  <p:tag name="KSO_WM_UNIT_LINE_FORE_SCHEMECOLOR_INDEX" val="7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6_2*l_h_i*1_3_4"/>
  <p:tag name="KSO_WM_TEMPLATE_CATEGORY" val="diagram"/>
  <p:tag name="KSO_WM_TEMPLATE_INDEX" val="20230926"/>
  <p:tag name="KSO_WM_UNIT_LAYERLEVEL" val="1_1_1"/>
  <p:tag name="KSO_WM_TAG_VERSION" val="3.0"/>
  <p:tag name="KSO_WM_DIAGRAM_GROUP_CODE" val="l1-1"/>
  <p:tag name="KSO_WM_UNIT_TYPE" val="l_h_i"/>
  <p:tag name="KSO_WM_UNIT_INDEX" val="1_3_4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gradient&quot;:[{&quot;brightness&quot;:0.6000000238418579,&quot;colorType&quot;:1,&quot;foreColorIndex&quot;:7,&quot;pos&quot;:0,&quot;transparency&quot;:0},{&quot;brightness&quot;:0,&quot;colorType&quot;:1,&quot;foreColorIndex&quot;:7,&quot;pos&quot;:0.699999988079071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.4000000059604645,&quot;colorType&quot;:1,&quot;foreColorIndex&quot;:7,&quot;transparency&quot;:0.6000000238418579},&quot;threeD&quot;:{&quot;curvedSurface&quot;:{&quot;brightness&quot;:0,&quot;colorType&quot;:2,&quot;rgb&quot;:&quot;#000000&quot;},&quot;depth&quot;:{&quot;brightness&quot;:0,&quot;colorType&quot;:1,&quot;foreColorIndex&quot;:7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30926_2*l_h_i*1_3_2"/>
  <p:tag name="KSO_WM_TEMPLATE_CATEGORY" val="diagram"/>
  <p:tag name="KSO_WM_TEMPLATE_INDEX" val="2023092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UNIT_PRESET_TEXT" val="03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0926_2*l_h_f*1_3_1"/>
  <p:tag name="KSO_WM_TEMPLATE_CATEGORY" val="diagram"/>
  <p:tag name="KSO_WM_TEMPLATE_INDEX" val="2023092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UNIT_PRESET_TEXT" val="单击此处输入你的项正文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230926_2*l_h_i*1_3_1"/>
  <p:tag name="KSO_WM_TEMPLATE_CATEGORY" val="diagram"/>
  <p:tag name="KSO_WM_TEMPLATE_INDEX" val="20230926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7,&quot;pos&quot;:0.10000000149011612,&quot;transparency&quot;:1},{&quot;brightness&quot;:0.6000000238418579,&quot;colorType&quot;:1,&quot;foreColorIndex&quot;:7,&quot;pos&quot;:0.740000009536743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0926_2*l_h_i*1_1_1"/>
  <p:tag name="KSO_WM_TEMPLATE_CATEGORY" val="diagram"/>
  <p:tag name="KSO_WM_TEMPLATE_INDEX" val="20230926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5,&quot;pos&quot;:0.10000000149011612,&quot;transparency&quot;:1},{&quot;brightness&quot;:0.6000000238418579,&quot;colorType&quot;:1,&quot;foreColorIndex&quot;:5,&quot;pos&quot;:0.740000009536743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DIAGRAM_VERSION" val="3"/>
  <p:tag name="KSO_WM_DIAGRAM_COLOR_TRICK" val="4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0926_2*l_h_i*1_2_1"/>
  <p:tag name="KSO_WM_TEMPLATE_CATEGORY" val="diagram"/>
  <p:tag name="KSO_WM_TEMPLATE_INDEX" val="20230926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gradient&quot;:[{&quot;brightness&quot;:0.800000011920929,&quot;colorType&quot;:1,&quot;foreColorIndex&quot;:6,&quot;pos&quot;:0.10000000149011612,&quot;transparency&quot;:1},{&quot;brightness&quot;:0.6000000238418579,&quot;colorType&quot;:1,&quot;foreColorIndex&quot;:6,&quot;pos&quot;:0.7400000095367432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6_2*l_h_i*1_1_3"/>
  <p:tag name="KSO_WM_TEMPLATE_CATEGORY" val="diagram"/>
  <p:tag name="KSO_WM_TEMPLATE_INDEX" val="20230926"/>
  <p:tag name="KSO_WM_UNIT_LAYERLEVEL" val="1_1_1"/>
  <p:tag name="KSO_WM_TAG_VERSION" val="3.0"/>
  <p:tag name="KSO_WM_DIAGRAM_GROUP_CODE" val="l1-1"/>
  <p:tag name="KSO_WM_UNIT_TYPE" val="l_h_i"/>
  <p:tag name="KSO_WM_UNIT_INDEX" val="1_1_3"/>
  <p:tag name="KSO_WM_DIAGRAM_VERSION" val="3"/>
  <p:tag name="KSO_WM_DIAGRAM_COLOR_TRICK" val="4"/>
  <p:tag name="KSO_WM_DIAGRAM_COLOR_TEXT_CAN_REMOVE" val="n"/>
  <p:tag name="KSO_WM_UNIT_LINE_FORE_SCHEMECOLOR_INDEX" val="5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6_2*l_h_i*1_1_4"/>
  <p:tag name="KSO_WM_TEMPLATE_CATEGORY" val="diagram"/>
  <p:tag name="KSO_WM_TEMPLATE_INDEX" val="20230926"/>
  <p:tag name="KSO_WM_UNIT_LAYERLEVEL" val="1_1_1"/>
  <p:tag name="KSO_WM_TAG_VERSION" val="3.0"/>
  <p:tag name="KSO_WM_DIAGRAM_GROUP_CODE" val="l1-1"/>
  <p:tag name="KSO_WM_UNIT_TYPE" val="l_h_i"/>
  <p:tag name="KSO_WM_UNIT_INDEX" val="1_1_4"/>
  <p:tag name="KSO_WM_DIAGRAM_VERSION" val="3"/>
  <p:tag name="KSO_WM_DIAGRAM_COLOR_TRICK" val="4"/>
  <p:tag name="KSO_WM_DIAGRAM_COLOR_TEXT_CAN_REMOVE" val="n"/>
  <p:tag name="KSO_WM_UNIT_FILL_FORE_SCHEMECOLOR_INDEX" val="5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gradient&quot;:[{&quot;brightness&quot;:0.6000000238418579,&quot;colorType&quot;:1,&quot;foreColorIndex&quot;:5,&quot;pos&quot;:0,&quot;transparency&quot;:0},{&quot;brightness&quot;:0,&quot;colorType&quot;:1,&quot;foreColorIndex&quot;:5,&quot;pos&quot;:0.699999988079071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.4000000059604645,&quot;colorType&quot;:1,&quot;foreColorIndex&quot;:5,&quot;transparency&quot;:0.6000000238418579},&quot;threeD&quot;:{&quot;curvedSurface&quot;:{&quot;brightness&quot;:0,&quot;colorType&quot;:2,&quot;rgb&quot;:&quot;#000000&quot;},&quot;depth&quot;:{&quot;brightness&quot;:0,&quot;colorType&quot;:1,&quot;foreColorIndex&quot;:5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2"/>
  <p:tag name="KSO_WM_UNIT_ID" val="diagram20230926_2*l_h_i*1_1_2"/>
  <p:tag name="KSO_WM_TEMPLATE_CATEGORY" val="diagram"/>
  <p:tag name="KSO_WM_TEMPLATE_INDEX" val="2023092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UNIT_PRESET_TEXT" val="01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0926_2*l_h_f*1_1_1"/>
  <p:tag name="KSO_WM_TEMPLATE_CATEGORY" val="diagram"/>
  <p:tag name="KSO_WM_TEMPLATE_INDEX" val="2023092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UNIT_PRESET_TEXT" val="单击此处输入你的项正文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6_2*l_h_i*1_2_3"/>
  <p:tag name="KSO_WM_TEMPLATE_CATEGORY" val="diagram"/>
  <p:tag name="KSO_WM_TEMPLATE_INDEX" val="20230926"/>
  <p:tag name="KSO_WM_UNIT_LAYERLEVEL" val="1_1_1"/>
  <p:tag name="KSO_WM_TAG_VERSION" val="3.0"/>
  <p:tag name="KSO_WM_DIAGRAM_GROUP_CODE" val="l1-1"/>
  <p:tag name="KSO_WM_UNIT_TYPE" val="l_h_i"/>
  <p:tag name="KSO_WM_UNIT_INDEX" val="1_2_3"/>
  <p:tag name="KSO_WM_DIAGRAM_VERSION" val="3"/>
  <p:tag name="KSO_WM_DIAGRAM_COLOR_TRICK" val="4"/>
  <p:tag name="KSO_WM_DIAGRAM_COLOR_TEXT_CAN_REMOVE" val="n"/>
  <p:tag name="KSO_WM_UNIT_LINE_FORE_SCHEMECOLOR_INDEX" val="6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6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6_2*l_h_i*1_2_4"/>
  <p:tag name="KSO_WM_TEMPLATE_CATEGORY" val="diagram"/>
  <p:tag name="KSO_WM_TEMPLATE_INDEX" val="20230926"/>
  <p:tag name="KSO_WM_UNIT_LAYERLEVEL" val="1_1_1"/>
  <p:tag name="KSO_WM_TAG_VERSION" val="3.0"/>
  <p:tag name="KSO_WM_DIAGRAM_GROUP_CODE" val="l1-1"/>
  <p:tag name="KSO_WM_UNIT_TYPE" val="l_h_i"/>
  <p:tag name="KSO_WM_UNIT_INDEX" val="1_2_4"/>
  <p:tag name="KSO_WM_DIAGRAM_VERSION" val="3"/>
  <p:tag name="KSO_WM_DIAGRAM_COLOR_TRICK" val="4"/>
  <p:tag name="KSO_WM_DIAGRAM_COLOR_TEXT_CAN_REMOVE" val="n"/>
  <p:tag name="KSO_WM_UNIT_FILL_FORE_SCHEMECOLOR_INDEX" val="6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gradient&quot;:[{&quot;brightness&quot;:0.6000000238418579,&quot;colorType&quot;:1,&quot;foreColorIndex&quot;:6,&quot;pos&quot;:0,&quot;transparency&quot;:0},{&quot;brightness&quot;:0,&quot;colorType&quot;:1,&quot;foreColorIndex&quot;:6,&quot;pos&quot;:0.699999988079071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.4000000059604645,&quot;colorType&quot;:1,&quot;foreColorIndex&quot;:6,&quot;transparency&quot;:0.6000000238418579},&quot;threeD&quot;:{&quot;curvedSurface&quot;:{&quot;brightness&quot;:0,&quot;colorType&quot;:2,&quot;rgb&quot;:&quot;#000000&quot;},&quot;depth&quot;:{&quot;brightness&quot;:0,&quot;colorType&quot;:1,&quot;foreColorIndex&quot;:6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2"/>
  <p:tag name="KSO_WM_UNIT_ID" val="diagram20230926_2*l_h_i*1_2_2"/>
  <p:tag name="KSO_WM_TEMPLATE_CATEGORY" val="diagram"/>
  <p:tag name="KSO_WM_TEMPLATE_INDEX" val="2023092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UNIT_PRESET_TEXT" val="02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0926_2*l_h_f*1_2_1"/>
  <p:tag name="KSO_WM_TEMPLATE_CATEGORY" val="diagram"/>
  <p:tag name="KSO_WM_TEMPLATE_INDEX" val="2023092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UNIT_PRESET_TEXT" val="单击此处输入你的项正文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6_2*l_h_i*1_3_3"/>
  <p:tag name="KSO_WM_TEMPLATE_CATEGORY" val="diagram"/>
  <p:tag name="KSO_WM_TEMPLATE_INDEX" val="20230926"/>
  <p:tag name="KSO_WM_UNIT_LAYERLEVEL" val="1_1_1"/>
  <p:tag name="KSO_WM_TAG_VERSION" val="3.0"/>
  <p:tag name="KSO_WM_DIAGRAM_GROUP_CODE" val="l1-1"/>
  <p:tag name="KSO_WM_UNIT_TYPE" val="l_h_i"/>
  <p:tag name="KSO_WM_UNIT_INDEX" val="1_3_3"/>
  <p:tag name="KSO_WM_DIAGRAM_VERSION" val="3"/>
  <p:tag name="KSO_WM_DIAGRAM_COLOR_TRICK" val="4"/>
  <p:tag name="KSO_WM_DIAGRAM_COLOR_TEXT_CAN_REMOVE" val="n"/>
  <p:tag name="KSO_WM_UNIT_LINE_FORE_SCHEMECOLOR_INDEX" val="7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solidLine&quot;:{&quot;brightness&quot;:0,&quot;colorType&quot;:1,&quot;foreColorIndex&quot;:7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diagram20230926_2*l_h_i*1_3_4"/>
  <p:tag name="KSO_WM_TEMPLATE_CATEGORY" val="diagram"/>
  <p:tag name="KSO_WM_TEMPLATE_INDEX" val="20230926"/>
  <p:tag name="KSO_WM_UNIT_LAYERLEVEL" val="1_1_1"/>
  <p:tag name="KSO_WM_TAG_VERSION" val="3.0"/>
  <p:tag name="KSO_WM_DIAGRAM_GROUP_CODE" val="l1-1"/>
  <p:tag name="KSO_WM_UNIT_TYPE" val="l_h_i"/>
  <p:tag name="KSO_WM_UNIT_INDEX" val="1_3_4"/>
  <p:tag name="KSO_WM_DIAGRAM_VERSION" val="3"/>
  <p:tag name="KSO_WM_DIAGRAM_COLOR_TRICK" val="4"/>
  <p:tag name="KSO_WM_DIAGRAM_COLOR_TEXT_CAN_REMOVE" val="n"/>
  <p:tag name="KSO_WM_UNIT_FILL_FORE_SCHEMECOLOR_INDEX" val="7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gradient&quot;:[{&quot;brightness&quot;:0.6000000238418579,&quot;colorType&quot;:1,&quot;foreColorIndex&quot;:7,&quot;pos&quot;:0,&quot;transparency&quot;:0},{&quot;brightness&quot;:0,&quot;colorType&quot;:1,&quot;foreColorIndex&quot;:7,&quot;pos&quot;:0.699999988079071,&quot;transparency&quot;:0}],&quot;type&quot;:3},&quot;glow&quot;:{&quot;colorType&quot;:0},&quot;line&quot;:{&quot;solidLine&quot;:{&quot;brightness&quot;:0,&quot;colorType&quot;:1,&quot;foreColorIndex&quot;:14,&quot;transparency&quot;:0},&quot;type&quot;:1},&quot;shadow&quot;:{&quot;brightness&quot;:0.4000000059604645,&quot;colorType&quot;:1,&quot;foreColorIndex&quot;:7,&quot;transparency&quot;:0.6000000238418579},&quot;threeD&quot;:{&quot;curvedSurface&quot;:{&quot;brightness&quot;:0,&quot;colorType&quot;:2,&quot;rgb&quot;:&quot;#000000&quot;},&quot;depth&quot;:{&quot;brightness&quot;:0,&quot;colorType&quot;:1,&quot;foreColorIndex&quot;:7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2"/>
  <p:tag name="KSO_WM_UNIT_ID" val="diagram20230926_2*l_h_i*1_3_2"/>
  <p:tag name="KSO_WM_TEMPLATE_CATEGORY" val="diagram"/>
  <p:tag name="KSO_WM_TEMPLATE_INDEX" val="2023092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UNIT_PRESET_TEXT" val="03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0926_2*l_h_f*1_3_1"/>
  <p:tag name="KSO_WM_TEMPLATE_CATEGORY" val="diagram"/>
  <p:tag name="KSO_WM_TEMPLATE_INDEX" val="20230926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4"/>
  <p:tag name="KSO_WM_DIAGRAM_COLOR_TEXT_CAN_REMOVE" val="n"/>
  <p:tag name="KSO_WM_UNIT_PRESET_TEXT" val="单击此处输入你的项正文"/>
  <p:tag name="KSO_WM_DIAGRAM_MAX_ITEMCNT" val="6"/>
  <p:tag name="KSO_WM_DIAGRAM_MIN_ITEMCNT" val="2"/>
  <p:tag name="KSO_WM_DIAGRAM_VIRTUALLY_FRAME" val="{&quot;height&quot;:237,&quot;width&quot;:859.4000244140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NOCLEAR" val="0"/>
  <p:tag name="KSO_WM_UNIT_VALUE" val="55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198941_2*l_h_f*1_1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单击此处添加文本具体内容，简明扼要的阐述您的观点。"/>
  <p:tag name="KSO_WM_UNIT_TEXT_FILL_FORE_SCHEMECOLOR_INDEX" val="13"/>
  <p:tag name="KSO_WM_UNIT_TEXT_FILL_TYPE" val="1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3_1"/>
  <p:tag name="KSO_WM_UNIT_ID" val="diagram20198941_2*l_h_i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FILL_FORE_SCHEMECOLOR_INDEX" val="8"/>
  <p:tag name="KSO_WM_UNIT_FILL_TYPE" val="1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DIAGRAM_MODELTYPE" val="stripeEnum"/>
  <p:tag name="KSO_WM_UNIT_ISCONTENTSTITLE" val="0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3_1"/>
  <p:tag name="KSO_WM_UNIT_ID" val="diagram20198941_2*l_h_a*1_3_1"/>
  <p:tag name="KSO_WM_TEMPLATE_CATEGORY" val="diagram"/>
  <p:tag name="KSO_WM_TEMPLATE_INDEX" val="20198941"/>
  <p:tag name="KSO_WM_UNIT_LAYERLEVEL" val="1_1_1"/>
  <p:tag name="KSO_WM_TAG_VERSION" val="1.0"/>
  <p:tag name="KSO_WM_BEAUTIFY_FLAG" val=""/>
  <p:tag name="KSO_WM_UNIT_PRESET_TEXT" val="添加标题"/>
  <p:tag name="KSO_WM_UNIT_TEXT_FILL_FORE_SCHEMECOLOR_INDEX" val="13"/>
  <p:tag name="KSO_WM_UNIT_TEXT_FILL_TYPE" val="1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</TotalTime>
  <Words>5378</Words>
  <Application>Microsoft Office PowerPoint</Application>
  <PresentationFormat>宽屏</PresentationFormat>
  <Paragraphs>744</Paragraphs>
  <Slides>64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64</vt:i4>
      </vt:variant>
    </vt:vector>
  </HeadingPairs>
  <TitlesOfParts>
    <vt:vector size="84" baseType="lpstr">
      <vt:lpstr>-apple-system</vt:lpstr>
      <vt:lpstr>PingFang SC</vt:lpstr>
      <vt:lpstr>阿里巴巴普惠体</vt:lpstr>
      <vt:lpstr>阿里巴巴普惠体 2.0 45 Light</vt:lpstr>
      <vt:lpstr>阿里巴巴普惠体 B</vt:lpstr>
      <vt:lpstr>汉仪粗简黑简</vt:lpstr>
      <vt:lpstr>汉仪中黑S</vt:lpstr>
      <vt:lpstr>华文楷体</vt:lpstr>
      <vt:lpstr>思源黑体 CN Bold</vt:lpstr>
      <vt:lpstr>思源黑体 CN Heavy</vt:lpstr>
      <vt:lpstr>思源黑体 CN Regular</vt:lpstr>
      <vt:lpstr>宋体</vt:lpstr>
      <vt:lpstr>站酷快乐体</vt:lpstr>
      <vt:lpstr>Arial</vt:lpstr>
      <vt:lpstr>Calibri</vt:lpstr>
      <vt:lpstr>Calibri Light</vt:lpstr>
      <vt:lpstr>Segoe UI</vt:lpstr>
      <vt:lpstr>Verdana</vt:lpstr>
      <vt:lpstr>Wingdings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itcast.cn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帐户</dc:creator>
  <cp:lastModifiedBy>逍遥 任</cp:lastModifiedBy>
  <cp:revision>497</cp:revision>
  <dcterms:created xsi:type="dcterms:W3CDTF">2022-10-10T03:51:00Z</dcterms:created>
  <dcterms:modified xsi:type="dcterms:W3CDTF">2024-01-09T08:44:30Z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8F83F4BBA2184C32A8AB3864DA832646</vt:lpwstr>
  </property>
  <property fmtid="{D5CDD505-2E9C-101B-9397-08002B2CF9AE}" pid="3" name="KSOProductBuildVer">
    <vt:lpwstr>2052-12.1.0.15946</vt:lpwstr>
  </property>
</Properties>
</file>